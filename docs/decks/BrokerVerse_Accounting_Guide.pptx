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25793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2402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3800" b="1" i="0">
                <a:solidFill>
                  <a:srgbClr val="0B4F9C"/>
                </a:solidFill>
                <a:latin typeface="Calibri"/>
              </a:rPr>
              <a:t>BrokerVerse guide for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Functions, flows, reports and schedules of your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</a:rPr>
              <a:t>BrokerVerse OOTB · insurance broking · Philippines ·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2133660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213366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Receipts and remittance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2340" y="4983480"/>
            <a:ext cx="1819838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2340" y="4983480"/>
            <a:ext cx="181983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Bank reconciliation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9339" y="4983480"/>
            <a:ext cx="1662927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9339" y="4983480"/>
            <a:ext cx="1662927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Month-end and BIR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822960"/>
            <a:ext cx="3108960" cy="5120640"/>
          </a:xfrm>
          <a:prstGeom prst="roundRect">
            <a:avLst>
              <a:gd name="adj" fmla="val 5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51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D9F5"/>
                </a:solidFill>
                <a:latin typeface="Calibri"/>
              </a:rPr>
              <a:t>THIS GUIDE IS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325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01168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9424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Accounting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67919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SIGN-IN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1693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liza.finance; fe.approver and fin.approver as second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57530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1304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accounting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24281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LANDS 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4805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Executive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Prepared by iorta TechNXT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WHO YOU ARE IN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B4F9C"/>
                </a:solidFill>
                <a:latin typeface="Calibri"/>
              </a:rPr>
              <a:t>What you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Collects:  </a:t>
            </a:r>
            <a:r>
              <a:rPr sz="1600">
                <a:solidFill>
                  <a:srgbClr val="1F2937"/>
                </a:solidFill>
                <a:latin typeface="Calibri"/>
              </a:rPr>
              <a:t>verifies payments, posts official receipts, follows collections and ageing.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Pays:  </a:t>
            </a:r>
            <a:r>
              <a:rPr sz="1600">
                <a:solidFill>
                  <a:srgbClr val="1F2937"/>
                </a:solidFill>
                <a:latin typeface="Calibri"/>
              </a:rPr>
              <a:t>commission to referrers, net premium to each insurer by share, suppliers by voucher and cheque.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Bills insurers:  </a:t>
            </a:r>
            <a:r>
              <a:rPr sz="1600">
                <a:solidFill>
                  <a:srgbClr val="1F2937"/>
                </a:solidFill>
                <a:latin typeface="Calibri"/>
              </a:rPr>
              <a:t>direct-bill commission on debit notes and records the insurer’s payment.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Keeps the ledger:  </a:t>
            </a:r>
            <a:r>
              <a:rPr sz="1600">
                <a:solidFill>
                  <a:srgbClr val="1F2937"/>
                </a:solidFill>
                <a:latin typeface="Calibri"/>
              </a:rPr>
              <a:t>journal vouchers, write-offs, bank reconciliation, month-end and year-end preparation.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Files tax:  </a:t>
            </a:r>
            <a:r>
              <a:rPr sz="1600">
                <a:solidFill>
                  <a:srgbClr val="1F2937"/>
                </a:solidFill>
                <a:latin typeface="Calibri"/>
              </a:rPr>
              <a:t>BIR Form 2307, VAT Summary, SAWT, QAP and SLSP.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25880"/>
            <a:ext cx="4325112" cy="1463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46303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Sign-in and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8308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name liza.finance. Lands on the Executive Dashboard. fe.approver and fin.approver hold the same role and act as the second user.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You hand work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 second Accounting user (vouchers, JVs, remittances, settlements, debit notes, incentive batches), the Accounting Manager (close runs, reconciliations), insurers and referrers.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Maker-checker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Maker-checker is on (finance.maker_checker_enabled, journal.require_approval): you cannot approve what you prepared.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YOU SEE AFTER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Menu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Menus granted to accounting in menuPermissions.js. The role walk opened 81 screens.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681478" cy="296519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2480310" cy="241655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Executive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1558" y="1645920"/>
            <a:ext cx="2681478" cy="296519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21558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8718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1286" y="2121408"/>
            <a:ext cx="2480310" cy="241655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Open Items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645920"/>
            <a:ext cx="2681478" cy="296519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5916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5644" y="2121408"/>
            <a:ext cx="2480310" cy="241655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Receipts, Collections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Accounting Query, All Clients Accounting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Open Entry Matching / Un-Matching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Disbursement, Petty Cash (5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Journal Voucher, Correction JV, Reversal JV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Period End (5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Bank Reconciliation (7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Tax (6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Remittance (16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Incentive (4 screens)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0274" y="1645920"/>
            <a:ext cx="2681478" cy="296519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0274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7434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Master &gt; Finance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0002" y="2121408"/>
            <a:ext cx="2480310" cy="241655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Taxation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Close Checklist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Bank Statement Formats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Bank Transaction Types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93996"/>
            <a:ext cx="2681478" cy="142392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4793996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793996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269484"/>
            <a:ext cx="2480310" cy="8752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Commission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Agents/Referrer Accounts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1558" y="4793996"/>
            <a:ext cx="2681478" cy="142392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21558" y="4793996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8718" y="4793996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Reinsurance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1286" y="5269484"/>
            <a:ext cx="2480310" cy="8752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Reconciliation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5916" y="4793996"/>
            <a:ext cx="2681478" cy="142392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85916" y="4793996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3076" y="4793996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5644" y="5269484"/>
            <a:ext cx="2480310" cy="8752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All Reports (32 reports)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Financial Reports (15 shortcuts)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Operational Reports: Remittance, Broker Commission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Verify a payment and post the receipt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409944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336792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Accounts &gt; Receipts &gt; Receipt.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Notification “Premium payment to verify”, or Accounts &gt; Receipts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Verify:  </a:t>
            </a:r>
            <a:r>
              <a:rPr sz="1500">
                <a:solidFill>
                  <a:srgbClr val="1F2937"/>
                </a:solidFill>
                <a:latin typeface="Calibri"/>
              </a:rPr>
              <a:t>check the bank statement, then Confirm (posts the OR) or Reject with a reason.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Direct:  </a:t>
            </a:r>
            <a:r>
              <a:rPr sz="1500">
                <a:solidFill>
                  <a:srgbClr val="1F2937"/>
                </a:solidFill>
                <a:latin typeface="Calibri"/>
              </a:rPr>
              <a:t>pick the client, policy and open bill; enter the amount or Pay full balance.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Journal:  </a:t>
            </a:r>
            <a:r>
              <a:rPr sz="1500">
                <a:solidFill>
                  <a:srgbClr val="1F2937"/>
                </a:solidFill>
                <a:latin typeface="Calibri"/>
              </a:rPr>
              <a:t>Dr Cash in Bank / Cr Premiums Receivable; bill Partial or Paid.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Rule:  </a:t>
            </a:r>
            <a:r>
              <a:rPr sz="1500">
                <a:solidFill>
                  <a:srgbClr val="1F2937"/>
                </a:solidFill>
                <a:latin typeface="Calibri"/>
              </a:rPr>
              <a:t>the amount cannot exceed the bill balance.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2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Collections and ageing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Accounts &gt; Collections.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Collections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Buckets:  </a:t>
            </a:r>
            <a:r>
              <a:rPr sz="1500">
                <a:solidFill>
                  <a:srgbClr val="1F2937"/>
                </a:solidFill>
                <a:latin typeface="Calibri"/>
              </a:rPr>
              <a:t>Current, 1-30, 31-60, 61-90, over 90 days.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Due date:  </a:t>
            </a:r>
            <a:r>
              <a:rPr sz="1500">
                <a:solidFill>
                  <a:srgbClr val="1F2937"/>
                </a:solidFill>
                <a:latin typeface="Calibri"/>
              </a:rPr>
              <a:t>the insurer’s premium payment warranty, else 30 days.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Reminders:  </a:t>
            </a:r>
            <a:r>
              <a:rPr sz="1500">
                <a:solidFill>
                  <a:srgbClr val="1F2937"/>
                </a:solidFill>
                <a:latin typeface="Calibri"/>
              </a:rPr>
              <a:t>the 08:00 job, or Send Payment Reminders Now.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Go-live:  </a:t>
            </a:r>
            <a:r>
              <a:rPr sz="1500">
                <a:solidFill>
                  <a:srgbClr val="1F2937"/>
                </a:solidFill>
                <a:latin typeface="Calibri"/>
              </a:rPr>
              <a:t>Import open items loads unpaid bills of the old system, with no journal.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3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Pay commission to a referrer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Commission &gt; Agents/Referrer Accounts &gt; referrer.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Commission &gt; Agents/Referrer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Eligible:  </a:t>
            </a:r>
            <a:r>
              <a:rPr sz="1500">
                <a:solidFill>
                  <a:srgbClr val="1F2937"/>
                </a:solidFill>
                <a:latin typeface="Calibri"/>
              </a:rPr>
              <a:t>when the premium is fully collected and a bank account is on file.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WHT:  </a:t>
            </a:r>
            <a:r>
              <a:rPr sz="1500">
                <a:solidFill>
                  <a:srgbClr val="1F2937"/>
                </a:solidFill>
                <a:latin typeface="Calibri"/>
              </a:rPr>
              <a:t>individual 5%, company 10% (commission.wht_rate_by_type).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Two users:  </a:t>
            </a:r>
            <a:r>
              <a:rPr sz="1500">
                <a:solidFill>
                  <a:srgbClr val="1F2937"/>
                </a:solidFill>
                <a:latin typeface="Calibri"/>
              </a:rPr>
              <a:t>Approve the lines, Generate payout; a second user approves the voucher.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Journal:  </a:t>
            </a:r>
            <a:r>
              <a:rPr sz="1500">
                <a:solidFill>
                  <a:srgbClr val="1F2937"/>
                </a:solidFill>
                <a:latin typeface="Calibri"/>
              </a:rPr>
              <a:t>Dr Commission Payable / Cr Cash in Bank and WHT payable.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4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Remit premium to insurers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Accounts &gt; Remittance &gt; Settlement.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Remittance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Draft:  </a:t>
            </a:r>
            <a:r>
              <a:rPr sz="1500">
                <a:solidFill>
                  <a:srgbClr val="1F2937"/>
                </a:solidFill>
                <a:latin typeface="Calibri"/>
              </a:rPr>
              <a:t>Automated Processing creates REM- per insurer from collected premium.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Approve:  </a:t>
            </a:r>
            <a:r>
              <a:rPr sz="1500">
                <a:solidFill>
                  <a:srgbClr val="1F2937"/>
                </a:solidFill>
                <a:latin typeface="Calibri"/>
              </a:rPr>
              <a:t>by a second user; level by amount (₱ 100,000, ₱ 1,000,000, above).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Settle:  </a:t>
            </a:r>
            <a:r>
              <a:rPr sz="1500">
                <a:solidFill>
                  <a:srgbClr val="1F2937"/>
                </a:solidFill>
                <a:latin typeface="Calibri"/>
              </a:rPr>
              <a:t>premium less commission less tax, plus or minus adjustments; SET- raises the insurer PV.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Co-insurance:  </a:t>
            </a:r>
            <a:r>
              <a:rPr sz="1500">
                <a:solidFill>
                  <a:srgbClr val="1F2937"/>
                </a:solidFill>
                <a:latin typeface="Calibri"/>
              </a:rPr>
              <a:t>each insurer is remitted its own share; refunds are netted.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5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Direct bill: commission debit 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Remittance &gt; Direct Bill Processing.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Remittance &gt; Direct Bill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Raise:  </a:t>
            </a:r>
            <a:r>
              <a:rPr sz="1500">
                <a:solidFill>
                  <a:srgbClr val="1F2937"/>
                </a:solidFill>
                <a:latin typeface="Calibri"/>
              </a:rPr>
              <a:t>insurer and dates, Load policies, tick them; commission plus 12% VAT, less 10% EWT.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Approve:  </a:t>
            </a:r>
            <a:r>
              <a:rPr sz="1500">
                <a:solidFill>
                  <a:srgbClr val="1F2937"/>
                </a:solidFill>
                <a:latin typeface="Calibri"/>
              </a:rPr>
              <a:t>a second user approves, prints and e-mails the DN-.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Collect:  </a:t>
            </a:r>
            <a:r>
              <a:rPr sz="1500">
                <a:solidFill>
                  <a:srgbClr val="1F2937"/>
                </a:solidFill>
                <a:latin typeface="Calibri"/>
              </a:rPr>
              <a:t>Post collection with cash and tax withheld; partial payments allowed.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Billing Mode tab:  </a:t>
            </a:r>
            <a:r>
              <a:rPr sz="1500">
                <a:solidFill>
                  <a:srgbClr val="1F2937"/>
                </a:solidFill>
                <a:latin typeface="Calibri"/>
              </a:rPr>
              <a:t>switch a policy with a reason, unless premium was collected.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6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Disbursement: vouchers and cheques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Accounts &gt; Disbursement &gt; Create.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Disbursement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Payee:  </a:t>
            </a:r>
            <a:r>
              <a:rPr sz="1500">
                <a:solidFill>
                  <a:srgbClr val="1F2937"/>
                </a:solidFill>
                <a:latin typeface="Calibri"/>
              </a:rPr>
              <a:t>customer, insurer, agent or referrer, or supplier; then tick the payables.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Statuses:  </a:t>
            </a:r>
            <a:r>
              <a:rPr sz="1500">
                <a:solidFill>
                  <a:srgbClr val="1F2937"/>
                </a:solidFill>
                <a:latin typeface="Calibri"/>
              </a:rPr>
              <a:t>Draft, For approval, Approved, Paid; Cancelled.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Checker:  </a:t>
            </a:r>
            <a:r>
              <a:rPr sz="1500">
                <a:solidFill>
                  <a:srgbClr val="1F2937"/>
                </a:solidFill>
                <a:latin typeface="Calibri"/>
              </a:rPr>
              <a:t>approves the cheque; print it and the voucher becomes Paid.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Bulk:  </a:t>
            </a:r>
            <a:r>
              <a:rPr sz="1500">
                <a:solidFill>
                  <a:srgbClr val="1F2937"/>
                </a:solidFill>
                <a:latin typeface="Calibri"/>
              </a:rPr>
              <a:t>Bulk Disburse, one payout voucher per referrer with approved commission.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7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Journal vouchers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427906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4205913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577513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Accounts &gt; Journal Voucher &gt; Voucher.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Journal Voucher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Lines:  </a:t>
            </a:r>
            <a:r>
              <a:rPr sz="1500">
                <a:solidFill>
                  <a:srgbClr val="1F2937"/>
                </a:solidFill>
                <a:latin typeface="Calibri"/>
              </a:rPr>
              <a:t>main account, sub account, debit or credit, branch, department, amount.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Balance:  </a:t>
            </a:r>
            <a:r>
              <a:rPr sz="1500">
                <a:solidFill>
                  <a:srgbClr val="1F2937"/>
                </a:solidFill>
                <a:latin typeface="Calibri"/>
              </a:rPr>
              <a:t>an unbalanced voucher is refused with the difference.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Periods:  </a:t>
            </a:r>
            <a:r>
              <a:rPr sz="1500">
                <a:solidFill>
                  <a:srgbClr val="1F2937"/>
                </a:solidFill>
                <a:latin typeface="Calibri"/>
              </a:rPr>
              <a:t>soft-closed only for the Accounting Manager; closed periods refuse it.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Correction and Reversal JV:  </a:t>
            </a:r>
            <a:r>
              <a:rPr sz="1500">
                <a:solidFill>
                  <a:srgbClr val="1F2937"/>
                </a:solidFill>
                <a:latin typeface="Calibri"/>
              </a:rPr>
              <a:t>reverse and repost a posted voucher, after approval.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8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What operations post to the ledger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Premium accounting entries of POL-2026-00001.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Policy &gt; Documents &amp; Billing &gt; Premium Accounting Entries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Posting rules:  </a:t>
            </a:r>
            <a:r>
              <a:rPr sz="1500">
                <a:solidFill>
                  <a:srgbClr val="1F2937"/>
                </a:solidFill>
                <a:latin typeface="Calibri"/>
              </a:rPr>
              <a:t>every system journal comes from the rule of its business event.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Per insurer:  </a:t>
            </a:r>
            <a:r>
              <a:rPr sz="1500">
                <a:solidFill>
                  <a:srgbClr val="1F2937"/>
                </a:solidFill>
                <a:latin typeface="Calibri"/>
              </a:rPr>
              <a:t>payables and commission of a co-insured policy carry the insurer on each line.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Trail:  </a:t>
            </a:r>
            <a:r>
              <a:rPr sz="1500">
                <a:solidFill>
                  <a:srgbClr val="1F2937"/>
                </a:solidFill>
                <a:latin typeface="Calibri"/>
              </a:rPr>
              <a:t>new business, receipts, commission, remittance, endorsements for one policy.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Changes:  </a:t>
            </a:r>
            <a:r>
              <a:rPr sz="1500">
                <a:solidFill>
                  <a:srgbClr val="1F2937"/>
                </a:solidFill>
                <a:latin typeface="Calibri"/>
              </a:rPr>
              <a:t>posting rules are kept by the System Administrator, with the Accounting Manager.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9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Bank reconciliation workspace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409944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336792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Bank Reconciliation workspace, ACC-BDO-001, August 2026.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Bank Reconciliation &gt; Reconciliation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Import:  </a:t>
            </a:r>
            <a:r>
              <a:rPr sz="1500">
                <a:solidFill>
                  <a:srgbClr val="1F2937"/>
                </a:solidFill>
                <a:latin typeface="Calibri"/>
              </a:rPr>
              <a:t>CSV or XLSX in the bank’s format (BDO, BPI, Metrobank, generic); BST- issued.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Match:  </a:t>
            </a:r>
            <a:r>
              <a:rPr sz="1500">
                <a:solidFill>
                  <a:srgbClr val="1F2937"/>
                </a:solidFill>
                <a:latin typeface="Calibri"/>
              </a:rPr>
              <a:t>Auto-match rules, then Match selected by hand with the treatment of any difference.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Bank items:  </a:t>
            </a:r>
            <a:r>
              <a:rPr sz="1500">
                <a:solidFill>
                  <a:srgbClr val="1F2937"/>
                </a:solidFill>
                <a:latin typeface="Calibri"/>
              </a:rPr>
              <a:t>Create adjustment for charges and interest; Mark as bank error.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Prepare:  </a:t>
            </a:r>
            <a:r>
              <a:rPr sz="1500">
                <a:solidFill>
                  <a:srgbClr val="1F2937"/>
                </a:solidFill>
                <a:latin typeface="Calibri"/>
              </a:rPr>
              <a:t>Start reconciliation (BRC-), difference ₱ 0.00, Prepare; the Accounting Manager approves.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10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Month-end close: prepare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5940552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867400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Month-End Close 2026-08, MEC-2026-00001.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Period End &gt; Month-End Close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Steps:  </a:t>
            </a:r>
            <a:r>
              <a:rPr sz="1500">
                <a:solidFill>
                  <a:srgbClr val="1F2937"/>
                </a:solidFill>
                <a:latin typeface="Calibri"/>
              </a:rPr>
              <a:t>accruals, recurring journals, commission deferral, FX revaluation, checklist.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Checklist:  </a:t>
            </a:r>
            <a:r>
              <a:rPr sz="1500">
                <a:solidFill>
                  <a:srgbClr val="1F2937"/>
                </a:solidFill>
                <a:latin typeface="Calibri"/>
              </a:rPr>
              <a:t>automatic checks Passed, Warning or Failed; sign off the manual items.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Submit close:  </a:t>
            </a:r>
            <a:r>
              <a:rPr sz="1500">
                <a:solidFill>
                  <a:srgbClr val="1F2937"/>
                </a:solidFill>
                <a:latin typeface="Calibri"/>
              </a:rPr>
              <a:t>blocked while a blocking item fails or is not signed off.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Approval:  </a:t>
            </a:r>
            <a:r>
              <a:rPr sz="1500">
                <a:solidFill>
                  <a:srgbClr val="1F2937"/>
                </a:solidFill>
                <a:latin typeface="Calibri"/>
              </a:rPr>
              <a:t>the Accounting Manager approves; the period becomes closed.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11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BIR Form 2307 and tax reports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Accounts &gt; Tax &gt; BIR Form 2307.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Tax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2307:  </a:t>
            </a:r>
            <a:r>
              <a:rPr sz="1500">
                <a:solidFill>
                  <a:srgbClr val="1F2937"/>
                </a:solidFill>
                <a:latin typeface="Calibri"/>
              </a:rPr>
              <a:t>Issued by us (payees) or Received (insurers, clients), per quarter; CWT- when issued.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VAT Summary:  </a:t>
            </a:r>
            <a:r>
              <a:rPr sz="1500">
                <a:solidFill>
                  <a:srgbClr val="1F2937"/>
                </a:solidFill>
                <a:latin typeface="Calibri"/>
              </a:rPr>
              <a:t>working paper for 2550M / 2550Q.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SAWT, QAP, SLSP:  </a:t>
            </a:r>
            <a:r>
              <a:rPr sz="1500">
                <a:solidFill>
                  <a:srgbClr val="1F2937"/>
                </a:solidFill>
                <a:latin typeface="Calibri"/>
              </a:rPr>
              <a:t>alphalists in BIR column order.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Before filing:  </a:t>
            </a:r>
            <a:r>
              <a:rPr sz="1500">
                <a:solidFill>
                  <a:srgbClr val="1F2937"/>
                </a:solidFill>
                <a:latin typeface="Calibri"/>
              </a:rPr>
              <a:t>fill in the BIR group of Master &gt; Configuration.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12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Due to insurers by co-insurer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Reports &gt; Financial Reports &gt; Due to Insurers by Co-insurer.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Financial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Shows:  </a:t>
            </a:r>
            <a:r>
              <a:rPr sz="1500">
                <a:solidFill>
                  <a:srgbClr val="1F2937"/>
                </a:solidFill>
                <a:latin typeface="Calibri"/>
              </a:rPr>
              <a:t>premium due to each insurer on the bills of the period.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Columns:  </a:t>
            </a:r>
            <a:r>
              <a:rPr sz="1500">
                <a:solidFill>
                  <a:srgbClr val="1F2937"/>
                </a:solidFill>
                <a:latin typeface="Calibri"/>
              </a:rPr>
              <a:t>due, collected, remitted and still held, per participant.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With:  </a:t>
            </a:r>
            <a:r>
              <a:rPr sz="1500">
                <a:solidFill>
                  <a:srgbClr val="1F2937"/>
                </a:solidFill>
                <a:latin typeface="Calibri"/>
              </a:rPr>
              <a:t>Co-insurance Register and Aged Payables to Insurers.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Formats:  </a:t>
            </a:r>
            <a:r>
              <a:rPr sz="1500">
                <a:solidFill>
                  <a:srgbClr val="1F2937"/>
                </a:solidFill>
                <a:latin typeface="Calibri"/>
              </a:rPr>
              <a:t>CSV, Excel or PDF on the letterhead.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POSTING RULES (MASTER &gt; FINANCE)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From operations to the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Each business event posts its journal through a posting rule. The main events and their journals: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828800"/>
          <a:ext cx="11274551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542"/>
                <a:gridCol w="8158009"/>
              </a:tblGrid>
              <a:tr h="4267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Event (who)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4F9C"/>
                          </a:solidFill>
                          <a:latin typeface="Calibri"/>
                        </a:rPr>
                        <a:t>Policy issued, broker billed (Processing)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Calibri"/>
                        </a:rPr>
                        <a:t>Dr Premiums Receivable / Cr Premiums Payable to Insurers, premium taxes, Brokerage Commission Income (per insurer)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4F9C"/>
                          </a:solidFill>
                          <a:latin typeface="Calibri"/>
                        </a:rPr>
                        <a:t>Policy issued, direct bill (Processing)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Calibri"/>
                        </a:rPr>
                        <a:t>Dr Commission Receivable - Insurers / Cr Brokerage Commission Income, Output VAT Payable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4F9C"/>
                          </a:solidFill>
                          <a:latin typeface="Calibri"/>
                        </a:rPr>
                        <a:t>Official receipt (Accounting)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Calibri"/>
                        </a:rPr>
                        <a:t>Dr Cash in Bank / Cr Premiums Receivable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4F9C"/>
                          </a:solidFill>
                          <a:latin typeface="Calibri"/>
                        </a:rPr>
                        <a:t>Debit note collected (Accounting)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Calibri"/>
                        </a:rPr>
                        <a:t>Dr Cash in Bank, Creditable Withholding Tax (2307) / Cr Commission Receivable - Insurers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4F9C"/>
                          </a:solidFill>
                          <a:latin typeface="Calibri"/>
                        </a:rPr>
                        <a:t>Comsub approved and paid (Accounting)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Calibri"/>
                        </a:rPr>
                        <a:t>Dr Commission Expense / Cr Commission Payable; then Dr Commission Payable / Cr Cash, WHT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4F9C"/>
                          </a:solidFill>
                          <a:latin typeface="Calibri"/>
                        </a:rPr>
                        <a:t>Remittance settled (Accounting)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Calibri"/>
                        </a:rPr>
                        <a:t>Dr Premiums Payable to Insurers / Cr Cash in Bank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4F9C"/>
                          </a:solidFill>
                          <a:latin typeface="Calibri"/>
                        </a:rPr>
                        <a:t>Endorsement (Operations, Processing)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Calibri"/>
                        </a:rPr>
                        <a:t>Additional premium billed, or return premium credited and netted on the next remittance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4F9C"/>
                          </a:solidFill>
                          <a:latin typeface="Calibri"/>
                        </a:rPr>
                        <a:t>Claim through the broker (Claims)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Calibri"/>
                        </a:rPr>
                        <a:t>Recoverable from each insurer by share / payable to the claimant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Example: POL-2026-00001 (Malayan 60%, Standard 40%) posted JV-2026-00087: receivable 334,031.25; payable to insurers 228,375.00; premium taxes 66,281.25; commission income 39,375.00.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LEAD TO RENEWAL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End-to-end flow: your part of the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Sales, Operations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74520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12264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5416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6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Broker Slip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7128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Processing Team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529584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67328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Quotation Slip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2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Sales, Processing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184648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22392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95544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5544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Placement Slip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7256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Processing Team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839712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77456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Policy issue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Processing Team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494776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732520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05672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Payment capture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Operations, Sales, Processing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149840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387584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0736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0736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Official receipt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42448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Accounting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10922507" y="2532888"/>
            <a:ext cx="274320" cy="237744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387584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60736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60736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42448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Accounting, two users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10149840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732520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05672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5672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Remittance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87384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Accounting, two users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8494776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077456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50608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50608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Endorsement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Operations, Processing</a:t>
            </a:r>
          </a:p>
        </p:txBody>
      </p:sp>
      <p:sp>
        <p:nvSpPr>
          <p:cNvPr id="57" name="Left Arrow 56"/>
          <p:cNvSpPr/>
          <p:nvPr/>
        </p:nvSpPr>
        <p:spPr>
          <a:xfrm>
            <a:off x="6839712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422392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95544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95544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Claim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77256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Claims, two users</a:t>
            </a:r>
          </a:p>
        </p:txBody>
      </p:sp>
      <p:sp>
        <p:nvSpPr>
          <p:cNvPr id="62" name="Left Arrow 61"/>
          <p:cNvSpPr/>
          <p:nvPr/>
        </p:nvSpPr>
        <p:spPr>
          <a:xfrm>
            <a:off x="5184648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767328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40480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0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Renewal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22192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Operations, Sales, Processing</a:t>
            </a:r>
          </a:p>
        </p:txBody>
      </p:sp>
      <p:sp>
        <p:nvSpPr>
          <p:cNvPr id="67" name="Left Arrow 66"/>
          <p:cNvSpPr/>
          <p:nvPr/>
        </p:nvSpPr>
        <p:spPr>
          <a:xfrm>
            <a:off x="3529584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112264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85416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85416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Month-end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67128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Accounting, Acct. Manager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4251959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7240" y="4206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Your steps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011680" y="4251959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31720" y="4206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Done by other personas or by the system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420624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 i="1">
                <a:solidFill>
                  <a:srgbClr val="5B6778"/>
                </a:solidFill>
                <a:latin typeface="Calibri"/>
              </a:rPr>
              <a:t>Endorsement and renewal bills come back to you as receipts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4572000"/>
            <a:ext cx="11274552" cy="16459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" y="4709160"/>
            <a:ext cx="534924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7 Official receipt: verify the payment and post the OR.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8 Commission: approve lines, pay by voucher.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2200" y="4709160"/>
            <a:ext cx="539496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9 Remittance: net premium to each insurer by share.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13 Month-end: reconcile banks, prepare the close, BIR.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ALL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Reports you use (32)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5B6778"/>
                </a:solidFill>
                <a:latin typeface="Calibri"/>
              </a:rPr>
              <a:t>Output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16152"/>
            <a:ext cx="61447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216152"/>
            <a:ext cx="61447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0516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0516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60596" y="1216152"/>
            <a:ext cx="82844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0596" y="1216152"/>
            <a:ext cx="82844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80483" y="1216152"/>
            <a:ext cx="1470355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0483" y="1216152"/>
            <a:ext cx="147035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Scheduled 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158" y="1216152"/>
            <a:ext cx="5209336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32 reports; tax and bank reports also under Accounts.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737360"/>
            <a:ext cx="3648456" cy="1991985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1737360"/>
            <a:ext cx="3648456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1737360"/>
            <a:ext cx="34290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Production and placement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139696"/>
            <a:ext cx="3483864" cy="153478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Premium by Product / Month / Insurer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New Business vs Renewals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Co-insurance Register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Reinsurance Cession Register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1737360"/>
            <a:ext cx="3648456" cy="1991985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70248" y="1737360"/>
            <a:ext cx="3648456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1737360"/>
            <a:ext cx="34290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Insurers and commission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2139696"/>
            <a:ext cx="3483864" cy="153478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Remittance Summary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Broker Commission Statement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Commission Receivable (Direct Bill)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Due to Insurers by Co-insurer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Aged Payables to Insurers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Incentive Results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3296" y="1737360"/>
            <a:ext cx="3648456" cy="1991985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83296" y="1737360"/>
            <a:ext cx="3648456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3" y="1737360"/>
            <a:ext cx="34290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Receivables and cash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2139696"/>
            <a:ext cx="3483864" cy="153478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SOA / Premium Receivable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Receivables Ageing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Collection Report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Receipts Register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Payables / Disbursement Register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93937"/>
            <a:ext cx="3648456" cy="232398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3893937"/>
            <a:ext cx="3648456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893937"/>
            <a:ext cx="34290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Ledger and period 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296273"/>
            <a:ext cx="3483864" cy="186678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Journal Register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Trial Balance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Trial Balance (Opening / Movement / Closing)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General Ledger Detail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Income Statement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Balance Sheet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Month-End Close Status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70248" y="3893937"/>
            <a:ext cx="3648456" cy="232398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270248" y="3893937"/>
            <a:ext cx="3648456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9976" y="3893937"/>
            <a:ext cx="34290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BIR tax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61688" y="4296273"/>
            <a:ext cx="3483864" cy="186678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VAT Summary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SAWT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QAP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SLSP Sales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SLSP Purchases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3296" y="3893937"/>
            <a:ext cx="3648456" cy="232398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83296" y="3893937"/>
            <a:ext cx="3648456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93023" y="3893937"/>
            <a:ext cx="34290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Bank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74736" y="4296273"/>
            <a:ext cx="3483864" cy="186678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Bank Reconciliation Statement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Outstanding Cheques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Deposits in Transit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Unmatched Bank Lines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Bank Book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 and automations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455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2016586"/>
                <a:gridCol w="7058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Receivable ageing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07:00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Ageing buckets 30, 60, 90, 120 refreshed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Collection reminders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08:00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Clients e-mailed 7 days before due, then every 7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Recurring journals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01:15 (off when delivered)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Posts recurring templates on their next run date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Accrual auto-reversal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Day 1 of the month, 00:30 (off when delivered)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Reverses accruals, deferrals and FX revaluation on day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Period auto soft-close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02:00 (off when delivered)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Soft-closes ended periods when no blocking check fails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Bank reconciliation auto-match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05:45 (off when delivered)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Runs the matching rules on unmatched bank lines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Month-end close reminder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08:00 (off when delivered)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Reminds Accounting before and after a period ends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66928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Jobs marked off are delivered switched off: ask the System Administrator to switch on the ones you want. Times are Manila time.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BELL ICON, TOP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Premium payment to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 payment recorded by another team, with mode, amount and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Journal voucher awaiting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To the other Accounting users.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Remittances awaiting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Batch and count.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" y="47823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7823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72744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Commission debit note awaiting 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03834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Direct-bill debit notes.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96227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6227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7515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Incentive calculation / petty cash 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7515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Not your own.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1636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96227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6227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C62828"/>
                </a:solidFill>
                <a:latin typeface="Calibri"/>
              </a:rPr>
              <a:t>Alert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7515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Petty cash below minimum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7515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To the fund custodian.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1636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96227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96227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Reminder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57515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Month-end close reminder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57515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When the job is switched 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96227" y="47823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96227" y="47823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57515" y="472744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Journal voucher approved / rejected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57515" y="503834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Back to the maker.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GOOD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Known limitations and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Open items that affect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The Settlement cash panel of a claim paid through the broker sits on the claim screens, which are not in the Accounting menu: the System Administrator records the funds received and the payment to the claimant on Accounting’s instruction.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The BIR reports give the figures in BIR column order: check them against the current BIR format before filing.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 submitted month-end close or a prepared bank reconciliation does not raise a bell notice: check Month-End Close and Reconciliations for items waiting.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Some database queries use the database’s own date: the database time zone must be Asia/Manila.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Pick the bill, not only the policy, when you receipt.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Reconcile each bank account before you submit the close.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Import open items and opening balances with the same go-live date.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Ask the second user to approve on the same day.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Keep the OR series in line with the Authority to Print.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3102796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BFD9F5"/>
                </a:solidFill>
                <a:latin typeface="Calibri"/>
              </a:rPr>
              <a:t>BrokerVerse guide for Accounting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0E5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0416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9FC8F2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43400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First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43400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The key user of your team: how-to questions, checking that a role or setting is not the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72584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Second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672584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Your System Administrator: users, roles, passwords, two-step resets, settings and master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01768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Third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001768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iorta TechNXT production support, raised by the System Administrator through the support 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30952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Access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330952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Your System Administrator (Master &gt; Generals &gt; User Management)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78424"/>
            <a:ext cx="1024128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BFD9F5"/>
                </a:solidFill>
                <a:latin typeface="Calibri"/>
              </a:rPr>
              <a:t>When you report a problem, give the menu path, the record number, the time, your user ID, the message and its request ID. Never send a password or a two-step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BFD9F5"/>
                </a:solidFill>
                <a:latin typeface="Calibri"/>
              </a:rPr>
              <a:t>iorta TechNXT · BrokerVerse insurance broking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