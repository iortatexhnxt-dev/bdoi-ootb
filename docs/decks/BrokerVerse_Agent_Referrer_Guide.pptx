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822960"/>
            <a:ext cx="3257935" cy="960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2331720"/>
            <a:ext cx="7223760" cy="137160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/>
            <a:r>
              <a:rPr sz="3800" b="1" i="0">
                <a:solidFill>
                  <a:srgbClr val="0B4F9C"/>
                </a:solidFill>
                <a:latin typeface="Calibri"/>
              </a:rPr>
              <a:t>BrokerVerse — Agent / Referrer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794760"/>
            <a:ext cx="722376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000" b="0" i="0">
                <a:solidFill>
                  <a:srgbClr val="1F2937"/>
                </a:solidFill>
                <a:latin typeface="Calibri"/>
              </a:rPr>
              <a:t>Out-of-the-box functions, flows, reports and schedules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43400"/>
            <a:ext cx="72237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5B6778"/>
                </a:solidFill>
                <a:latin typeface="Calibri"/>
              </a:rPr>
              <a:t>BrokerVerse OOTB · insurance broking · Philippines · PHP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983480"/>
            <a:ext cx="1349105" cy="292608"/>
          </a:xfrm>
          <a:prstGeom prst="roundRect">
            <a:avLst>
              <a:gd name="adj" fmla="val 50000"/>
            </a:avLst>
          </a:prstGeom>
          <a:solidFill>
            <a:srgbClr val="E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983480"/>
            <a:ext cx="1349105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100" b="1" i="0">
                <a:solidFill>
                  <a:srgbClr val="0B4F9C"/>
                </a:solidFill>
                <a:latin typeface="Calibri"/>
              </a:rPr>
              <a:t>Own book only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17785" y="4983480"/>
            <a:ext cx="1662927" cy="292608"/>
          </a:xfrm>
          <a:prstGeom prst="roundRect">
            <a:avLst>
              <a:gd name="adj" fmla="val 50000"/>
            </a:avLst>
          </a:prstGeom>
          <a:solidFill>
            <a:srgbClr val="E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17785" y="4983480"/>
            <a:ext cx="1662927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100" b="1" i="0">
                <a:solidFill>
                  <a:srgbClr val="0B4F9C"/>
                </a:solidFill>
                <a:latin typeface="Calibri"/>
              </a:rPr>
              <a:t>Leads to policies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17873" y="4983480"/>
            <a:ext cx="1113739" cy="292608"/>
          </a:xfrm>
          <a:prstGeom prst="roundRect">
            <a:avLst>
              <a:gd name="adj" fmla="val 50000"/>
            </a:avLst>
          </a:prstGeom>
          <a:solidFill>
            <a:srgbClr val="E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17873" y="4983480"/>
            <a:ext cx="1113739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100" b="1" i="0">
                <a:solidFill>
                  <a:srgbClr val="0B4F9C"/>
                </a:solidFill>
                <a:latin typeface="Calibri"/>
              </a:rPr>
              <a:t>Commission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822960"/>
            <a:ext cx="3108960" cy="5120640"/>
          </a:xfrm>
          <a:prstGeom prst="roundRect">
            <a:avLst>
              <a:gd name="adj" fmla="val 5000"/>
            </a:avLst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0" y="109728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BFD9F5"/>
                </a:solidFill>
                <a:latin typeface="Calibri"/>
              </a:rPr>
              <a:t>THIS GUIDE IS FOR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1417320"/>
            <a:ext cx="256032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Agent / Referrer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514600"/>
            <a:ext cx="256032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9FC8F2"/>
                </a:solidFill>
                <a:latin typeface="Calibri"/>
              </a:rPr>
              <a:t>SIGN-IN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2770632"/>
            <a:ext cx="256032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ramon.agent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3520440"/>
            <a:ext cx="256032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9FC8F2"/>
                </a:solidFill>
                <a:latin typeface="Calibri"/>
              </a:rPr>
              <a:t>ROLE CODE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3776472"/>
            <a:ext cx="256032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4526280"/>
            <a:ext cx="256032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9FC8F2"/>
                </a:solidFill>
                <a:latin typeface="Calibri"/>
              </a:rPr>
              <a:t>LANDS 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4782312"/>
            <a:ext cx="256032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Agent Dashboard (Operations &gt; Home)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2636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Prepared by iorta TechNXT ·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Agent / Referrer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WHO YOU ARE IN BROKERVERSE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Role at a glance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25880"/>
            <a:ext cx="6675120" cy="4846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08760"/>
            <a:ext cx="621792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 i="0">
                <a:solidFill>
                  <a:srgbClr val="0B4F9C"/>
                </a:solidFill>
                <a:latin typeface="Calibri"/>
              </a:rPr>
              <a:t>What you 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65960"/>
            <a:ext cx="6217920" cy="41148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1200"/>
              </a:spcAft>
              <a:buClr>
                <a:srgbClr val="1E88E5"/>
              </a:buClr>
              <a:buFont typeface="Arial"/>
              <a:buChar char="•"/>
            </a:pPr>
            <a:r>
              <a:rPr b="1" sz="1600">
                <a:solidFill>
                  <a:srgbClr val="0B4F9C"/>
                </a:solidFill>
                <a:latin typeface="Calibri"/>
              </a:rPr>
              <a:t>Sells:  </a:t>
            </a:r>
            <a:r>
              <a:rPr sz="1600">
                <a:solidFill>
                  <a:srgbClr val="1F2937"/>
                </a:solidFill>
                <a:latin typeface="Calibri"/>
              </a:rPr>
              <a:t>captures leads, prepares quotations, converts accepted quotes into policies.</a:t>
            </a:r>
          </a:p>
          <a:p>
            <a:pPr marL="201168" indent="-182880">
              <a:spcAft>
                <a:spcPts val="1200"/>
              </a:spcAft>
              <a:buClr>
                <a:srgbClr val="1E88E5"/>
              </a:buClr>
              <a:buFont typeface="Arial"/>
              <a:buChar char="•"/>
            </a:pPr>
            <a:r>
              <a:rPr b="1" sz="1600">
                <a:solidFill>
                  <a:srgbClr val="0B4F9C"/>
                </a:solidFill>
                <a:latin typeface="Calibri"/>
              </a:rPr>
              <a:t>Own book only:  </a:t>
            </a:r>
            <a:r>
              <a:rPr sz="1600">
                <a:solidFill>
                  <a:srgbClr val="1F2937"/>
                </a:solidFill>
                <a:latin typeface="Calibri"/>
              </a:rPr>
              <a:t>sees only the leads, clients, quotes and policies you created.</a:t>
            </a:r>
          </a:p>
          <a:p>
            <a:pPr marL="201168" indent="-182880">
              <a:spcAft>
                <a:spcPts val="1200"/>
              </a:spcAft>
              <a:buClr>
                <a:srgbClr val="1E88E5"/>
              </a:buClr>
              <a:buFont typeface="Arial"/>
              <a:buChar char="•"/>
            </a:pPr>
            <a:r>
              <a:rPr b="1" sz="1600">
                <a:solidFill>
                  <a:srgbClr val="0B4F9C"/>
                </a:solidFill>
                <a:latin typeface="Calibri"/>
              </a:rPr>
              <a:t>Serves clients:  </a:t>
            </a:r>
            <a:r>
              <a:rPr sz="1600">
                <a:solidFill>
                  <a:srgbClr val="1F2937"/>
                </a:solidFill>
                <a:latin typeface="Calibri"/>
              </a:rPr>
              <a:t>raises endorsements and claim notices, renews own expiring policies.</a:t>
            </a:r>
          </a:p>
          <a:p>
            <a:pPr marL="201168" indent="-182880">
              <a:spcAft>
                <a:spcPts val="1200"/>
              </a:spcAft>
              <a:buClr>
                <a:srgbClr val="1E88E5"/>
              </a:buClr>
              <a:buFont typeface="Arial"/>
              <a:buChar char="•"/>
            </a:pPr>
            <a:r>
              <a:rPr b="1" sz="1600">
                <a:solidFill>
                  <a:srgbClr val="0B4F9C"/>
                </a:solidFill>
                <a:latin typeface="Calibri"/>
              </a:rPr>
              <a:t>Earns:  </a:t>
            </a:r>
            <a:r>
              <a:rPr sz="1600">
                <a:solidFill>
                  <a:srgbClr val="1F2937"/>
                </a:solidFill>
                <a:latin typeface="Calibri"/>
              </a:rPr>
              <a:t>commission accrues at issuance; Finance pays it with withholding tax.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6640" y="1325880"/>
            <a:ext cx="4325112" cy="1463040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35240" y="1463039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 i="0">
                <a:solidFill>
                  <a:srgbClr val="1E88E5"/>
                </a:solidFill>
                <a:latin typeface="Calibri"/>
              </a:rPr>
              <a:t>Sign-in and landing page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1783080"/>
            <a:ext cx="393192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User name ramon.agent. Lands on the Agent Dashboard: your leads, clients, policies sold, commission and premium collected on your book.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6640" y="2880360"/>
            <a:ext cx="4325112" cy="1600200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35240" y="301752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 i="0">
                <a:solidFill>
                  <a:srgbClr val="1E88E5"/>
                </a:solidFill>
                <a:latin typeface="Calibri"/>
              </a:rPr>
              <a:t>You hand work 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3337560"/>
            <a:ext cx="3931920" cy="1051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Underwriter (quote approval), client (e-mail acceptance), Finance (receipts and commission payout), Claims (settlement), Customer Services.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06640" y="4572000"/>
            <a:ext cx="4325112" cy="1600200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35240" y="470916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 i="0">
                <a:solidFill>
                  <a:srgbClr val="1E88E5"/>
                </a:solidFill>
                <a:latin typeface="Calibri"/>
              </a:rPr>
              <a:t>Maker-checker partners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40" y="5029200"/>
            <a:ext cx="3931920" cy="1051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No approvals of your own: quotes go to the underwriter; payouts need a Finance maker and checker.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Agent / Referrer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WHAT YOU SEE AFTER SIGN-IN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Menu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1">
                <a:solidFill>
                  <a:srgbClr val="5B6778"/>
                </a:solidFill>
                <a:latin typeface="Calibri"/>
              </a:rPr>
              <a:t>Menus granted to the agent role; the renewals workspace (queue, batch, at-risk, negotiations, lapse, performance) is run by Sales and Underwriting.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45920"/>
            <a:ext cx="3636264" cy="2969768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645920"/>
            <a:ext cx="3636264" cy="384048"/>
          </a:xfrm>
          <a:prstGeom prst="roundRect">
            <a:avLst>
              <a:gd name="adj" fmla="val 18000"/>
            </a:avLst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645920"/>
            <a:ext cx="3361944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121408"/>
            <a:ext cx="3435095" cy="2421128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Agent Dashboard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76344" y="1645920"/>
            <a:ext cx="3636264" cy="2969768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276344" y="1645920"/>
            <a:ext cx="3636264" cy="384048"/>
          </a:xfrm>
          <a:prstGeom prst="roundRect">
            <a:avLst>
              <a:gd name="adj" fmla="val 18000"/>
            </a:avLst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3504" y="1645920"/>
            <a:ext cx="3361944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Operations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6072" y="2121408"/>
            <a:ext cx="3435095" cy="2421128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Home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Leads/Prospects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Clients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Quotation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Policy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Claims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Renewals &gt; Renewal Policy (renew your own expiring policies)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5488" y="1645920"/>
            <a:ext cx="3636264" cy="2969768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95488" y="1645920"/>
            <a:ext cx="3636264" cy="384048"/>
          </a:xfrm>
          <a:prstGeom prst="roundRect">
            <a:avLst>
              <a:gd name="adj" fmla="val 18000"/>
            </a:avLst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2648" y="1645920"/>
            <a:ext cx="3361944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Commission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05215" y="2121408"/>
            <a:ext cx="3435095" cy="2421128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Commission Dashboard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Agent / Referrer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KEY FUNCTION 1 OF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Agent dashboard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" y="1243584"/>
            <a:ext cx="7315200" cy="4599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7242048" cy="4526280"/>
          </a:xfrm>
          <a:prstGeom prst="rect">
            <a:avLst/>
          </a:prstGeom>
          <a:ln w="6350">
            <a:solidFill>
              <a:srgbClr val="D5DEE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57200" y="5897879"/>
            <a:ext cx="7269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5B6778"/>
                </a:solidFill>
                <a:latin typeface="Calibri"/>
              </a:rPr>
              <a:t>Live screen — Dashboard &gt; Agent Dashboard — signed in as ramon.agent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243584"/>
            <a:ext cx="3733495" cy="496519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389888"/>
            <a:ext cx="32762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Dashboard &gt; Agent 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322015" cy="43434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Purpose:  </a:t>
            </a:r>
            <a:r>
              <a:rPr sz="1500">
                <a:solidFill>
                  <a:srgbClr val="1F2937"/>
                </a:solidFill>
                <a:latin typeface="Calibri"/>
              </a:rPr>
              <a:t>your leads, clients and policies sold, commission by month.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Money tiles:  </a:t>
            </a:r>
            <a:r>
              <a:rPr sz="1500">
                <a:solidFill>
                  <a:srgbClr val="1F2937"/>
                </a:solidFill>
                <a:latin typeface="Calibri"/>
              </a:rPr>
              <a:t>earned commission, collected premium, receivables and gross premium from the bills of your book.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Create Quote:  </a:t>
            </a:r>
            <a:r>
              <a:rPr sz="1500">
                <a:solidFill>
                  <a:srgbClr val="1F2937"/>
                </a:solidFill>
                <a:latin typeface="Calibri"/>
              </a:rPr>
              <a:t>shortcut into the quotation wizard.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Scope:  </a:t>
            </a:r>
            <a:r>
              <a:rPr sz="1500">
                <a:solidFill>
                  <a:srgbClr val="1F2937"/>
                </a:solidFill>
                <a:latin typeface="Calibri"/>
              </a:rPr>
              <a:t>only your own records are counted.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Agent / Referrer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KEY FUNCTION 2 OF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Leads / prospects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" y="1243584"/>
            <a:ext cx="7315200" cy="4599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7242048" cy="4526280"/>
          </a:xfrm>
          <a:prstGeom prst="rect">
            <a:avLst/>
          </a:prstGeom>
          <a:ln w="6350">
            <a:solidFill>
              <a:srgbClr val="D5DEE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57200" y="5897879"/>
            <a:ext cx="7269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5B6778"/>
                </a:solidFill>
                <a:latin typeface="Calibri"/>
              </a:rPr>
              <a:t>Live screen — Operations &gt; Leads/Prospects — signed in as ramon.agent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243584"/>
            <a:ext cx="3733495" cy="496519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389888"/>
            <a:ext cx="32762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Operations &gt; Leads/Prospects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322015" cy="43434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Purpose:  </a:t>
            </a:r>
            <a:r>
              <a:rPr sz="1500">
                <a:solidFill>
                  <a:srgbClr val="1F2937"/>
                </a:solidFill>
                <a:latin typeface="Calibri"/>
              </a:rPr>
              <a:t>your prospects by line with KPIs and conversion rate.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Create Lead:  </a:t>
            </a:r>
            <a:r>
              <a:rPr sz="1500">
                <a:solidFill>
                  <a:srgbClr val="1F2937"/>
                </a:solidFill>
                <a:latin typeface="Calibri"/>
              </a:rPr>
              <a:t>required fields, e-mail format, mobile 0917 123 4567 or +63 917 123 4567, date of birth.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Actions:  </a:t>
            </a:r>
            <a:r>
              <a:rPr sz="1500">
                <a:solidFill>
                  <a:srgbClr val="1F2937"/>
                </a:solidFill>
                <a:latin typeface="Calibri"/>
              </a:rPr>
              <a:t>View, Edit, Delete, Bulk Upload.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Next:  </a:t>
            </a:r>
            <a:r>
              <a:rPr sz="1500">
                <a:solidFill>
                  <a:srgbClr val="1F2937"/>
                </a:solidFill>
                <a:latin typeface="Calibri"/>
              </a:rPr>
              <a:t>Create Quote from Lead Details.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Agent / Referrer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KEY FUNCTION 3 OF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Quotation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" y="1243584"/>
            <a:ext cx="5066683" cy="4599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4993531" cy="4526280"/>
          </a:xfrm>
          <a:prstGeom prst="rect">
            <a:avLst/>
          </a:prstGeom>
          <a:ln w="6350">
            <a:solidFill>
              <a:srgbClr val="D5DEE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57200" y="5897879"/>
            <a:ext cx="7269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5B6778"/>
                </a:solidFill>
                <a:latin typeface="Calibri"/>
              </a:rPr>
              <a:t>Live screen — Create Quote, step 3: coverage details after Calculate — signed in as ramon.agent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243584"/>
            <a:ext cx="3733495" cy="496519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389888"/>
            <a:ext cx="32762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Lead Details &gt; Create Quote (5 steps)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322015" cy="43434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Pricing:  </a:t>
            </a:r>
            <a:r>
              <a:rPr sz="1500">
                <a:solidFill>
                  <a:srgbClr val="1F2937"/>
                </a:solidFill>
                <a:latin typeface="Calibri"/>
              </a:rPr>
              <a:t>net 28,005.00 + VAT 3,360.60 + DST 3,500.63 + LGT 210.04 = gross 35,076.27.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Server check:  </a:t>
            </a:r>
            <a:r>
              <a:rPr sz="1500">
                <a:solidFill>
                  <a:srgbClr val="1F2937"/>
                </a:solidFill>
                <a:latin typeface="Calibri"/>
              </a:rPr>
              <a:t>the API re-prices with the configured rates; tampered amounts are refused.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Approval:  </a:t>
            </a:r>
            <a:r>
              <a:rPr sz="1500">
                <a:solidFill>
                  <a:srgbClr val="1F2937"/>
                </a:solidFill>
                <a:latin typeface="Calibri"/>
              </a:rPr>
              <a:t>the underwriter is notified; the client gets an e-mail link valid 7 days.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Expiry:  </a:t>
            </a:r>
            <a:r>
              <a:rPr sz="1500">
                <a:solidFill>
                  <a:srgbClr val="1F2937"/>
                </a:solidFill>
                <a:latin typeface="Calibri"/>
              </a:rPr>
              <a:t>unconverted quotes expire after the validity period.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Agent / Referrer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KEY FUNCTION 4 OF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Convert to policy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" y="1243584"/>
            <a:ext cx="7315200" cy="4599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7242048" cy="4526280"/>
          </a:xfrm>
          <a:prstGeom prst="rect">
            <a:avLst/>
          </a:prstGeom>
          <a:ln w="6350">
            <a:solidFill>
              <a:srgbClr val="D5DEE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57200" y="5897879"/>
            <a:ext cx="7269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5B6778"/>
                </a:solidFill>
                <a:latin typeface="Calibri"/>
              </a:rPr>
              <a:t>Live screen — Coverage review with the billing mode before Send to Insurance Company — signed in as ramon.agent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243584"/>
            <a:ext cx="3733495" cy="496519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389888"/>
            <a:ext cx="32762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Quotation &gt; Proceed to Policy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322015" cy="43434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KYC:  </a:t>
            </a:r>
            <a:r>
              <a:rPr sz="1500">
                <a:solidFill>
                  <a:srgbClr val="1F2937"/>
                </a:solidFill>
                <a:latin typeface="Calibri"/>
              </a:rPr>
              <a:t>ID type, number and image, chassis, motor and plate or MV file number are required.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Billing:  </a:t>
            </a:r>
            <a:r>
              <a:rPr sz="1500">
                <a:solidFill>
                  <a:srgbClr val="1F2937"/>
                </a:solidFill>
                <a:latin typeface="Calibri"/>
              </a:rPr>
              <a:t>broker billed (default) or direct bill, chosen on Send to Insurance Company.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Downstream:  </a:t>
            </a:r>
            <a:r>
              <a:rPr sz="1500">
                <a:solidFill>
                  <a:srgbClr val="1F2937"/>
                </a:solidFill>
                <a:latin typeface="Calibri"/>
              </a:rPr>
              <a:t>bill INV-, booking journal, collection item and commission accrued (e.g. 4,200.75 on POL-2026-00001).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Payment:  </a:t>
            </a:r>
            <a:r>
              <a:rPr sz="1500">
                <a:solidFill>
                  <a:srgbClr val="1F2937"/>
                </a:solidFill>
                <a:latin typeface="Calibri"/>
              </a:rPr>
              <a:t>record how the client paid; Finance verifies it and posts the receipt.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Agent / Referrer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KEY FUNCTION 5 OF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Renewals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" y="1243584"/>
            <a:ext cx="7315200" cy="4599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7242048" cy="4526280"/>
          </a:xfrm>
          <a:prstGeom prst="rect">
            <a:avLst/>
          </a:prstGeom>
          <a:ln w="6350">
            <a:solidFill>
              <a:srgbClr val="D5DEE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57200" y="5897879"/>
            <a:ext cx="7269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5B6778"/>
                </a:solidFill>
                <a:latin typeface="Calibri"/>
              </a:rPr>
              <a:t>Live screen — Operations &gt; Renewals &gt; Renewal Policy — signed in as ramon.agent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243584"/>
            <a:ext cx="3733495" cy="496519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389888"/>
            <a:ext cx="32762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Operations &gt; Renewals &gt; Renewal Policy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322015" cy="43434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Purpose:  </a:t>
            </a:r>
            <a:r>
              <a:rPr sz="1500">
                <a:solidFill>
                  <a:srgbClr val="1F2937"/>
                </a:solidFill>
                <a:latin typeface="Calibri"/>
              </a:rPr>
              <a:t>your active, expiring (0-5 days) and expired policies.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Timing:  </a:t>
            </a:r>
            <a:r>
              <a:rPr sz="1500">
                <a:solidFill>
                  <a:srgbClr val="1F2937"/>
                </a:solidFill>
                <a:latin typeface="Calibri"/>
              </a:rPr>
              <a:t>notices go to your clients at 60 / 30 / 15 days; you get a reminder each time.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Action:  </a:t>
            </a:r>
            <a:r>
              <a:rPr sz="1500">
                <a:solidFill>
                  <a:srgbClr val="1F2937"/>
                </a:solidFill>
                <a:latin typeface="Calibri"/>
              </a:rPr>
              <a:t>row menu &gt; Renewal starts the renewal quote, linked to the expiring policy.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Scope:  </a:t>
            </a:r>
            <a:r>
              <a:rPr sz="1500">
                <a:solidFill>
                  <a:srgbClr val="1F2937"/>
                </a:solidFill>
                <a:latin typeface="Calibri"/>
              </a:rPr>
              <a:t>only your own policies; the renewals workspace is run by Sales and Underwriting.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Agent / Referrer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KEY FUNCTION 6 OF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Claims notice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80160"/>
            <a:ext cx="7269480" cy="4526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463039"/>
            <a:ext cx="66294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1" i="0">
                <a:solidFill>
                  <a:srgbClr val="0B4F9C"/>
                </a:solidFill>
                <a:latin typeface="Calibri"/>
              </a:rPr>
              <a:t>Step by step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1965960"/>
            <a:ext cx="384048" cy="384048"/>
          </a:xfrm>
          <a:prstGeom prst="ellipse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6596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51560" y="2368296"/>
            <a:ext cx="18288" cy="237743"/>
          </a:xfrm>
          <a:prstGeom prst="rect">
            <a:avLst/>
          </a:prstGeom>
          <a:solidFill>
            <a:srgbClr val="D5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63040" y="1965960"/>
            <a:ext cx="5897880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Open the client or policy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2624328"/>
            <a:ext cx="384048" cy="384048"/>
          </a:xfrm>
          <a:prstGeom prst="ellipse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62432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51560" y="3026664"/>
            <a:ext cx="18288" cy="237743"/>
          </a:xfrm>
          <a:prstGeom prst="rect">
            <a:avLst/>
          </a:prstGeom>
          <a:solidFill>
            <a:srgbClr val="D5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63040" y="2624328"/>
            <a:ext cx="5897880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Claim request: date, time, place of loss</a:t>
            </a:r>
          </a:p>
        </p:txBody>
      </p:sp>
      <p:sp>
        <p:nvSpPr>
          <p:cNvPr id="18" name="Oval 17"/>
          <p:cNvSpPr/>
          <p:nvPr/>
        </p:nvSpPr>
        <p:spPr>
          <a:xfrm>
            <a:off x="868680" y="3282696"/>
            <a:ext cx="384048" cy="384048"/>
          </a:xfrm>
          <a:prstGeom prst="ellipse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282696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51560" y="3685032"/>
            <a:ext cx="18288" cy="237743"/>
          </a:xfrm>
          <a:prstGeom prst="rect">
            <a:avLst/>
          </a:prstGeom>
          <a:solidFill>
            <a:srgbClr val="D5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63040" y="3282696"/>
            <a:ext cx="5897880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Cause of loss and estimate</a:t>
            </a:r>
          </a:p>
        </p:txBody>
      </p:sp>
      <p:sp>
        <p:nvSpPr>
          <p:cNvPr id="22" name="Oval 21"/>
          <p:cNvSpPr/>
          <p:nvPr/>
        </p:nvSpPr>
        <p:spPr>
          <a:xfrm>
            <a:off x="868680" y="3941064"/>
            <a:ext cx="384048" cy="384048"/>
          </a:xfrm>
          <a:prstGeom prst="ellipse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3941064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51560" y="4343400"/>
            <a:ext cx="18288" cy="237743"/>
          </a:xfrm>
          <a:prstGeom prst="rect">
            <a:avLst/>
          </a:prstGeom>
          <a:solidFill>
            <a:srgbClr val="D5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63040" y="3941064"/>
            <a:ext cx="5897880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Attach documents (2 MB, PNG / JPEG / PDF)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" y="4599431"/>
            <a:ext cx="384048" cy="384048"/>
          </a:xfrm>
          <a:prstGeom prst="ellipse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599431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0" y="4599431"/>
            <a:ext cx="5897880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Send to the insurer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897879"/>
            <a:ext cx="7269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5B6778"/>
                </a:solidFill>
                <a:latin typeface="Calibri"/>
              </a:rPr>
              <a:t>Claim request steps (the Claims Officer takes it from there)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01000" y="1243584"/>
            <a:ext cx="3733495" cy="496519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0" y="1389888"/>
            <a:ext cx="32762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Operations &gt; Claims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1783080"/>
            <a:ext cx="3322015" cy="43434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Rule:  </a:t>
            </a:r>
            <a:r>
              <a:rPr sz="1500">
                <a:solidFill>
                  <a:srgbClr val="1F2937"/>
                </a:solidFill>
                <a:latin typeface="Calibri"/>
              </a:rPr>
              <a:t>date of loss must be inside the policy period and not in the future.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Refusal:  </a:t>
            </a:r>
            <a:r>
              <a:rPr sz="1500">
                <a:solidFill>
                  <a:srgbClr val="1F2937"/>
                </a:solidFill>
                <a:latin typeface="Calibri"/>
              </a:rPr>
              <a:t>the reason is shown, e.g. “Date of loss … is outside the policy period”; unpaid premium also blocks it.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Follow-up:  </a:t>
            </a:r>
            <a:r>
              <a:rPr sz="1500">
                <a:solidFill>
                  <a:srgbClr val="1F2937"/>
                </a:solidFill>
                <a:latin typeface="Calibri"/>
              </a:rPr>
              <a:t>you are notified at each status: Processing, Pending Approval, Approved, Settled.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Agent / Referrer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LEAD TO RENEWAL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End-to-end flow: your part of the cycle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8931" y="1417320"/>
            <a:ext cx="1481328" cy="1024128"/>
          </a:xfrm>
          <a:prstGeom prst="roundRect">
            <a:avLst>
              <a:gd name="adj" fmla="val 12000"/>
            </a:avLst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2083" y="149047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3" y="1673352"/>
            <a:ext cx="133502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Lead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3" y="2075688"/>
            <a:ext cx="1335024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Agent / Sales / CS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153411" y="1810512"/>
            <a:ext cx="274320" cy="237744"/>
          </a:xfrm>
          <a:prstGeom prst="righ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500883" y="1417320"/>
            <a:ext cx="1481328" cy="1024128"/>
          </a:xfrm>
          <a:prstGeom prst="roundRect">
            <a:avLst>
              <a:gd name="adj" fmla="val 12000"/>
            </a:avLst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74035" y="149047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74035" y="1673352"/>
            <a:ext cx="133502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Quote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74035" y="2075688"/>
            <a:ext cx="1335024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Agent / Sales / UW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055363" y="1810512"/>
            <a:ext cx="274320" cy="237744"/>
          </a:xfrm>
          <a:prstGeom prst="righ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402836" y="1417320"/>
            <a:ext cx="1481328" cy="1024128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75988" y="149047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1E88E5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75988" y="1673352"/>
            <a:ext cx="133502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300" b="1" i="0">
                <a:solidFill>
                  <a:srgbClr val="0B4F9C"/>
                </a:solidFill>
                <a:latin typeface="Calibri"/>
              </a:rPr>
              <a:t>Customer approval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75988" y="2075688"/>
            <a:ext cx="1335024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5B6778"/>
                </a:solidFill>
                <a:latin typeface="Calibri"/>
              </a:rPr>
              <a:t>Client (e-mail link)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5957316" y="1810512"/>
            <a:ext cx="274320" cy="237744"/>
          </a:xfrm>
          <a:prstGeom prst="righ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04788" y="1417320"/>
            <a:ext cx="1481328" cy="1024128"/>
          </a:xfrm>
          <a:prstGeom prst="roundRect">
            <a:avLst>
              <a:gd name="adj" fmla="val 12000"/>
            </a:avLst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77940" y="149047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7940" y="1673352"/>
            <a:ext cx="133502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Policy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2075688"/>
            <a:ext cx="1335024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Agent / Sales / UW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7859268" y="1810512"/>
            <a:ext cx="274320" cy="237744"/>
          </a:xfrm>
          <a:prstGeom prst="righ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206740" y="1417320"/>
            <a:ext cx="1481328" cy="1024128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79892" y="149047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1E88E5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9892" y="1673352"/>
            <a:ext cx="133502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300" b="1" i="0">
                <a:solidFill>
                  <a:srgbClr val="0B4F9C"/>
                </a:solidFill>
                <a:latin typeface="Calibri"/>
              </a:rPr>
              <a:t>Billing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9892" y="2075688"/>
            <a:ext cx="1335024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5B6778"/>
                </a:solidFill>
                <a:latin typeface="Calibri"/>
              </a:rPr>
              <a:t>System at issuance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9761219" y="1810512"/>
            <a:ext cx="274320" cy="237744"/>
          </a:xfrm>
          <a:prstGeom prst="righ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0108692" y="1417320"/>
            <a:ext cx="1481328" cy="1024128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81844" y="149047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1E88E5"/>
                </a:solidFill>
                <a:latin typeface="Calibri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81844" y="1673352"/>
            <a:ext cx="133502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300" b="1" i="0">
                <a:solidFill>
                  <a:srgbClr val="0B4F9C"/>
                </a:solidFill>
                <a:latin typeface="Calibri"/>
              </a:rPr>
              <a:t>Receipt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81844" y="2075688"/>
            <a:ext cx="1335024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5B6778"/>
                </a:solidFill>
                <a:latin typeface="Calibri"/>
              </a:rPr>
              <a:t>Finance</a:t>
            </a:r>
          </a:p>
        </p:txBody>
      </p:sp>
      <p:sp>
        <p:nvSpPr>
          <p:cNvPr id="37" name="Down Arrow 36"/>
          <p:cNvSpPr/>
          <p:nvPr/>
        </p:nvSpPr>
        <p:spPr>
          <a:xfrm>
            <a:off x="10712196" y="2551176"/>
            <a:ext cx="274320" cy="402335"/>
          </a:xfrm>
          <a:prstGeom prst="down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0108692" y="3063240"/>
            <a:ext cx="1481328" cy="1024128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181844" y="313639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1E88E5"/>
                </a:solidFill>
                <a:latin typeface="Calibri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81844" y="3319272"/>
            <a:ext cx="133502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300" b="1" i="0">
                <a:solidFill>
                  <a:srgbClr val="0B4F9C"/>
                </a:solidFill>
                <a:latin typeface="Calibri"/>
              </a:rPr>
              <a:t>Commission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81844" y="3721608"/>
            <a:ext cx="1335024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5B6778"/>
                </a:solidFill>
                <a:latin typeface="Calibri"/>
              </a:rPr>
              <a:t>Finance maker + checker</a:t>
            </a:r>
          </a:p>
        </p:txBody>
      </p:sp>
      <p:sp>
        <p:nvSpPr>
          <p:cNvPr id="42" name="Left Arrow 41"/>
          <p:cNvSpPr/>
          <p:nvPr/>
        </p:nvSpPr>
        <p:spPr>
          <a:xfrm>
            <a:off x="9761219" y="3456432"/>
            <a:ext cx="274320" cy="237744"/>
          </a:xfrm>
          <a:prstGeom prst="lef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206740" y="3063240"/>
            <a:ext cx="1481328" cy="1024128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79892" y="313639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1E88E5"/>
                </a:solidFill>
                <a:latin typeface="Calibri"/>
              </a:rPr>
              <a:t>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79892" y="3319272"/>
            <a:ext cx="133502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300" b="1" i="0">
                <a:solidFill>
                  <a:srgbClr val="0B4F9C"/>
                </a:solidFill>
                <a:latin typeface="Calibri"/>
              </a:rPr>
              <a:t>Remittance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79892" y="3721608"/>
            <a:ext cx="1335024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5B6778"/>
                </a:solidFill>
                <a:latin typeface="Calibri"/>
              </a:rPr>
              <a:t>Finance maker + checker</a:t>
            </a:r>
          </a:p>
        </p:txBody>
      </p:sp>
      <p:sp>
        <p:nvSpPr>
          <p:cNvPr id="47" name="Left Arrow 46"/>
          <p:cNvSpPr/>
          <p:nvPr/>
        </p:nvSpPr>
        <p:spPr>
          <a:xfrm>
            <a:off x="7859268" y="3456432"/>
            <a:ext cx="274320" cy="237744"/>
          </a:xfrm>
          <a:prstGeom prst="lef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304788" y="3063240"/>
            <a:ext cx="1481328" cy="1024128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77940" y="313639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1E88E5"/>
                </a:solidFill>
                <a:latin typeface="Calibri"/>
              </a:rPr>
              <a:t>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77940" y="3319272"/>
            <a:ext cx="133502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300" b="1" i="0">
                <a:solidFill>
                  <a:srgbClr val="0B4F9C"/>
                </a:solidFill>
                <a:latin typeface="Calibri"/>
              </a:rPr>
              <a:t>Endorsement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77940" y="3721608"/>
            <a:ext cx="1335024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5B6778"/>
                </a:solidFill>
                <a:latin typeface="Calibri"/>
              </a:rPr>
              <a:t>Customer Services</a:t>
            </a:r>
          </a:p>
        </p:txBody>
      </p:sp>
      <p:sp>
        <p:nvSpPr>
          <p:cNvPr id="52" name="Left Arrow 51"/>
          <p:cNvSpPr/>
          <p:nvPr/>
        </p:nvSpPr>
        <p:spPr>
          <a:xfrm>
            <a:off x="5957316" y="3456432"/>
            <a:ext cx="274320" cy="237744"/>
          </a:xfrm>
          <a:prstGeom prst="lef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4402836" y="3063240"/>
            <a:ext cx="1481328" cy="1024128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475988" y="313639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1E88E5"/>
                </a:solidFill>
                <a:latin typeface="Calibri"/>
              </a:rPr>
              <a:t>10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475988" y="3319272"/>
            <a:ext cx="133502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300" b="1" i="0">
                <a:solidFill>
                  <a:srgbClr val="0B4F9C"/>
                </a:solidFill>
                <a:latin typeface="Calibri"/>
              </a:rPr>
              <a:t>Claim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475988" y="3721608"/>
            <a:ext cx="1335024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5B6778"/>
                </a:solidFill>
                <a:latin typeface="Calibri"/>
              </a:rPr>
              <a:t>Claims maker + checker</a:t>
            </a:r>
          </a:p>
        </p:txBody>
      </p:sp>
      <p:sp>
        <p:nvSpPr>
          <p:cNvPr id="57" name="Left Arrow 56"/>
          <p:cNvSpPr/>
          <p:nvPr/>
        </p:nvSpPr>
        <p:spPr>
          <a:xfrm>
            <a:off x="4055363" y="3456432"/>
            <a:ext cx="274320" cy="237744"/>
          </a:xfrm>
          <a:prstGeom prst="lef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2500883" y="3063240"/>
            <a:ext cx="1481328" cy="1024128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574035" y="313639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1E88E5"/>
                </a:solidFill>
                <a:latin typeface="Calibri"/>
              </a:rPr>
              <a:t>11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574035" y="3319272"/>
            <a:ext cx="133502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300" b="1" i="0">
                <a:solidFill>
                  <a:srgbClr val="0B4F9C"/>
                </a:solidFill>
                <a:latin typeface="Calibri"/>
              </a:rPr>
              <a:t>Renewal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574035" y="3721608"/>
            <a:ext cx="1335024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5B6778"/>
                </a:solidFill>
                <a:latin typeface="Calibri"/>
              </a:rPr>
              <a:t>UW / Sales + schedules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57200" y="4361688"/>
            <a:ext cx="256032" cy="182880"/>
          </a:xfrm>
          <a:prstGeom prst="roundRect">
            <a:avLst>
              <a:gd name="adj" fmla="val 30000"/>
            </a:avLst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77240" y="4315968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Your steps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2011680" y="4361688"/>
            <a:ext cx="256032" cy="182880"/>
          </a:xfrm>
          <a:prstGeom prst="roundRect">
            <a:avLst>
              <a:gd name="adj" fmla="val 30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331720" y="431596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Done by other personas or by the system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00800" y="4315968"/>
            <a:ext cx="5330952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100" b="0" i="1">
                <a:solidFill>
                  <a:srgbClr val="5B6778"/>
                </a:solidFill>
                <a:latin typeface="Calibri"/>
              </a:rPr>
              <a:t>Renewals come back to you as leads for the next term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57200" y="4709160"/>
            <a:ext cx="11274552" cy="1508760"/>
          </a:xfrm>
          <a:prstGeom prst="roundRect">
            <a:avLst>
              <a:gd name="adj" fmla="val 4000"/>
            </a:avLst>
          </a:prstGeom>
          <a:solidFill>
            <a:srgbClr val="E6F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85800" y="4846320"/>
            <a:ext cx="5349240" cy="132588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500"/>
              </a:spcAft>
              <a:buClr>
                <a:srgbClr val="43A047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1 Lead: capture the prospect.</a:t>
            </a:r>
          </a:p>
          <a:p>
            <a:pPr marL="201168" indent="-182880">
              <a:spcAft>
                <a:spcPts val="500"/>
              </a:spcAft>
              <a:buClr>
                <a:srgbClr val="43A047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2 Quote: price and send for approval.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172200" y="4846320"/>
            <a:ext cx="5394960" cy="132588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500"/>
              </a:spcAft>
              <a:buClr>
                <a:srgbClr val="43A047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4 Policy: convert once the client accepts.</a:t>
            </a:r>
          </a:p>
          <a:p>
            <a:pPr marL="201168" indent="-182880">
              <a:spcAft>
                <a:spcPts val="500"/>
              </a:spcAft>
              <a:buClr>
                <a:srgbClr val="43A047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Later: follow receipts, claims and renewals of your book from notifications.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Agent / Referrer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FIGURES AND 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Reports and figures you use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16152"/>
            <a:ext cx="11274552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00" b="0" i="1">
                <a:solidFill>
                  <a:srgbClr val="5B6778"/>
                </a:solidFill>
                <a:latin typeface="Calibri"/>
              </a:rPr>
              <a:t>The agent role has no Reports menu.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783080"/>
          <a:ext cx="11274552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8638"/>
                <a:gridCol w="8455914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Where</a:t>
                      </a:r>
                    </a:p>
                  </a:txBody>
                  <a:tcPr marL="73152" marR="73152" marT="27432" marB="27432" anchor="ctr">
                    <a:solidFill>
                      <a:srgbClr val="0B4F9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What it gives you</a:t>
                      </a:r>
                    </a:p>
                  </a:txBody>
                  <a:tcPr marL="73152" marR="73152" marT="27432" marB="27432" anchor="ctr">
                    <a:solidFill>
                      <a:srgbClr val="0B4F9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4F9C"/>
                          </a:solidFill>
                          <a:latin typeface="Calibri"/>
                        </a:rPr>
                        <a:t>Agent Dashboard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Calibri"/>
                        </a:rPr>
                        <a:t>Leads, clients, policies sold, commission by month, collected premium, receivables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4F9C"/>
                          </a:solidFill>
                          <a:latin typeface="Calibri"/>
                        </a:rPr>
                        <a:t>Commission Dashboard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Calibri"/>
                        </a:rPr>
                        <a:t>Commission earned and payable on your policies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4F9C"/>
                          </a:solidFill>
                          <a:latin typeface="Calibri"/>
                        </a:rPr>
                        <a:t>Leads &gt; KPI tiles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Calibri"/>
                        </a:rPr>
                        <a:t>Total leads, last 7 / 30 days, converted, conversion rate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4F9C"/>
                          </a:solidFill>
                          <a:latin typeface="Calibri"/>
                        </a:rPr>
                        <a:t>Renewal Policy tiles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Calibri"/>
                        </a:rPr>
                        <a:t>Active, expiring soon and expired policies in your book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4F9C"/>
                          </a:solidFill>
                          <a:latin typeface="Calibri"/>
                        </a:rPr>
                        <a:t>Broker Commission Statement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Calibri"/>
                        </a:rPr>
                        <a:t>Ask Finance: commission per policy with WHT and net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Agent / Referrer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MASTER &gt; CONFIGURATION &gt; SCHEDULES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Schedules and automations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325880"/>
          <a:ext cx="1127455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9912"/>
                <a:gridCol w="2016586"/>
                <a:gridCol w="7058052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Job</a:t>
                      </a:r>
                    </a:p>
                  </a:txBody>
                  <a:tcPr marL="73152" marR="73152" marT="27432" marB="27432" anchor="ctr">
                    <a:solidFill>
                      <a:srgbClr val="0B4F9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When it runs</a:t>
                      </a:r>
                    </a:p>
                  </a:txBody>
                  <a:tcPr marL="73152" marR="73152" marT="27432" marB="27432" anchor="ctr">
                    <a:solidFill>
                      <a:srgbClr val="0B4F9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What it means for you</a:t>
                      </a:r>
                    </a:p>
                  </a:txBody>
                  <a:tcPr marL="73152" marR="73152" marT="27432" marB="27432" anchor="ctr">
                    <a:solidFill>
                      <a:srgbClr val="0B4F9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B4F9C"/>
                          </a:solidFill>
                          <a:latin typeface="Calibri"/>
                        </a:rPr>
                        <a:t>Quotation expiry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Every day, 00:30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Your unconverted quotes expire after the validity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B4F9C"/>
                          </a:solidFill>
                          <a:latin typeface="Calibri"/>
                        </a:rPr>
                        <a:t>Renewal notices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Every day, 06:00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Your clients get notices; you get a reminder each time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B4F9C"/>
                          </a:solidFill>
                          <a:latin typeface="Calibri"/>
                        </a:rPr>
                        <a:t>Renewal pipeline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Every day, 05:30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Your expiring policies enter the renewal queue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B4F9C"/>
                          </a:solidFill>
                          <a:latin typeface="Calibri"/>
                        </a:rPr>
                        <a:t>Collection reminders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Every day, 08:00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Your clients are reminded before premium is due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B4F9C"/>
                          </a:solidFill>
                          <a:latin typeface="Calibri"/>
                        </a:rPr>
                        <a:t>Policy expiry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Every day, 00:15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Policies past expiry are marked expired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4663440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1">
                <a:solidFill>
                  <a:srgbClr val="5B6778"/>
                </a:solidFill>
                <a:latin typeface="Calibri"/>
              </a:rPr>
              <a:t>Times are server time (Philippine time in production). The IT administrator can change a timetable, switch a job off or press Run now; every run is recorded.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Agent / Referrer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BELL ICON, TOP RIGHT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Notifications and approvals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25880"/>
            <a:ext cx="5500116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" y="1490472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E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49047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0B4F9C"/>
                </a:solidFill>
                <a:latin typeface="Calibri"/>
              </a:rPr>
              <a:t>Task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1435607"/>
            <a:ext cx="4037075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50" b="1" i="0">
                <a:solidFill>
                  <a:srgbClr val="0B4F9C"/>
                </a:solidFill>
                <a:latin typeface="Calibri"/>
              </a:rPr>
              <a:t>Customer accepted quotation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1746504"/>
            <a:ext cx="4037075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Proceed to policy.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423160"/>
            <a:ext cx="5500116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2" y="2587752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258775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1E88E5"/>
                </a:solidFill>
                <a:latin typeface="Calibri"/>
              </a:rPr>
              <a:t>Info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2532888"/>
            <a:ext cx="4037075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50" b="1" i="0">
                <a:solidFill>
                  <a:srgbClr val="0B4F9C"/>
                </a:solidFill>
                <a:latin typeface="Calibri"/>
              </a:rPr>
              <a:t>Policy issued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2843784"/>
            <a:ext cx="4037075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Policy and bill numbers.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520439"/>
            <a:ext cx="5500116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1792" y="3685031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" y="3685031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1E88E5"/>
                </a:solidFill>
                <a:latin typeface="Calibri"/>
              </a:rPr>
              <a:t>Info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83080" y="3630168"/>
            <a:ext cx="4037075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50" b="1" i="0">
                <a:solidFill>
                  <a:srgbClr val="0B4F9C"/>
                </a:solidFill>
                <a:latin typeface="Calibri"/>
              </a:rPr>
              <a:t>Endorsement completed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83080" y="3941063"/>
            <a:ext cx="4037075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With the premium change, if any.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1636" y="1325880"/>
            <a:ext cx="5500116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396227" y="1490472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E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96227" y="149047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0B4F9C"/>
                </a:solidFill>
                <a:latin typeface="Calibri"/>
              </a:rPr>
              <a:t>Task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57515" y="1435607"/>
            <a:ext cx="4037075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50" b="1" i="0">
                <a:solidFill>
                  <a:srgbClr val="0B4F9C"/>
                </a:solidFill>
                <a:latin typeface="Calibri"/>
              </a:rPr>
              <a:t>New claim registered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57515" y="1746504"/>
            <a:ext cx="4037075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A claim was registered on your policy.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31636" y="2423160"/>
            <a:ext cx="5500116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396227" y="2587752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96227" y="258775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1E88E5"/>
                </a:solidFill>
                <a:latin typeface="Calibri"/>
              </a:rPr>
              <a:t>Info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57515" y="2532888"/>
            <a:ext cx="4037075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50" b="1" i="0">
                <a:solidFill>
                  <a:srgbClr val="0B4F9C"/>
                </a:solidFill>
                <a:latin typeface="Calibri"/>
              </a:rPr>
              <a:t>Claim status changes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57515" y="2843784"/>
            <a:ext cx="4037075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Processing, Pending Approval, Approved, Settled.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31636" y="3520439"/>
            <a:ext cx="5500116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396227" y="3685031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E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96227" y="3685031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1E88E5"/>
                </a:solidFill>
                <a:latin typeface="Calibri"/>
              </a:rPr>
              <a:t>Reminder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57515" y="3630168"/>
            <a:ext cx="4037075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50" b="1" i="0">
                <a:solidFill>
                  <a:srgbClr val="0B4F9C"/>
                </a:solidFill>
                <a:latin typeface="Calibri"/>
              </a:rPr>
              <a:t>Renewal notice sent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57515" y="3941063"/>
            <a:ext cx="4037075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First, second or final notice for your policy.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Agent / Referrer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GOOD TO KNOW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Known limitations and tips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25880"/>
            <a:ext cx="5532120" cy="4846320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6304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1" i="0">
                <a:solidFill>
                  <a:srgbClr val="0B4F9C"/>
                </a:solidFill>
                <a:latin typeface="Calibri"/>
              </a:rPr>
              <a:t>Open items that affect you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874519"/>
            <a:ext cx="5074920" cy="420624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800"/>
              </a:spcAft>
              <a:buClr>
                <a:srgbClr val="5B6778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Your session is kept in the browser’s local storage: sign out on shared computers and keep the browser up to date.</a:t>
            </a:r>
          </a:p>
          <a:p>
            <a:pPr marL="201168" indent="-182880">
              <a:spcAft>
                <a:spcPts val="800"/>
              </a:spcAft>
              <a:buClr>
                <a:srgbClr val="5B6778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Two-factor set-up shows a setup key and an app link, but no QR code: type the key into the authenticator app.</a:t>
            </a:r>
          </a:p>
          <a:p>
            <a:pPr marL="201168" indent="-182880">
              <a:spcAft>
                <a:spcPts val="800"/>
              </a:spcAft>
              <a:buClr>
                <a:srgbClr val="5B6778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Screens are in English or Thai; Filipino is configured but has no translation yet.</a:t>
            </a:r>
          </a:p>
          <a:p>
            <a:pPr marL="201168" indent="-182880">
              <a:spcAft>
                <a:spcPts val="800"/>
              </a:spcAft>
              <a:buClr>
                <a:srgbClr val="5B6778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The commission goes to the referrer chosen on the quote (Account Code, Commission &amp; Referral): choose yourself.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325880"/>
            <a:ext cx="5532120" cy="4846320"/>
          </a:xfrm>
          <a:prstGeom prst="roundRect">
            <a:avLst>
              <a:gd name="adj" fmla="val 4000"/>
            </a:avLst>
          </a:prstGeom>
          <a:solidFill>
            <a:srgbClr val="E6F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146304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1" i="0">
                <a:solidFill>
                  <a:srgbClr val="43A047"/>
                </a:solidFill>
                <a:latin typeface="Calibri"/>
              </a:rPr>
              <a:t>Tips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1874519"/>
            <a:ext cx="5074920" cy="420624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800"/>
              </a:spcAft>
              <a:buClr>
                <a:srgbClr val="43A047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Open the lead and select Create Quote.</a:t>
            </a:r>
          </a:p>
          <a:p>
            <a:pPr marL="201168" indent="-182880">
              <a:spcAft>
                <a:spcPts val="800"/>
              </a:spcAft>
              <a:buClr>
                <a:srgbClr val="43A047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Use the Agent Dashboard every morning.</a:t>
            </a:r>
          </a:p>
          <a:p>
            <a:pPr marL="201168" indent="-182880">
              <a:spcAft>
                <a:spcPts val="800"/>
              </a:spcAft>
              <a:buClr>
                <a:srgbClr val="43A047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Keep your bank details with Finance so payouts are not held.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4F9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822960"/>
            <a:ext cx="38404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051560"/>
            <a:ext cx="3102796" cy="91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265176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800" b="0" i="0">
                <a:solidFill>
                  <a:srgbClr val="BFD9F5"/>
                </a:solidFill>
                <a:latin typeface="Calibri"/>
              </a:rPr>
              <a:t>BrokerVerse — Agent / Referrer guide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160520"/>
            <a:ext cx="10698480" cy="1874519"/>
          </a:xfrm>
          <a:prstGeom prst="roundRect">
            <a:avLst>
              <a:gd name="adj" fmla="val 6000"/>
            </a:avLst>
          </a:prstGeom>
          <a:solidFill>
            <a:srgbClr val="0E5C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2976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9FC8F2"/>
                </a:solidFill>
                <a:latin typeface="Calibri"/>
              </a:rPr>
              <a:t>SUPPORT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617720"/>
            <a:ext cx="2194560" cy="3017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Service desk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4617720"/>
            <a:ext cx="8046720" cy="3017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&lt;service desk to be confirmed&gt;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946904"/>
            <a:ext cx="2194560" cy="3017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E-mail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4946904"/>
            <a:ext cx="8046720" cy="3017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&lt;support mailbox to be confirmed&gt;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5276088"/>
            <a:ext cx="2194560" cy="3017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Hours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5276088"/>
            <a:ext cx="8046720" cy="3017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&lt;business hours, Manila time, to be confirmed&gt;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605272"/>
            <a:ext cx="2194560" cy="3017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Access requests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5605272"/>
            <a:ext cx="8046720" cy="3017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Your User Access Administrator (Master &gt; User Management)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3093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0">
                <a:solidFill>
                  <a:srgbClr val="BFD9F5"/>
                </a:solidFill>
                <a:latin typeface="Calibri"/>
              </a:rPr>
              <a:t>iorta TechNXT · BrokerVerse insurance-broking 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