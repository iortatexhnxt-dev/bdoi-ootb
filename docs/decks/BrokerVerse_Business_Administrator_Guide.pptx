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Business Administrator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BDO Insure (BDOI)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741383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741383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Products and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0063" y="4983480"/>
            <a:ext cx="878372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10063" y="4983480"/>
            <a:ext cx="87837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Masters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5596" y="4983480"/>
            <a:ext cx="1741383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5596" y="4983480"/>
            <a:ext cx="1741383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All business menus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 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bea.admin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Home (business overview dashboard)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Designs products:  </a:t>
            </a:r>
            <a:r>
              <a:rPr sz="1600">
                <a:solidFill>
                  <a:srgbClr val="1F2937"/>
                </a:solidFill>
                <a:latin typeface="Calibri"/>
              </a:rPr>
              <a:t>templates, coverages, rating factors, underwriting rules and documents.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Keeps masters right:  </a:t>
            </a:r>
            <a:r>
              <a:rPr sz="1600">
                <a:solidFill>
                  <a:srgbClr val="1F2937"/>
                </a:solidFill>
                <a:latin typeface="Calibri"/>
              </a:rPr>
              <a:t>insurers, lines of business, products, covers, signatories, vehicles, locations.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Sets commercial terms:  </a:t>
            </a:r>
            <a:r>
              <a:rPr sz="1600">
                <a:solidFill>
                  <a:srgbClr val="1F2937"/>
                </a:solidFill>
                <a:latin typeface="Calibri"/>
              </a:rPr>
              <a:t>commission masters, incentive programmes and reinsurance treaties.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Oversees the business:  </a:t>
            </a:r>
            <a:r>
              <a:rPr sz="1600">
                <a:solidFill>
                  <a:srgbClr val="1F2937"/>
                </a:solidFill>
                <a:latin typeface="Calibri"/>
              </a:rPr>
              <a:t>every operational and financial menu, dashboards and all 18 reports.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Approves changes:  </a:t>
            </a:r>
            <a:r>
              <a:rPr sz="1600">
                <a:solidFill>
                  <a:srgbClr val="1F2937"/>
                </a:solidFill>
                <a:latin typeface="Calibri"/>
              </a:rPr>
              <a:t>product approval workflows and treaty approvals.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bea.admin. Lands on Home, the business overview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Sales, agents and underwriters use your products and rates; Finance uses your commission, tax and remittance masters; IT administrator owns users and system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Treaties and incentive batches need approval by a second person; you cannot approve your own finance vouchers, claims settlements or renewals.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The ba role has every menu (all: true); use it for business configuration, not user administration.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Executive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Claims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Underwriting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Agent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Product Templates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Coverage Builder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Rating Engine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Underwriting Rules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Document Manager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Approval Workflows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Market / Risk Mapping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Product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System Settings, Configuration, Schedules, Audit Trail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Generals: Organization, Insurance Mgmt, Location, Commission, Employee Mgmt, User Mgmt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Finance: account setups, transaction codes, currency, FX, bank, accounts, taxation, petty cash, remittance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Incentive Programs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Reinsurance Treaty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Renewals: Renewal Policy, Batch, Queue, Retention Analytics, At-Risk, Negotiations, Lapse Mgmt, Performance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Receipts, Collections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Accounting Query, All Clients Accounting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Open Entry Matching / Un-Matching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Disbursement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Petty Cash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Journal, Correction and Reversal JV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Remittance (17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Incentive (4 screens)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21558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8718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1286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Commission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Agents/Referrer Accounts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5916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5916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3076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644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Treaty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Cession Tracking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Claims Recovery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Reconciliation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0274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0274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7434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0002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Operational: Production, Claims, Renewal, Remittance, Broker Commission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Financial: SOA / Premium Receivable, Collection, Payables, Journal, Trial 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Product Configurator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Product Configurator &gt; Dashboard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Product Configurator &gt;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active products, total premium, average base rate and commission at a glance.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Create New Product, open templates, analytics and quick actions.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Status:  </a:t>
            </a:r>
            <a:r>
              <a:rPr sz="1500">
                <a:solidFill>
                  <a:srgbClr val="1F2937"/>
                </a:solidFill>
                <a:latin typeface="Calibri"/>
              </a:rPr>
              <a:t>draft, active or archived per product version.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active products appear in the quotation wizard.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Product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Product Configurator &gt; Product Templates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Product Configurator &gt; Product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one template per product: motor, property, travel, group health, marine…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Versioning:  </a:t>
            </a:r>
            <a:r>
              <a:rPr sz="1500">
                <a:solidFill>
                  <a:srgbClr val="1F2937"/>
                </a:solidFill>
                <a:latin typeface="Calibri"/>
              </a:rPr>
              <a:t>each change is a new version; only active versions can be quoted.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Links:  </a:t>
            </a:r>
            <a:r>
              <a:rPr sz="1500">
                <a:solidFill>
                  <a:srgbClr val="1F2937"/>
                </a:solidFill>
                <a:latin typeface="Calibri"/>
              </a:rPr>
              <a:t>coverages, rating factors, rules and documents attach to the template.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Approval:  </a:t>
            </a:r>
            <a:r>
              <a:rPr sz="1500">
                <a:solidFill>
                  <a:srgbClr val="1F2937"/>
                </a:solidFill>
                <a:latin typeface="Calibri"/>
              </a:rPr>
              <a:t>approval workflows control publishing.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Rating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Product Configurator &gt; Rating Engine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Product Configurator &gt; Rating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rating factors (vehicle age, driver age, no-claims bonus, region, fleet…).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Types:  </a:t>
            </a:r>
            <a:r>
              <a:rPr sz="1500">
                <a:solidFill>
                  <a:srgbClr val="1F2937"/>
                </a:solidFill>
                <a:latin typeface="Calibri"/>
              </a:rPr>
              <a:t>multiplier or discount, with rules per band.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Test Calculation:  </a:t>
            </a:r>
            <a:r>
              <a:rPr sz="1500">
                <a:solidFill>
                  <a:srgbClr val="1F2937"/>
                </a:solidFill>
                <a:latin typeface="Calibri"/>
              </a:rPr>
              <a:t>try a premium before activating.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the server re-prices every quote with these rates and the configured taxes.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Insurance company master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Insurance Company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Insurance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insurers you place business with: code, name, placement e-mail, phone.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Upload:  </a:t>
            </a:r>
            <a:r>
              <a:rPr sz="1500">
                <a:solidFill>
                  <a:srgbClr val="1F2937"/>
                </a:solidFill>
                <a:latin typeface="Calibri"/>
              </a:rPr>
              <a:t>bulk upload or add one at a time; status switch deactivates.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quotes, policies, remittances and statements are per insurer.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Tip:  </a:t>
            </a:r>
            <a:r>
              <a:rPr sz="1500">
                <a:solidFill>
                  <a:srgbClr val="1F2937"/>
                </a:solidFill>
                <a:latin typeface="Calibri"/>
              </a:rPr>
              <a:t>keep the placement e-mail current: claims and endorsements are sent there.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Product master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Product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Insurance Management &gt;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products by line of business (casualty, motor, fire, EB, marine) with commission code.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Rules:  </a:t>
            </a:r>
            <a:r>
              <a:rPr sz="1500">
                <a:solidFill>
                  <a:srgbClr val="1F2937"/>
                </a:solidFill>
                <a:latin typeface="Calibri"/>
              </a:rPr>
              <a:t>unique product code; commission code must exist.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product drives commission accrual and report grouping.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Commission master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Commission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Commission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brokerage per insurer, product and cover with effective dates.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Rules:  </a:t>
            </a:r>
            <a:r>
              <a:rPr sz="1500">
                <a:solidFill>
                  <a:srgbClr val="1F2937"/>
                </a:solidFill>
                <a:latin typeface="Calibri"/>
              </a:rPr>
              <a:t>one active rate per insurer / product / cover for a date.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commission accrues at policy issuance (e.g. 4,200.75 on POL-2026-00001).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WHT:  </a:t>
            </a:r>
            <a:r>
              <a:rPr sz="1500">
                <a:solidFill>
                  <a:srgbClr val="1F2937"/>
                </a:solidFill>
                <a:latin typeface="Calibri"/>
              </a:rPr>
              <a:t>withholding by referrer type (Individual 5%) is applied at payout.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Reinsurance treaties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Reinsurance Treaty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Reinsurance Treaty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quota share, surplus, excess of loss, stop loss treaties with reinsurer, share and period.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Approval:  </a:t>
            </a:r>
            <a:r>
              <a:rPr sz="1500">
                <a:solidFill>
                  <a:srgbClr val="1F2937"/>
                </a:solidFill>
                <a:latin typeface="Calibri"/>
              </a:rPr>
              <a:t>a new treaty waits for approval before use (setting).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cessions, recoveries and the Cession Register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Incentive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Incentive Programs — signed in as bea.admin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Incentive Programs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agent contests and bonuses: target, base, frequency, dates.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Flow:  </a:t>
            </a:r>
            <a:r>
              <a:rPr sz="1500">
                <a:solidFill>
                  <a:srgbClr val="1F2937"/>
                </a:solidFill>
                <a:latin typeface="Calibri"/>
              </a:rPr>
              <a:t>Finance calculates, a second person approves the batch, statements follow.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Incentive Results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configuration drives every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Renewal starts the next cycle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Lead and quote: products, coverages, rating and signatories come from your masters.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Policy and billing: product and insurer decide commission and taxes.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Commission and remittance: commission masters and WHT settings.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 and renewals: treaties for recoveries; renewal notice settings.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OPERATIONAL / 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97109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3129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3129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804" y="1216152"/>
            <a:ext cx="506669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All 18 reports are in your catalogue.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83080"/>
          <a:ext cx="554126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362102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Operational 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renewal; by agent, insurer or branch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settled, age; criteria All / Open / Settled / Rejected / 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old vs new premium,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 retained,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 by month, product or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Policies and premium split into new business and renewals per month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 (30/60/90/180 days) with estimate and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Leads by stage (new to converted / lost) with share and conversion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Reinsurance Cession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Cessions per treaty and policy: sum insured, ceded sum and premium,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90488" y="1783080"/>
          <a:ext cx="554126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362102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Financial 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SOA / Premium Receivable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Bills issued: amount, paid, balance, age and ageing bucket as of To Date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Collection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Bills due: billed, collected, balance and collection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Receivables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Outstanding receivables by bucket (30/60/90/120 days)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Receipts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Official receipts: bill, policy, payment mode, bank, reference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Payables / Disbursement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Payment vouchers to insurers, agents, clients, vendors with approval and paid dates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Journal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Journal lines: account, debit, credit, memo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Trial Balance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Opening, period debits and credits, closing balance per account (approved and posted JVs)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Incentive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Programme target, achieved, achievement % and payout per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Production, collections and claims files each morning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Retention work starts 90 days before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get notices at 60, 30, 15 days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Receivable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07:00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Ageing buckets refreshed for collections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08:00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reminded 7 days before premium is due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Old quotations expire after the configured validity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6636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Treaty awaiting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 new reinsurance treaty needs a second person.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Incentive calculation awaiting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 calculated batch needs approval before payout.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Treaty / incentive approved or rejected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Returned to whoever submitted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Journal voucher / remittance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Admin roles can act as checker when finance is short.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Business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Some date pickers still show month-first dates (MM/DD/YYYY) although the configured format is DD/MM/YYYY.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 few screens use the browser’s own confirm boxes instead of in-app dialogs.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Some quote lists (policy types, vehicle details, signatories) are fixed lists until linked to the masters.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CTPL treatment (separate policy or part of the premium) is awaiting a business decision.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Chart of accounts has no operating-expense accounts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Direct Bill Processing (insured bill vs insurer remittance) awaits a business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Change rates with a new product version, then test with Test Calculation.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signatories and vehicle masters complete: the quote wizard will use them.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Agree commission and WHT changes with Finance before the effective date.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Use the Product Analytics tab to spot products that are not selling.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Business Administrator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&lt;to be confirmed by BDOI&gt;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