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3257935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31720"/>
            <a:ext cx="7223760" cy="13716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3800" b="1" i="0">
                <a:solidFill>
                  <a:srgbClr val="0B4F9C"/>
                </a:solidFill>
                <a:latin typeface="Calibri"/>
              </a:rPr>
              <a:t>BrokerVerse — Business Administrator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9476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Out-of-the-box functions, flows, reports and schedules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</a:rPr>
              <a:t>BrokerVerse OOTB · insurance broking · Philippines · PHP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741383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1741383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Products and rates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10063" y="4983480"/>
            <a:ext cx="878372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10063" y="4983480"/>
            <a:ext cx="87837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Masters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5596" y="4983480"/>
            <a:ext cx="1741383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5596" y="4983480"/>
            <a:ext cx="1741383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All business menus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822960"/>
            <a:ext cx="3108960" cy="5120640"/>
          </a:xfrm>
          <a:prstGeom prst="roundRect">
            <a:avLst>
              <a:gd name="adj" fmla="val 5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0972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BFD9F5"/>
                </a:solidFill>
                <a:latin typeface="Calibri"/>
              </a:rPr>
              <a:t>THIS GUIDE IS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41732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Administrator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51460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SIGN-IN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77063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bea.admin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5204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ROLE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7647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52628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LANDS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78231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Executive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Prepared by iorta TechNXT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WHO YOU ARE IN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Role at a glance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6751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B4F9C"/>
                </a:solidFill>
                <a:latin typeface="Calibri"/>
              </a:rPr>
              <a:t>What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621792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Designs products:  </a:t>
            </a:r>
            <a:r>
              <a:rPr sz="1600">
                <a:solidFill>
                  <a:srgbClr val="1F2937"/>
                </a:solidFill>
                <a:latin typeface="Calibri"/>
              </a:rPr>
              <a:t>templates, coverages, rating factors, underwriting rules and documents.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Keeps masters right:  </a:t>
            </a:r>
            <a:r>
              <a:rPr sz="1600">
                <a:solidFill>
                  <a:srgbClr val="1F2937"/>
                </a:solidFill>
                <a:latin typeface="Calibri"/>
              </a:rPr>
              <a:t>insurers, lines of business, products, covers, signatories, vehicles, locations.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Sets commercial terms:  </a:t>
            </a:r>
            <a:r>
              <a:rPr sz="1600">
                <a:solidFill>
                  <a:srgbClr val="1F2937"/>
                </a:solidFill>
                <a:latin typeface="Calibri"/>
              </a:rPr>
              <a:t>commission masters, incentive programmes and reinsurance treaties.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Oversees the business:  </a:t>
            </a:r>
            <a:r>
              <a:rPr sz="1600">
                <a:solidFill>
                  <a:srgbClr val="1F2937"/>
                </a:solidFill>
                <a:latin typeface="Calibri"/>
              </a:rPr>
              <a:t>every operational and financial menu, dashboards and all 19 reports.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Approves changes:  </a:t>
            </a:r>
            <a:r>
              <a:rPr sz="1600">
                <a:solidFill>
                  <a:srgbClr val="1F2937"/>
                </a:solidFill>
                <a:latin typeface="Calibri"/>
              </a:rPr>
              <a:t>product approval workflows and treaty approvals.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25880"/>
            <a:ext cx="4325112" cy="146304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463039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Sign-in and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8308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User name bea.admin. Lands on the Executive Dashboard.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88036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3017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You hand work 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33756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Sales, agents and underwriters use your products and rates; Finance uses your commission, tax and remittance masters; IT administrator owns users and system settings.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57200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091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Maker-checker partners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2920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Treaties need approval by a second person; incentive batches are calculated and approved by Finance; you cannot approve your own vouchers, claims settlements or renewals.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WHAT YOU SEE AFTER SIGN-IN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Menu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1">
                <a:solidFill>
                  <a:srgbClr val="5B6778"/>
                </a:solidFill>
                <a:latin typeface="Calibri"/>
              </a:rPr>
              <a:t>The ba role has every menu (all: true); use it for business configuration, not user administration.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681478" cy="24164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2480310" cy="186778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Executive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Claims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Underwriting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Agent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1558" y="1645920"/>
            <a:ext cx="2681478" cy="24164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21558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8718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Product Configurator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1286" y="2121408"/>
            <a:ext cx="2480310" cy="186778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Product Templates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Coverage Builder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Rating Engine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Underwriting Rules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Document Manager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Approval Workflows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Market / Risk Mapping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Product Analytics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5916" y="1645920"/>
            <a:ext cx="2681478" cy="24164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5916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5644" y="2121408"/>
            <a:ext cx="2480310" cy="186778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System Settings, Configuration, Schedules, Audit Trail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Generals: Organization, Insurance Mgmt, Location, Commission, Employee Mgmt, User Mgmt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Finance: account setups, transaction codes, currency, FX, bank, accounts, taxation, petty cash, remittance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Incentive Programs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Reinsurance Treaty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0274" y="1645920"/>
            <a:ext cx="2681478" cy="24164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50274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7434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0002" y="2121408"/>
            <a:ext cx="2480310" cy="186778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Home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Leads/Prospects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Clients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Quotation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Policy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Claims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Renewals: Renewal Policy, Batch, Queue, Retention Analytics, At-Risk, Negotiations, Lapse Mgmt, Performance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Open Items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45229"/>
            <a:ext cx="2681478" cy="197269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4245229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245229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Accounts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720717"/>
            <a:ext cx="2480310" cy="142405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Receipts, Collections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Accounting Query, All Clients Accounting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Open Entry Matching / Un-Matching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Disbursement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Petty Cash (5 screens)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Journal, Correction and Reversal JV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Remittance (17 screens)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Incentive (4 screens)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21558" y="4245229"/>
            <a:ext cx="2681478" cy="197269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21558" y="4245229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8718" y="4245229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31286" y="4720717"/>
            <a:ext cx="2480310" cy="142405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Commission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Agents/Referrer Accounts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5916" y="4245229"/>
            <a:ext cx="2681478" cy="197269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85916" y="4245229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23076" y="4245229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Reinsurance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5644" y="4720717"/>
            <a:ext cx="2480310" cy="142405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Treaty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Cession Tracking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Claims Recovery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Reconciliation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Analytics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0274" y="4245229"/>
            <a:ext cx="2681478" cy="197269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050274" y="4245229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87434" y="4245229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0002" y="4720717"/>
            <a:ext cx="2480310" cy="142405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All Reports: the 19 catalogue reports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Operational: Production, Claims, Renewal, Remittance, Broker Commission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900">
                <a:solidFill>
                  <a:srgbClr val="1F2937"/>
                </a:solidFill>
                <a:latin typeface="Calibri"/>
              </a:rPr>
              <a:t>Financial: SOA / Premium Receivable, Collection, Payables, Journal, Trial Balance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Product Configurator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Product Configurator &gt; Dashboard — signed in as bea.admin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Product Configurator &gt;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active products, total premium, average base rate and commission at a glance.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Actions:  </a:t>
            </a:r>
            <a:r>
              <a:rPr sz="1500">
                <a:solidFill>
                  <a:srgbClr val="1F2937"/>
                </a:solidFill>
                <a:latin typeface="Calibri"/>
              </a:rPr>
              <a:t>Create New Product, open templates, analytics and quick actions.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Status:  </a:t>
            </a:r>
            <a:r>
              <a:rPr sz="1500">
                <a:solidFill>
                  <a:srgbClr val="1F2937"/>
                </a:solidFill>
                <a:latin typeface="Calibri"/>
              </a:rPr>
              <a:t>draft, active or archived per product version.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active products appear in the quotation wizard.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Product templates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Product Configurator &gt; Product Templates — signed in as bea.admin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Product Configurator &gt; Product Templates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one template per product: motor, property, travel, group health, marine…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Versioning:  </a:t>
            </a:r>
            <a:r>
              <a:rPr sz="1500">
                <a:solidFill>
                  <a:srgbClr val="1F2937"/>
                </a:solidFill>
                <a:latin typeface="Calibri"/>
              </a:rPr>
              <a:t>each change is a new version; only active versions can be quoted.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Links:  </a:t>
            </a:r>
            <a:r>
              <a:rPr sz="1500">
                <a:solidFill>
                  <a:srgbClr val="1F2937"/>
                </a:solidFill>
                <a:latin typeface="Calibri"/>
              </a:rPr>
              <a:t>coverages, rating factors, rules and documents attach to the template.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Approval:  </a:t>
            </a:r>
            <a:r>
              <a:rPr sz="1500">
                <a:solidFill>
                  <a:srgbClr val="1F2937"/>
                </a:solidFill>
                <a:latin typeface="Calibri"/>
              </a:rPr>
              <a:t>approval workflows control publishing.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Rating engine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Product Configurator &gt; Rating Engine — signed in as bea.admin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Product Configurator &gt; Rating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rating factors (vehicle age, driver age, no-claims bonus, region, fleet…).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Types:  </a:t>
            </a:r>
            <a:r>
              <a:rPr sz="1500">
                <a:solidFill>
                  <a:srgbClr val="1F2937"/>
                </a:solidFill>
                <a:latin typeface="Calibri"/>
              </a:rPr>
              <a:t>multiplier or discount, with rules per band.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Test Calculation:  </a:t>
            </a:r>
            <a:r>
              <a:rPr sz="1500">
                <a:solidFill>
                  <a:srgbClr val="1F2937"/>
                </a:solidFill>
                <a:latin typeface="Calibri"/>
              </a:rPr>
              <a:t>try a premium before activating.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the server re-prices every quote with these rates and the configured taxes.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Insurance company master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Master &gt; Insurance Company — signed in as bea.admin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Generals &gt; Insurance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insurers you place business with: code, name, placement e-mail, phone.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Upload:  </a:t>
            </a:r>
            <a:r>
              <a:rPr sz="1500">
                <a:solidFill>
                  <a:srgbClr val="1F2937"/>
                </a:solidFill>
                <a:latin typeface="Calibri"/>
              </a:rPr>
              <a:t>bulk upload or add one at a time; status switch deactivates.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quotes, policies, remittances and statements are per insurer.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Tip:  </a:t>
            </a:r>
            <a:r>
              <a:rPr sz="1500">
                <a:solidFill>
                  <a:srgbClr val="1F2937"/>
                </a:solidFill>
                <a:latin typeface="Calibri"/>
              </a:rPr>
              <a:t>keep the placement e-mail current: claims and endorsements are sent there.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Product master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Master &gt; Product — signed in as bea.admin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Generals &gt; Insurance Management &gt;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products by line of business (casualty, motor, fire, EB, marine) with commission code.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Rules:  </a:t>
            </a:r>
            <a:r>
              <a:rPr sz="1500">
                <a:solidFill>
                  <a:srgbClr val="1F2937"/>
                </a:solidFill>
                <a:latin typeface="Calibri"/>
              </a:rPr>
              <a:t>unique product code; commission code must exist.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product drives commission accrual and report grouping.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Commission master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Master &gt; Commission — signed in as bea.admin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Generals &gt; Commission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brokerage per insurer, product and cover with effective dates.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Rules:  </a:t>
            </a:r>
            <a:r>
              <a:rPr sz="1500">
                <a:solidFill>
                  <a:srgbClr val="1F2937"/>
                </a:solidFill>
                <a:latin typeface="Calibri"/>
              </a:rPr>
              <a:t>one active rate per insurer / product / cover for a date.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commission accrues at policy issuance (e.g. 4,200.75 on POL-2026-00001).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WHT:  </a:t>
            </a:r>
            <a:r>
              <a:rPr sz="1500">
                <a:solidFill>
                  <a:srgbClr val="1F2937"/>
                </a:solidFill>
                <a:latin typeface="Calibri"/>
              </a:rPr>
              <a:t>withholding by referrer type (Individual 5%) is applied at payout.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Reinsurance treaties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Master &gt; Reinsurance Treaty — signed in as bea.admin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Reinsurance Treaty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quota share, surplus, excess of loss, stop loss treaties with reinsurer, share and period.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Approval:  </a:t>
            </a:r>
            <a:r>
              <a:rPr sz="1500">
                <a:solidFill>
                  <a:srgbClr val="1F2937"/>
                </a:solidFill>
                <a:latin typeface="Calibri"/>
              </a:rPr>
              <a:t>a new treaty waits for approval before use (setting).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cessions, recoveries and the Cession Register report.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Incentive programmes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Master &gt; Incentive Programs — signed in as bea.admin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Incentive Programs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agent contests and bonuses: target, base, frequency, dates.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Flow:  </a:t>
            </a:r>
            <a:r>
              <a:rPr sz="1500">
                <a:solidFill>
                  <a:srgbClr val="1F2937"/>
                </a:solidFill>
                <a:latin typeface="Calibri"/>
              </a:rPr>
              <a:t>Finance calculates, a second finance user approves the batch, statements follow.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Rule:  </a:t>
            </a:r>
            <a:r>
              <a:rPr sz="1500">
                <a:solidFill>
                  <a:srgbClr val="1F2937"/>
                </a:solidFill>
                <a:latin typeface="Calibri"/>
              </a:rPr>
              <a:t>programmes are master data: Finance cannot change the programmes it pays.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Incentive Results report.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LEAD TO RENEWAL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End-to-end flow: your configuration drives every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1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3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3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3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53411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00883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4035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4035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Quote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4035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UW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5363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2836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988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988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Customer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988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Client (e-mail link)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57316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4788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7940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Policy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UW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59268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06740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892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9892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9892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System at issuance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61219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08692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81844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1844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Receipt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1844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Finance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712196" y="2551176"/>
            <a:ext cx="274320" cy="402335"/>
          </a:xfrm>
          <a:prstGeom prst="down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8692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1844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1844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81844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Finance maker + checker</a:t>
            </a:r>
          </a:p>
        </p:txBody>
      </p:sp>
      <p:sp>
        <p:nvSpPr>
          <p:cNvPr id="42" name="Left Arrow 41"/>
          <p:cNvSpPr/>
          <p:nvPr/>
        </p:nvSpPr>
        <p:spPr>
          <a:xfrm>
            <a:off x="9761219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06740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9892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9892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Remittance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9892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Finance maker + checker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7859268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04788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77940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7940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Endorsement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7940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Customer Services</a:t>
            </a:r>
          </a:p>
        </p:txBody>
      </p:sp>
      <p:sp>
        <p:nvSpPr>
          <p:cNvPr id="52" name="Left Arrow 51"/>
          <p:cNvSpPr/>
          <p:nvPr/>
        </p:nvSpPr>
        <p:spPr>
          <a:xfrm>
            <a:off x="5957316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02836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5988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5988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5988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Claims maker + checker</a:t>
            </a:r>
          </a:p>
        </p:txBody>
      </p:sp>
      <p:sp>
        <p:nvSpPr>
          <p:cNvPr id="57" name="Left Arrow 56"/>
          <p:cNvSpPr/>
          <p:nvPr/>
        </p:nvSpPr>
        <p:spPr>
          <a:xfrm>
            <a:off x="4055363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00883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74035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74035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Renewal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74035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UW / Sales + schedules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43159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Your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1168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31720" y="43159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Done by other personas or by the system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431596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100" b="0" i="1">
                <a:solidFill>
                  <a:srgbClr val="5B6778"/>
                </a:solidFill>
                <a:latin typeface="Calibri"/>
              </a:rPr>
              <a:t>Renewal starts the next cycle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4709160"/>
            <a:ext cx="11274552" cy="150876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4846320"/>
            <a:ext cx="534924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Lead and quote: products, coverages, rating and signatories come from your masters.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Policy and billing: product and insurer decide commission and taxes.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72200" y="4846320"/>
            <a:ext cx="539496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Commission and remittance: commission masters and WHT settings.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Claims and renewals: treaties for recoveries; renewal notice settings.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REPORTS &gt; ALL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Reports you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1615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5B6778"/>
                </a:solidFill>
                <a:latin typeface="Calibri"/>
              </a:rPr>
              <a:t>Output formats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216152"/>
            <a:ext cx="614476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1216152"/>
            <a:ext cx="61447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XLSX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0516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20516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PDF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0596" y="1216152"/>
            <a:ext cx="971092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0596" y="1216152"/>
            <a:ext cx="97109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On screen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23129" y="1216152"/>
            <a:ext cx="1470355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3129" y="1216152"/>
            <a:ext cx="147035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Scheduled e-mail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804" y="1216152"/>
            <a:ext cx="506669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All 19 reports are in your catalogue (Reports &gt; All Reports).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1783080"/>
          <a:ext cx="554126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36210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Operational report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Production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Policies incepted in the period: premium, commission, new or renewal; by agent, insurer or branch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Claims Position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Claims reported: estimate, approved, settled, age; criteria All / Open / Settled / Rejected / Aging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Renewal Retention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Renewals due: retained, lost or pending, old vs new premium, retention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Remittance Summary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Remittances to insurers: gross premium, commission retained, net due, 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Broker Commission Statement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Commission per agent and policy: basis, rate, gross, WHT, net, paid status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Premium by Product / Month /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Policy count, sum insured, premium and commission by month, product or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New Business vs Renewals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Policies and premium split into new business and renewals per month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Claims Ageing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Open claims by ageing bucket (30/60/90/180 days) with estimate and approved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Lead Conversion Funnel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Leads by stage (new to converted / lost) with share and conversion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Reinsurance Cession 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Cessions per treaty and policy: sum insured, ceded sum and premium, share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190488" y="1783080"/>
          <a:ext cx="554126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36210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Financial report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SOA / Premium Receivable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Bills issued: amount, paid, balance, age and ageing bucket as of To Date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Collection Report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Bills due: billed, collected, balance and collection rate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Receivables Ageing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Outstanding receivables by bucket (30/60/90/120 days)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Commission Receivable – Direct Bill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Commission and VAT due from insurers on direct-bill policies, with ageing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Receipts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Official receipts: bill, policy, payment mode, bank, reference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Payables / Disbursement 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Payment vouchers to insurers, agents, clients, vendors with approval and paid dates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Journal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Journal lines: account, debit, credit, memo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Trial Balance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Opening, period debits and credits, closing balance per account (approved and posted JVs)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B4F9C"/>
                          </a:solidFill>
                          <a:latin typeface="Calibri"/>
                        </a:rPr>
                        <a:t>Incentive Results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F2937"/>
                          </a:solidFill>
                          <a:latin typeface="Calibri"/>
                        </a:rPr>
                        <a:t>Programme target, achieved, achievement % and payout per agent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 &gt; SCHEDULES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Schedules and automations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25880"/>
          <a:ext cx="1127455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2016586"/>
                <a:gridCol w="70580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 for you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Daily reports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05:00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Production, collections and claims files each morning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Renewal pipeline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05:30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Retention work starts 90 days before expiry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Renewal notices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06:00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Clients get notices at 60, 30, 15 days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Receivable ageing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07:00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Ageing buckets refreshed for collections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Collection reminders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08:00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Clients reminded 7 days before premium is due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Quotation expiry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00:30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Old quotations expire after the configured validity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166360"/>
            <a:ext cx="1127455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Times are server time (Philippine time in production). The IT administrator can change a timetable, switch a job off or press Run now; every run is recorded.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BELL ICON, TOP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Notifications and approvals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Treaty awaiting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 new reinsurance treaty needs a second person.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Incentive calculation awaiting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Addressed to the users who may approve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96227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6227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7515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Treaty / incentive approved or rejected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7515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Returned to whoever submitted 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1636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96227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6227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7515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Journal voucher / remittance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7515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Admin roles can act as checker when finance is short.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Business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GOOD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Known limitations and tips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4F9C"/>
                </a:solidFill>
                <a:latin typeface="Calibri"/>
              </a:rPr>
              <a:t>Open items that affect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Your session is kept in the browser’s local storage: sign out on shared computers and keep the browser up to date.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Two-factor set-up shows a setup key and an app link, but no QR code: type the key into the authenticator app.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Screens are in English or Thai; Filipino is configured but has no translation yet.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Values moved from code to Configuration (limits, windows, e-mail texts) are seeded with the former values: confirm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43A047"/>
                </a:solidFill>
                <a:latin typeface="Calibri"/>
              </a:rPr>
              <a:t>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Change rates with a new product version, then test with Test Calculation.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Keep signatories and vehicle masters complete: the quote wizard will use them.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Agree commission and WHT changes with Finance before the effective date.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Use the Product Analytics tab to spot products that are not selling.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82296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051560"/>
            <a:ext cx="310279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BFD9F5"/>
                </a:solidFill>
                <a:latin typeface="Calibri"/>
              </a:rPr>
              <a:t>BrokerVerse — Business Administrator guide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10698480" cy="1874519"/>
          </a:xfrm>
          <a:prstGeom prst="roundRect">
            <a:avLst>
              <a:gd name="adj" fmla="val 6000"/>
            </a:avLst>
          </a:prstGeom>
          <a:solidFill>
            <a:srgbClr val="0E5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9FC8F2"/>
                </a:solidFill>
                <a:latin typeface="Calibri"/>
              </a:rP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 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617720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&lt;service desk to be confirmed&gt;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4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946904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&lt;support mailbox to be confirmed&gt;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76088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276088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&lt;business hours, Manila time, to be confirmed&gt;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05272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 requests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605272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Your User Access Administrator (Master &gt; User Management)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BFD9F5"/>
                </a:solidFill>
                <a:latin typeface="Calibri"/>
              </a:rPr>
              <a:t>iorta TechNXT · BrokerVerse insurance-broking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