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2402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guide for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Functions, flows, reports and schedules of your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BrokerVerse OOTB ·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506016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506016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Register claims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4696" y="4983480"/>
            <a:ext cx="1976749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4696" y="4983480"/>
            <a:ext cx="197674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Settle with a checker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8606" y="4983480"/>
            <a:ext cx="1113739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8606" y="4983480"/>
            <a:ext cx="111373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Recoveries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51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325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Claims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01168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9424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67919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1693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carlo.claims (maker), lisa.claims2 (checker)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57530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1304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claims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24281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4805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Claims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Registers claims:  </a:t>
            </a:r>
            <a:r>
              <a:rPr sz="1600">
                <a:solidFill>
                  <a:srgbClr val="1F2937"/>
                </a:solidFill>
                <a:latin typeface="Calibri"/>
              </a:rPr>
              <a:t>from the policy, with date, place and cause of loss, the driver and third party.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Follows up:  </a:t>
            </a:r>
            <a:r>
              <a:rPr sz="1600">
                <a:solidFill>
                  <a:srgbClr val="1F2937"/>
                </a:solidFill>
                <a:latin typeface="Calibri"/>
              </a:rPr>
              <a:t>the insurer and the adjuster, documents and the insurer’s claim number.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Settles:  </a:t>
            </a:r>
            <a:r>
              <a:rPr sz="1600">
                <a:solidFill>
                  <a:srgbClr val="1F2937"/>
                </a:solidFill>
                <a:latin typeface="Calibri"/>
              </a:rPr>
              <a:t>submits the settlement; a second Claims user approves it.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Recovers:  </a:t>
            </a:r>
            <a:r>
              <a:rPr sz="1600">
                <a:solidFill>
                  <a:srgbClr val="1F2937"/>
                </a:solidFill>
                <a:latin typeface="Calibri"/>
              </a:rPr>
              <a:t>registers reinsurance recoveries on claims under a treaty.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names carlo.claims and lisa.claims2. Both land on the Claims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Insurer (Preliminary Loss Advice by e-mail), the second Claims user (approval), the policy owner (notified), Accounting (settlements paid through the broker).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carlo.claims submits the settlement and lisa.claims2 approves it. The maker is refused when approving (claims.settlement_maker_checker).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Menus granted to claims in menuPermissions.js. The role walk opened 12 screens.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681478" cy="201168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248031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Claims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1558" y="1645920"/>
            <a:ext cx="2681478" cy="201168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21558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8718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1286" y="2121408"/>
            <a:ext cx="248031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Home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Clients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Policy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Claims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645920"/>
            <a:ext cx="2681478" cy="201168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5916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Reinsurance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644" y="2121408"/>
            <a:ext cx="248031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Claims Recovery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645920"/>
            <a:ext cx="2681478" cy="201168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0274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7434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0002" y="2121408"/>
            <a:ext cx="248031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All Reports (8 reports)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Operational Reports: Production, Claims, Renewal, Remittance, Broker Commission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Claims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Dashboard &gt; Claims Dashboard. Signed in as Claims (carlo.claims).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Dashboard &gt; Claims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Cards:  </a:t>
            </a:r>
            <a:r>
              <a:rPr sz="1500">
                <a:solidFill>
                  <a:srgbClr val="1F2937"/>
                </a:solidFill>
                <a:latin typeface="Calibri"/>
              </a:rPr>
              <a:t>open claims, overdue, today’s claims, highest line, most claims by state.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Overdue:  </a:t>
            </a:r>
            <a:r>
              <a:rPr sz="1500">
                <a:solidFill>
                  <a:srgbClr val="1F2937"/>
                </a:solidFill>
                <a:latin typeface="Calibri"/>
              </a:rPr>
              <a:t>past the handling time of 20 days (claims.sla_days).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Recent claims:  </a:t>
            </a:r>
            <a:r>
              <a:rPr sz="1500">
                <a:solidFill>
                  <a:srgbClr val="1F2937"/>
                </a:solidFill>
                <a:latin typeface="Calibri"/>
              </a:rPr>
              <a:t>open a claim from the list.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Export Report:  </a:t>
            </a:r>
            <a:r>
              <a:rPr sz="1500">
                <a:solidFill>
                  <a:srgbClr val="1F2937"/>
                </a:solidFill>
                <a:latin typeface="Calibri"/>
              </a:rPr>
              <a:t>claims data for the chosen 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Claims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Operations &gt; Claims. Signed in as Claims (carlo.claims).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Row:  </a:t>
            </a:r>
            <a:r>
              <a:rPr sz="1500">
                <a:solidFill>
                  <a:srgbClr val="1F2937"/>
                </a:solidFill>
                <a:latin typeface="Calibri"/>
              </a:rPr>
              <a:t>claim number, client, policy, date, product, status.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Icons:  </a:t>
            </a:r>
            <a:r>
              <a:rPr sz="1500">
                <a:solidFill>
                  <a:srgbClr val="1F2937"/>
                </a:solidFill>
                <a:latin typeface="Calibri"/>
              </a:rPr>
              <a:t>Claim Details, the next step for the status, and the audit trail.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Statuses:  </a:t>
            </a:r>
            <a:r>
              <a:rPr sz="1500">
                <a:solidFill>
                  <a:srgbClr val="1F2937"/>
                </a:solidFill>
                <a:latin typeface="Calibri"/>
              </a:rPr>
              <a:t>Pending, Processing, Pending Approval, Approved, Settled, Closed; Rejected.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Number:  </a:t>
            </a:r>
            <a:r>
              <a:rPr sz="1500">
                <a:solidFill>
                  <a:srgbClr val="1F2937"/>
                </a:solidFill>
                <a:latin typeface="Calibri"/>
              </a:rPr>
              <a:t>CLM-YYYY-NNNNN.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Register a 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108192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035040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Policy &gt; three dots &gt; Claim. Signed in as Claims (carlo.claims).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Policy &gt; three dots &gt;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Required:  </a:t>
            </a:r>
            <a:r>
              <a:rPr sz="1500">
                <a:solidFill>
                  <a:srgbClr val="1F2937"/>
                </a:solidFill>
                <a:latin typeface="Calibri"/>
              </a:rPr>
              <a:t>date and address of incident, cause of loss, driver’s name.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Refused:  </a:t>
            </a:r>
            <a:r>
              <a:rPr sz="1500">
                <a:solidFill>
                  <a:srgbClr val="1F2937"/>
                </a:solidFill>
                <a:latin typeface="Calibri"/>
              </a:rPr>
              <a:t>loss date outside the policy period or in the future, and while premium is unpaid.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Documents:  </a:t>
            </a:r>
            <a:r>
              <a:rPr sz="1500">
                <a:solidFill>
                  <a:srgbClr val="1F2937"/>
                </a:solidFill>
                <a:latin typeface="Calibri"/>
              </a:rPr>
              <a:t>police report, photos, estimates; PNG, JPEG or PDF up to 2 MB each.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Saved:  </a:t>
            </a:r>
            <a:r>
              <a:rPr sz="1500">
                <a:solidFill>
                  <a:srgbClr val="1F2937"/>
                </a:solidFill>
                <a:latin typeface="Calibri"/>
              </a:rPr>
              <a:t>claim Pending; Preliminary Loss Advice e-mailed to the insurer.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Adjuster details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108192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035040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Claim &gt; Proceed &gt; adjuster details. Signed in as Claims (carlo.claims).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Claims &gt; eye icon &gt; Proceed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When:  </a:t>
            </a:r>
            <a:r>
              <a:rPr sz="1500">
                <a:solidFill>
                  <a:srgbClr val="1F2937"/>
                </a:solidFill>
                <a:latin typeface="Calibri"/>
              </a:rPr>
              <a:t>the insurer has assigned an adjuster.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Enter:  </a:t>
            </a:r>
            <a:r>
              <a:rPr sz="1500">
                <a:solidFill>
                  <a:srgbClr val="1F2937"/>
                </a:solidFill>
                <a:latin typeface="Calibri"/>
              </a:rPr>
              <a:t>adjuster name, insurer claim number, dates, place, driver and third party.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Upload:  </a:t>
            </a:r>
            <a:r>
              <a:rPr sz="1500">
                <a:solidFill>
                  <a:srgbClr val="1F2937"/>
                </a:solidFill>
                <a:latin typeface="Calibri"/>
              </a:rPr>
              <a:t>proof of documents.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Next:  </a:t>
            </a:r>
            <a:r>
              <a:rPr sz="1500">
                <a:solidFill>
                  <a:srgbClr val="1F2937"/>
                </a:solidFill>
                <a:latin typeface="Calibri"/>
              </a:rPr>
              <a:t>status becomes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Submit the settlement (maker)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Claim Settlement. Signed in as Claims (carlo.claims).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Claim &gt; Claim Settlement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Enter:  </a:t>
            </a:r>
            <a:r>
              <a:rPr sz="1500">
                <a:solidFill>
                  <a:srgbClr val="1F2937"/>
                </a:solidFill>
                <a:latin typeface="Calibri"/>
              </a:rPr>
              <a:t>settlement type (Cash, Card, Cheque), amount, issue date, settle date, documents.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Checks:  </a:t>
            </a:r>
            <a:r>
              <a:rPr sz="1500">
                <a:solidFill>
                  <a:srgbClr val="1F2937"/>
                </a:solidFill>
                <a:latin typeface="Calibri"/>
              </a:rPr>
              <a:t>amount above zero; settle date not before the issue date.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Submit:  </a:t>
            </a:r>
            <a:r>
              <a:rPr sz="1500">
                <a:solidFill>
                  <a:srgbClr val="1F2937"/>
                </a:solidFill>
                <a:latin typeface="Calibri"/>
              </a:rPr>
              <a:t>claim goes to Pending Approval; the other Claims users are notified.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Co-insured policy:  </a:t>
            </a:r>
            <a:r>
              <a:rPr sz="1500">
                <a:solidFill>
                  <a:srgbClr val="1F2937"/>
                </a:solidFill>
                <a:latin typeface="Calibri"/>
              </a:rPr>
              <a:t>the settlement is split by each insurer’s share.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Approve the settlement (checker)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Waiting for Settlement, checker view. Signed in as Claims (carlo.claims).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Notification, or Claims &gt; Pending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Check:  </a:t>
            </a:r>
            <a:r>
              <a:rPr sz="1500">
                <a:solidFill>
                  <a:srgbClr val="1F2937"/>
                </a:solidFill>
                <a:latin typeface="Calibri"/>
              </a:rPr>
              <a:t>the claim details and the settlement.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Proceed:  </a:t>
            </a:r>
            <a:r>
              <a:rPr sz="1500">
                <a:solidFill>
                  <a:srgbClr val="1F2937"/>
                </a:solidFill>
                <a:latin typeface="Calibri"/>
              </a:rPr>
              <a:t>approves; Reject sends it back to the maker.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the maker cannot approve his or her own settlement.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Result:  </a:t>
            </a:r>
            <a:r>
              <a:rPr sz="1500">
                <a:solidFill>
                  <a:srgbClr val="1F2937"/>
                </a:solidFill>
                <a:latin typeface="Calibri"/>
              </a:rPr>
              <a:t>claim Settled, maker notified, dashboard and reports updated.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Claim details and letters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409944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336792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Claim Details, CLM-2026-90007. Signed in as Claims (carlo.claims).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Claims &gt;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Shows:  </a:t>
            </a:r>
            <a:r>
              <a:rPr sz="1500">
                <a:solidFill>
                  <a:srgbClr val="1F2937"/>
                </a:solidFill>
                <a:latin typeface="Calibri"/>
              </a:rPr>
              <a:t>claim, incident, driver, policy, third party, insurer claim number, due date.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Letters:  </a:t>
            </a:r>
            <a:r>
              <a:rPr sz="1500">
                <a:solidFill>
                  <a:srgbClr val="1F2937"/>
                </a:solidFill>
                <a:latin typeface="Calibri"/>
              </a:rPr>
              <a:t>Acknowledgment letter, Claims Discharge Voucher, Claims Data sheet, FIR on the letterhead.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Audit trail:  </a:t>
            </a:r>
            <a:r>
              <a:rPr sz="1500">
                <a:solidFill>
                  <a:srgbClr val="1F2937"/>
                </a:solidFill>
                <a:latin typeface="Calibri"/>
              </a:rPr>
              <a:t>every status change with user and time.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Co-insurance:  </a:t>
            </a:r>
            <a:r>
              <a:rPr sz="1500">
                <a:solidFill>
                  <a:srgbClr val="1F2937"/>
                </a:solidFill>
                <a:latin typeface="Calibri"/>
              </a:rPr>
              <a:t>each insurer’s share of the claim and of the settlement.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8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Settlement cash (paid through the broker)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Settlement cash of CLM-2026-90007. Signed in as System Administrator (bea.admin).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Settled claim &gt; Settlement cash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When:  </a:t>
            </a:r>
            <a:r>
              <a:rPr sz="1500">
                <a:solidFill>
                  <a:srgbClr val="1F2937"/>
                </a:solidFill>
                <a:latin typeface="Calibri"/>
              </a:rPr>
              <a:t>the insurer pays the broker and the broker pays the claimant.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Booked at settlement:  </a:t>
            </a:r>
            <a:r>
              <a:rPr sz="1500">
                <a:solidFill>
                  <a:srgbClr val="1F2937"/>
                </a:solidFill>
                <a:latin typeface="Calibri"/>
              </a:rPr>
              <a:t>amount recoverable from each insurer by share, against the amount payable to the claimant.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Recorded by:  </a:t>
            </a:r>
            <a:r>
              <a:rPr sz="1500">
                <a:solidFill>
                  <a:srgbClr val="1F2937"/>
                </a:solidFill>
                <a:latin typeface="Calibri"/>
              </a:rPr>
              <a:t>the System Administrator on Accounting’s instruction in this release.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You:  </a:t>
            </a:r>
            <a:r>
              <a:rPr sz="1500">
                <a:solidFill>
                  <a:srgbClr val="1F2937"/>
                </a:solidFill>
                <a:latin typeface="Calibri"/>
              </a:rPr>
              <a:t>tell Accounting when the insurer’s funds are due.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9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Reinsurance claims recovery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44088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4335725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707325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Reinsurance &gt; Claims Recovery. Signed in as Claims (carlo.claims).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Reinsurance &gt; Claims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Shows:  </a:t>
            </a:r>
            <a:r>
              <a:rPr sz="1500">
                <a:solidFill>
                  <a:srgbClr val="1F2937"/>
                </a:solidFill>
                <a:latin typeface="Calibri"/>
              </a:rPr>
              <a:t>amounts recoverable on claims under treaties.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Register Recovery:  </a:t>
            </a:r>
            <a:r>
              <a:rPr sz="1500">
                <a:solidFill>
                  <a:srgbClr val="1F2937"/>
                </a:solidFill>
                <a:latin typeface="Calibri"/>
              </a:rPr>
              <a:t>record the recovery against the claim.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Posting:  </a:t>
            </a:r>
            <a:r>
              <a:rPr sz="1500">
                <a:solidFill>
                  <a:srgbClr val="1F2937"/>
                </a:solidFill>
                <a:latin typeface="Calibri"/>
              </a:rPr>
              <a:t>a settled recovery is posted through its posting rule.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Report:  </a:t>
            </a:r>
            <a:r>
              <a:rPr sz="1500">
                <a:solidFill>
                  <a:srgbClr val="1F2937"/>
                </a:solidFill>
                <a:latin typeface="Calibri"/>
              </a:rPr>
              <a:t>Reinsurance Cession Register is run by Processing and Accounting.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TO RENEWAL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End-to-end flow: your part of the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Sales, Operations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74520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12264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5416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Broker Slip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7128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Processing Team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529584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67328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Quotation Slip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2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Sales, Processing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184648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22392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95544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5544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Placement Slip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6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Processing Team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839712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77456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Policy issue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Processing Team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494776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32520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05672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Payment 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Operations, Sales, Processing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149840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387584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0736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0736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Official receipt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2448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10922507" y="2532888"/>
            <a:ext cx="274320" cy="237744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387584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60736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0736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Commission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42448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Accounting, two users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10149840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732520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05672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5672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Remittance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7384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Accounting, two users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8494776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077456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50608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0608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Endorsement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Operations, Processing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6839712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422392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95544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95544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77256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Claims, two users</a:t>
            </a:r>
          </a:p>
        </p:txBody>
      </p:sp>
      <p:sp>
        <p:nvSpPr>
          <p:cNvPr id="62" name="Left Arrow 61"/>
          <p:cNvSpPr/>
          <p:nvPr/>
        </p:nvSpPr>
        <p:spPr>
          <a:xfrm>
            <a:off x="5184648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767328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0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0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Renewal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22192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Operations, Sales, Processing</a:t>
            </a:r>
          </a:p>
        </p:txBody>
      </p:sp>
      <p:sp>
        <p:nvSpPr>
          <p:cNvPr id="67" name="Left Arrow 66"/>
          <p:cNvSpPr/>
          <p:nvPr/>
        </p:nvSpPr>
        <p:spPr>
          <a:xfrm>
            <a:off x="3529584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112264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85416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85416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Month-end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67128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Accounting, Acct. Manager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7240" y="4206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01168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3172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420624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Claims experience feeds the renewal price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4572000"/>
            <a:ext cx="11274552" cy="16459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4709160"/>
            <a:ext cx="534924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11 Claim: register, follow up, settle with a second user.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policy period and paid premium are checked at registration.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2200" y="4709160"/>
            <a:ext cx="539496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Owners are notified at each status change.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Recoveries go to Reinsurance &gt; Claims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ALL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 (8)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82844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82844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80483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0483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158" y="1216152"/>
            <a:ext cx="5209336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Eight operational reports in Reports &gt; All Reports.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737360"/>
          <a:ext cx="11274551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216"/>
                <a:gridCol w="8341335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Production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Policies incepted in the period: premium, commission, new or renewal, billing mode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Premium by Product / Month /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Policy count, sum insured, premium and commission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New Business vs Renewals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New business and renewals by month or agent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Claims 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Claims reported: estimate, approved, settled and 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Claims Ageing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Open claims by ageing bucket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Renewal Retention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Renewals due: retained, lost or pending, and the retention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Remittance Summary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Remittances to insurers: gross premium, commission, net due, status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4F9C"/>
                          </a:solidFill>
                          <a:latin typeface="Calibri"/>
                        </a:rPr>
                        <a:t>Broker Commission Statement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Calibri"/>
                        </a:rPr>
                        <a:t>Commission per agent and policy: basis, rate, gross, WHT, net, paid 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Daily reports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05:00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Claims Position generated at 05:00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Policy expiry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00:15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Losses after expiry are refused once the policy is Expired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E-mail outbox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5 minutes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Loss advices to insurers leave every 5 minutes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Times are Manila time (general.timezone). The System Administrator changes a timetable, switches a job on or off, or runs it now; every run is recorded.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New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Claim number and policy, to Claims users and the policy owner.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Settlement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Amount and claim, to the other Claims users.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Claim status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Processing, Pending Approval, Approved, Settled.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Settlement approved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Back to the maker.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sign-in session is kept in the browser’s local storage: sign out on shared computers and keep the browser up to date.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Two-factor set-up shows a setup key and an app link but no QR code: type the key into the authenticator app.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Filipino is configured as a language but has no screen translation yet.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 settlement is marked as paid through the broker by its settlement type or through the API; the form offers Cash, Card and Cheque only.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Claims users do not create leads or policies: those buttons are hidden for this role.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Check the policy period before you register.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Attach documents when you register.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Record the insurer’s claim number as soon as you have it.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Ask your checker to approve the same day.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guide for Claims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416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First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4340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The key user of your team: how-to questions, checking that a role or setting is not the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7258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Second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67258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Your System Administrator: users, roles, passwords, two-step resets, settings and master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0176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Third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00176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iorta TechNXT production support, raised by the System Administrator through the support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3095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3095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Your System Administrator (Master &gt; Generals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78424"/>
            <a:ext cx="1024128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BFD9F5"/>
                </a:solidFill>
                <a:latin typeface="Calibri"/>
              </a:rPr>
              <a:t>When you report a problem, give the menu path, the record number, the time, your user ID, the message and its request ID. Never send a password or a two-step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 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