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257935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31720"/>
            <a:ext cx="7223760" cy="13716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/>
            <a:r>
              <a:rPr sz="3800" b="1" i="0">
                <a:solidFill>
                  <a:srgbClr val="0B4F9C"/>
                </a:solidFill>
                <a:latin typeface="Calibri"/>
              </a:rPr>
              <a:t>BrokerVerse — Claims Officer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94760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0" i="0">
                <a:solidFill>
                  <a:srgbClr val="1F2937"/>
                </a:solidFill>
                <a:latin typeface="Calibri"/>
              </a:rPr>
              <a:t>Out-of-the-box functions, flows, reports and schedules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 i="0">
                <a:solidFill>
                  <a:srgbClr val="5B6778"/>
                </a:solidFill>
                <a:latin typeface="Calibri"/>
              </a:rPr>
              <a:t>BDO Insure (BDOI) insurance broking · Philippines · PHP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83480"/>
            <a:ext cx="1506016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83480"/>
            <a:ext cx="1506016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Register claims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4696" y="4983480"/>
            <a:ext cx="1976749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4696" y="4983480"/>
            <a:ext cx="197674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Settle with a checker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8606" y="4983480"/>
            <a:ext cx="1427561" cy="292608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8606" y="4983480"/>
            <a:ext cx="1427561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B4F9C"/>
                </a:solidFill>
                <a:latin typeface="Calibri"/>
              </a:rPr>
              <a:t>Claims reports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82296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0972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BFD9F5"/>
                </a:solidFill>
                <a:latin typeface="Calibri"/>
              </a:rPr>
              <a:t>THIS GUIDE IS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417320"/>
            <a:ext cx="25603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Claims Officer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1460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SIGN-IN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77063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carlo.claims (maker), lisa.claims2 (checker)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52044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ROLE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77647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claims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26280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9FC8F2"/>
                </a:solidFill>
                <a:latin typeface="Calibri"/>
              </a:rPr>
              <a:t>LANDS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8231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Home (business overview dashboard)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Prepared by iorta TechNXT ·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WHO YOU ARE IN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Role at a glance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675120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B4F9C"/>
                </a:solidFill>
                <a:latin typeface="Calibri"/>
              </a:rPr>
              <a:t>What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621792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Registers claims:  </a:t>
            </a:r>
            <a:r>
              <a:rPr sz="1600">
                <a:solidFill>
                  <a:srgbClr val="1F2937"/>
                </a:solidFill>
                <a:latin typeface="Calibri"/>
              </a:rPr>
              <a:t>from the client or policy with date, time, place and cause of loss and estimate.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Manages:  </a:t>
            </a:r>
            <a:r>
              <a:rPr sz="1600">
                <a:solidFill>
                  <a:srgbClr val="1F2937"/>
                </a:solidFill>
                <a:latin typeface="Calibri"/>
              </a:rPr>
              <a:t>adjuster details, documents, status and insurer claim number.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Settles:  </a:t>
            </a:r>
            <a:r>
              <a:rPr sz="1600">
                <a:solidFill>
                  <a:srgbClr val="1F2937"/>
                </a:solidFill>
                <a:latin typeface="Calibri"/>
              </a:rPr>
              <a:t>submits the settlement for approval by a second claims user.</a:t>
            </a:r>
          </a:p>
          <a:p>
            <a:pPr marL="201168" indent="-182880">
              <a:spcAft>
                <a:spcPts val="1200"/>
              </a:spcAft>
              <a:buClr>
                <a:srgbClr val="1E88E5"/>
              </a:buClr>
              <a:buFont typeface="Arial"/>
              <a:buChar char="•"/>
            </a:pPr>
            <a:r>
              <a:rPr b="1" sz="1600">
                <a:solidFill>
                  <a:srgbClr val="0B4F9C"/>
                </a:solidFill>
                <a:latin typeface="Calibri"/>
              </a:rPr>
              <a:t>Reports:  </a:t>
            </a:r>
            <a:r>
              <a:rPr sz="1600">
                <a:solidFill>
                  <a:srgbClr val="1F2937"/>
                </a:solidFill>
                <a:latin typeface="Calibri"/>
              </a:rPr>
              <a:t>claims dashboard, claims position and ageing.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25880"/>
            <a:ext cx="4325112" cy="146304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1463039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Sign-in and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83080"/>
            <a:ext cx="39319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User names carlo.claims and lisa.claims2. Land on Home; the Claims Dashboard is in the Dashboard menu.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88036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301752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You hand work 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33756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Insurer (claim request e-mail), second claims officer (approval), agent / owner (notified), Finance (claim payments), Reinsurance (recoveries).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572000"/>
            <a:ext cx="4325112" cy="160020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091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1E88E5"/>
                </a:solidFill>
                <a:latin typeface="Calibri"/>
              </a:rPr>
              <a:t>Maker-checker partners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29200"/>
            <a:ext cx="393192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carlo.claims makes the settlement, lisa.claims2 approves it; the maker is refused when approving.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WHAT YOU SEE AFTER SIGN-IN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Menu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0" i="1">
                <a:solidFill>
                  <a:srgbClr val="5B6778"/>
                </a:solidFill>
                <a:latin typeface="Calibri"/>
              </a:rPr>
              <a:t>Menus and screens granted to this role (menuPermissions); anything else is hidden and blocked by the route guard and the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681478" cy="201168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2480310" cy="14630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Claims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1558" y="1645920"/>
            <a:ext cx="2681478" cy="201168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21558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8718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1286" y="2121408"/>
            <a:ext cx="2480310" cy="14630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Home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Clients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Policy</a:t>
            </a:r>
          </a:p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Claims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5916" y="1645920"/>
            <a:ext cx="2681478" cy="201168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5916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3076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Reinsurance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5644" y="2121408"/>
            <a:ext cx="2480310" cy="14630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Claims Recovery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0274" y="1645920"/>
            <a:ext cx="2681478" cy="201168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50274" y="1645920"/>
            <a:ext cx="2681478" cy="384048"/>
          </a:xfrm>
          <a:prstGeom prst="roundRect">
            <a:avLst>
              <a:gd name="adj" fmla="val 18000"/>
            </a:avLst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7434" y="1645920"/>
            <a:ext cx="240715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Reports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0002" y="2121408"/>
            <a:ext cx="2480310" cy="14630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1E88E5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Operational Reports: Production, Claims, Renewal, Remittance, Broker Commission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1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Claims dashboard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Dashboard &gt; Claims Dashboard — signed in as carlo.claims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Dashboard &gt; Claims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open claims, overdue, today’s, top line and region.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Recent claims:  </a:t>
            </a:r>
            <a:r>
              <a:rPr sz="1500">
                <a:solidFill>
                  <a:srgbClr val="1F2937"/>
                </a:solidFill>
                <a:latin typeface="Calibri"/>
              </a:rPr>
              <a:t>line, customer, policy, loss and report dates, priority, status, amount.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Export Report:  </a:t>
            </a:r>
            <a:r>
              <a:rPr sz="1500">
                <a:solidFill>
                  <a:srgbClr val="1F2937"/>
                </a:solidFill>
                <a:latin typeface="Calibri"/>
              </a:rPr>
              <a:t>Claims Ageing.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2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Claims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Operations &gt; Claims — signed in as carlo.claims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Purpose:  </a:t>
            </a:r>
            <a:r>
              <a:rPr sz="1500">
                <a:solidFill>
                  <a:srgbClr val="1F2937"/>
                </a:solidFill>
                <a:latin typeface="Calibri"/>
              </a:rPr>
              <a:t>all claims with client, policy, product and status.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Status:  </a:t>
            </a:r>
            <a:r>
              <a:rPr sz="1500">
                <a:solidFill>
                  <a:srgbClr val="1F2937"/>
                </a:solidFill>
                <a:latin typeface="Calibri"/>
              </a:rPr>
              <a:t>pending, processing, pending approval, approved, settled, rejected.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Open:  </a:t>
            </a:r>
            <a:r>
              <a:rPr sz="1500">
                <a:solidFill>
                  <a:srgbClr val="1F2937"/>
                </a:solidFill>
                <a:latin typeface="Calibri"/>
              </a:rPr>
              <a:t>the eye icon opens claim details and the settlement.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3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Registering a claim: loss date rule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Screen from the recorded end-to-end run — Claim request refused for a loss date outside cover — carlo.claims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Clients &gt; policy &gt; Claim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Required:  </a:t>
            </a:r>
            <a:r>
              <a:rPr sz="1500">
                <a:solidFill>
                  <a:srgbClr val="1F2937"/>
                </a:solidFill>
                <a:latin typeface="Calibri"/>
              </a:rPr>
              <a:t>date and cause of loss; date not in the future.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Rule:  </a:t>
            </a:r>
            <a:r>
              <a:rPr sz="1500">
                <a:solidFill>
                  <a:srgbClr val="1F2937"/>
                </a:solidFill>
                <a:latin typeface="Calibri"/>
              </a:rPr>
              <a:t>loss date must be inside the policy period, or the claim is refused with the reason.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Documents:  </a:t>
            </a:r>
            <a:r>
              <a:rPr sz="1500">
                <a:solidFill>
                  <a:srgbClr val="1F2937"/>
                </a:solidFill>
                <a:latin typeface="Calibri"/>
              </a:rPr>
              <a:t>up to 2 MB each, PNG, JPEG or PDF.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Send:  </a:t>
            </a:r>
            <a:r>
              <a:rPr sz="1500">
                <a:solidFill>
                  <a:srgbClr val="1F2937"/>
                </a:solidFill>
                <a:latin typeface="Calibri"/>
              </a:rPr>
              <a:t>the request is e-mailed to the insurer.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4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Claim raised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Screen from the recorded end-to-end run — Claim CLM-2026-00002 raised — carlo.claims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Clients &gt; policy &gt; Claim Request &gt; Send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Result:  </a:t>
            </a:r>
            <a:r>
              <a:rPr sz="1500">
                <a:solidFill>
                  <a:srgbClr val="1F2937"/>
                </a:solidFill>
                <a:latin typeface="Calibri"/>
              </a:rPr>
              <a:t>claim number issued; the request is e-mailed to the insurer.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Next:  </a:t>
            </a:r>
            <a:r>
              <a:rPr sz="1500">
                <a:solidFill>
                  <a:srgbClr val="1F2937"/>
                </a:solidFill>
                <a:latin typeface="Calibri"/>
              </a:rPr>
              <a:t>wait for the insurer to assign an adjuster, then Proceed.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Notified:  </a:t>
            </a:r>
            <a:r>
              <a:rPr sz="1500">
                <a:solidFill>
                  <a:srgbClr val="1F2937"/>
                </a:solidFill>
                <a:latin typeface="Calibri"/>
              </a:rPr>
              <a:t>every claims officer and the policy owner get “New claim”.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Edit:  </a:t>
            </a:r>
            <a:r>
              <a:rPr sz="1500">
                <a:solidFill>
                  <a:srgbClr val="1F2937"/>
                </a:solidFill>
                <a:latin typeface="Calibri"/>
              </a:rPr>
              <a:t>correct the request before the insurer acts on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5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Adjuster details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Screen from the recorded end-to-end run — Adjuster submission — carlo.claims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Claim &gt; Adjuster submission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Address:  </a:t>
            </a:r>
            <a:r>
              <a:rPr sz="1500">
                <a:solidFill>
                  <a:srgbClr val="1F2937"/>
                </a:solidFill>
                <a:latin typeface="Calibri"/>
              </a:rPr>
              <a:t>country, province, city from the address master; 4-digit ZIP.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Same as Policy Holder:  </a:t>
            </a:r>
            <a:r>
              <a:rPr sz="1500">
                <a:solidFill>
                  <a:srgbClr val="1F2937"/>
                </a:solidFill>
                <a:latin typeface="Calibri"/>
              </a:rPr>
              <a:t>copies the holder’s address.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Required:  </a:t>
            </a:r>
            <a:r>
              <a:rPr sz="1500">
                <a:solidFill>
                  <a:srgbClr val="1F2937"/>
                </a:solidFill>
                <a:latin typeface="Calibri"/>
              </a:rPr>
              <a:t>fields with an asterisk must be filled.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6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Claim details and settlement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15200" cy="4599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42048" cy="4526280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897879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Claim CLM-2026-00002 — signed in as carlo.claims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Operations &gt; Claims &gt;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Sections:  </a:t>
            </a:r>
            <a:r>
              <a:rPr sz="1500">
                <a:solidFill>
                  <a:srgbClr val="1F2937"/>
                </a:solidFill>
                <a:latin typeface="Calibri"/>
              </a:rPr>
              <a:t>claim, incident, driver and policy information; insurer ref MAPFRE-MC-2026-4471.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Maker:  </a:t>
            </a:r>
            <a:r>
              <a:rPr sz="1500">
                <a:solidFill>
                  <a:srgbClr val="1F2937"/>
                </a:solidFill>
                <a:latin typeface="Calibri"/>
              </a:rPr>
              <a:t>settlement type, amount and dates validated, then “submitted for approval”.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Checker:  </a:t>
            </a:r>
            <a:r>
              <a:rPr sz="1500">
                <a:solidFill>
                  <a:srgbClr val="1F2937"/>
                </a:solidFill>
                <a:latin typeface="Calibri"/>
              </a:rPr>
              <a:t>lisa.claims2 uses Review settlement and approves; the maker is refused.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Result:  </a:t>
            </a:r>
            <a:r>
              <a:rPr sz="1500">
                <a:solidFill>
                  <a:srgbClr val="1F2937"/>
                </a:solidFill>
                <a:latin typeface="Calibri"/>
              </a:rPr>
              <a:t>settled 78,500 against an 85,000 estimate; dashboard and report updated.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KEY FUNCTION 7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Claims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" y="1243584"/>
            <a:ext cx="7342631" cy="4207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7269480" cy="4134516"/>
          </a:xfrm>
          <a:prstGeom prst="rect">
            <a:avLst/>
          </a:prstGeom>
          <a:ln w="6350">
            <a:solidFill>
              <a:srgbClr val="D5DE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57200" y="5506116"/>
            <a:ext cx="7269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1">
                <a:solidFill>
                  <a:srgbClr val="5B6778"/>
                </a:solidFill>
                <a:latin typeface="Calibri"/>
              </a:rPr>
              <a:t>Live screen — Reports &gt; Operational Reports &gt; Claims — signed in as carlo.claims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243584"/>
            <a:ext cx="3733495" cy="496519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389888"/>
            <a:ext cx="3276295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Reports &gt; Operational Reports &gt; Claims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322015" cy="43434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Criteria:  </a:t>
            </a:r>
            <a:r>
              <a:rPr sz="1500">
                <a:solidFill>
                  <a:srgbClr val="1F2937"/>
                </a:solidFill>
                <a:latin typeface="Calibri"/>
              </a:rPr>
              <a:t>All, Open, Settled, Rejected or Aging (by 30/60/90/180 days).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Content:  </a:t>
            </a:r>
            <a:r>
              <a:rPr sz="1500">
                <a:solidFill>
                  <a:srgbClr val="1F2937"/>
                </a:solidFill>
                <a:latin typeface="Calibri"/>
              </a:rPr>
              <a:t>estimate, approved and settled amounts, age, bucket.</a:t>
            </a:r>
          </a:p>
          <a:p>
            <a:pPr marL="201168" indent="-182880">
              <a:spcAft>
                <a:spcPts val="1000"/>
              </a:spcAft>
              <a:buClr>
                <a:srgbClr val="1E88E5"/>
              </a:buClr>
              <a:buFont typeface="Arial"/>
              <a:buChar char="•"/>
            </a:pPr>
            <a:r>
              <a:rPr b="1" sz="1500">
                <a:solidFill>
                  <a:srgbClr val="0B4F9C"/>
                </a:solidFill>
                <a:latin typeface="Calibri"/>
              </a:rPr>
              <a:t>Formats:  </a:t>
            </a:r>
            <a:r>
              <a:rPr sz="1500">
                <a:solidFill>
                  <a:srgbClr val="1F2937"/>
                </a:solidFill>
                <a:latin typeface="Calibri"/>
              </a:rPr>
              <a:t>CSV, XLSX, PDF.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LEAD TO RENEWAL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End-to-end flow: your part of the 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1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3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3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3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Agent / Sales / CS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53411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500883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74035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4035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Quote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4035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Agent / Sales / UW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5363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02836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988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988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Customer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988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Client (e-mail link)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57316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4788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7940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Policy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7940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Agent / Sales / UW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59268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06740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892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9892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9892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System at issuance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761219" y="1810512"/>
            <a:ext cx="274320" cy="237744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108692" y="141732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81844" y="149047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81844" y="167335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Receipt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1844" y="207568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712196" y="2551176"/>
            <a:ext cx="274320" cy="402335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8692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81844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1844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Commission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1844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 maker + checker</a:t>
            </a:r>
          </a:p>
        </p:txBody>
      </p:sp>
      <p:sp>
        <p:nvSpPr>
          <p:cNvPr id="42" name="Left Arrow 41"/>
          <p:cNvSpPr/>
          <p:nvPr/>
        </p:nvSpPr>
        <p:spPr>
          <a:xfrm>
            <a:off x="9761219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06740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9892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9892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Remittance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9892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Finance maker + checker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7859268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04788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77940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7940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Endorsement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7940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Customer Services</a:t>
            </a:r>
          </a:p>
        </p:txBody>
      </p:sp>
      <p:sp>
        <p:nvSpPr>
          <p:cNvPr id="52" name="Left Arrow 51"/>
          <p:cNvSpPr/>
          <p:nvPr/>
        </p:nvSpPr>
        <p:spPr>
          <a:xfrm>
            <a:off x="5957316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402836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75988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5988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5988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Claims maker + checker</a:t>
            </a:r>
          </a:p>
        </p:txBody>
      </p:sp>
      <p:sp>
        <p:nvSpPr>
          <p:cNvPr id="57" name="Left Arrow 56"/>
          <p:cNvSpPr/>
          <p:nvPr/>
        </p:nvSpPr>
        <p:spPr>
          <a:xfrm>
            <a:off x="4055363" y="3456432"/>
            <a:ext cx="274320" cy="237744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00883" y="3063240"/>
            <a:ext cx="1481328" cy="1024128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74035" y="3136392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1" i="0">
                <a:solidFill>
                  <a:srgbClr val="1E88E5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74035" y="3319272"/>
            <a:ext cx="1335024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0B4F9C"/>
                </a:solidFill>
                <a:latin typeface="Calibri"/>
              </a:rPr>
              <a:t>Renewal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4035" y="3721608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UW / Sales + schedules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43159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Your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11680" y="4361688"/>
            <a:ext cx="256032" cy="182880"/>
          </a:xfrm>
          <a:prstGeom prst="roundRect">
            <a:avLst>
              <a:gd name="adj" fmla="val 30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31720" y="431596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Done by other personas or by the system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431596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100" b="0" i="1">
                <a:solidFill>
                  <a:srgbClr val="5B6778"/>
                </a:solidFill>
                <a:latin typeface="Calibri"/>
              </a:rPr>
              <a:t>Claims experience informs the renewal price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4709160"/>
            <a:ext cx="11274552" cy="150876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4846320"/>
            <a:ext cx="534924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10 Claim: register, adjust, settle with a second officer.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Policy period is checked at registration.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72200" y="4846320"/>
            <a:ext cx="5394960" cy="13258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Owners and agents are notified at each status.</a:t>
            </a:r>
          </a:p>
          <a:p>
            <a:pPr marL="201168" indent="-182880">
              <a:spcAft>
                <a:spcPts val="5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Recoveries go to Reinsurance &gt; Claims Recovery.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REPORTS &gt; OPERATIONAL / FINANCIAL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Reports you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1615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5B6778"/>
                </a:solidFill>
                <a:latin typeface="Calibri"/>
              </a:rPr>
              <a:t>Output formats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216152"/>
            <a:ext cx="614476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1216152"/>
            <a:ext cx="6144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XLSX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0516" y="1216152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20516" y="12161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PDF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60596" y="1216152"/>
            <a:ext cx="971092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0596" y="1216152"/>
            <a:ext cx="97109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On screen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23129" y="1216152"/>
            <a:ext cx="1470355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3129" y="1216152"/>
            <a:ext cx="147035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Scheduled e-mail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804" y="1216152"/>
            <a:ext cx="506669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Eight operational reports in your catalogue.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1783080"/>
          <a:ext cx="1127455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238"/>
                <a:gridCol w="6049759"/>
                <a:gridCol w="2841553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Report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Production Register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Policies incepted in the period: premium, commission, new or renewal; by agent, insurer or branch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Operational &gt; Production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Claims Position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Claims reported: estimate, approved, settled, age; criteria All / Open / Settled / Rejected / Aging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Operational &gt; Claims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Renewal Retention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Renewals due: retained, lost or pending, old vs new premium, retention rate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Operational &gt; Renewal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Remittance Summary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Remittances to insurers: gross premium, commission retained, net due, 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Operational &gt; Remittance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Broker Commission Statement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Commission per agent and policy: basis, rate, gross, WHT, net, paid status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&gt; Operational &gt; Broker Commission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Premium by Product / Month /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Policy count, sum insured, premium and commission by month, product or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Executive Dashboard &gt; Export Report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New Business vs Renewals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Policies and premium split into new business and renewals per month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Executive Dashboard &gt; Export Report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4F9C"/>
                          </a:solidFill>
                          <a:latin typeface="Calibri"/>
                        </a:rPr>
                        <a:t>Claims Ageing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Open claims by ageing bucket (30/60/90/180 days) with estimate and approved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Claims Dashboard &gt; Export Report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MASTER &gt; CONFIGURATION &gt; SCHEDULES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Schedules and automations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25880"/>
          <a:ext cx="1127455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12"/>
                <a:gridCol w="2016586"/>
                <a:gridCol w="705805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you</a:t>
                      </a:r>
                    </a:p>
                  </a:txBody>
                  <a:tcPr marL="73152" marR="73152" marT="27432" marB="27432" anchor="ctr">
                    <a:solidFill>
                      <a:srgbClr val="0B4F9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Daily reports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05:00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Claims position generated each morning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Policy expiry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day, 00:15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Expired policies: new losses after expiry are refused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4F9C"/>
                          </a:solidFill>
                          <a:latin typeface="Calibri"/>
                        </a:rPr>
                        <a:t>E-mail outbox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Every 5 minutes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2937"/>
                          </a:solidFill>
                          <a:latin typeface="Calibri"/>
                        </a:rPr>
                        <a:t>Claim request e-mails to insurers leave every 5 minutes</a:t>
                      </a:r>
                    </a:p>
                  </a:txBody>
                  <a:tcPr marL="73152" marR="73152" marT="27432" marB="2743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65760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1">
                <a:solidFill>
                  <a:srgbClr val="5B6778"/>
                </a:solidFill>
                <a:latin typeface="Calibri"/>
              </a:rPr>
              <a:t>Times are server time (Philippine time in production). The IT administrator can change a timetable, switch a job off or press Run now; every run is recorded.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BELL ICON, TOP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Notifications and approvals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B4F9C"/>
                </a:solidFill>
                <a:latin typeface="Calibri"/>
              </a:rPr>
              <a:t>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New claim registered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Claim number and policy, to every claims officer.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43A047"/>
                </a:solidFill>
                <a:latin typeface="Calibri"/>
              </a:rPr>
              <a:t>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Settlement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Amount and claim, to the other claims officers.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1636" y="132588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6227" y="14904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6227" y="14904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7515" y="1435607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Claim status changes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7515" y="174650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Processing, Pending Approval, Approved, Settled.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1636" y="2423160"/>
            <a:ext cx="5500116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96227" y="258775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96227" y="25877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1E88E5"/>
                </a:solidFill>
                <a:latin typeface="Calibri"/>
              </a:rPr>
              <a:t>Info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7515" y="2532888"/>
            <a:ext cx="40370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4F9C"/>
                </a:solidFill>
                <a:latin typeface="Calibri"/>
              </a:rPr>
              <a:t>Settlement approved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7515" y="2843784"/>
            <a:ext cx="4037075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Back to the maker once the checker approves.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4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28232"/>
            <a:ext cx="930839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70918" y="643737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BrokerVerse | Claims Officer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100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1E88E5"/>
                </a:solidFill>
                <a:latin typeface="Calibri"/>
              </a:rPr>
              <a:t>GOOD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800" b="1" i="0">
                <a:solidFill>
                  <a:srgbClr val="0B4F9C"/>
                </a:solidFill>
                <a:latin typeface="Calibri"/>
              </a:rPr>
              <a:t>Known limitations and tips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0B4F9C"/>
                </a:solidFill>
                <a:latin typeface="Calibri"/>
              </a:rPr>
              <a:t>Open items that affect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Some date pickers still show month-first dates (MM/DD/YYYY) although the configured format is DD/MM/YYYY.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 few screens use the browser’s own confirm boxes instead of in-app dialogs.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Address and adjuster fixes are awaiting re-test in the final run: report anything odd.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The Clients list can fail to open for this role in the current build: use Policy instead.</a:t>
            </a:r>
          </a:p>
          <a:p>
            <a:pPr marL="201168" indent="-182880">
              <a:spcAft>
                <a:spcPts val="800"/>
              </a:spcAft>
              <a:buClr>
                <a:srgbClr val="5B6778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Report screens may show a permission message while loading the agent filter; the report still runs.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325880"/>
            <a:ext cx="5532120" cy="4846320"/>
          </a:xfrm>
          <a:prstGeom prst="roundRect">
            <a:avLst>
              <a:gd name="adj" fmla="val 4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463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 i="0">
                <a:solidFill>
                  <a:srgbClr val="43A047"/>
                </a:solidFill>
                <a:latin typeface="Calibri"/>
              </a:rPr>
              <a:t>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74519"/>
            <a:ext cx="5074920" cy="42062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Check the policy period before registering.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Attach documents when you register, not later.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Record the insurer claim number as soon as you have it.</a:t>
            </a:r>
          </a:p>
          <a:p>
            <a:pPr marL="201168" indent="-182880">
              <a:spcAft>
                <a:spcPts val="800"/>
              </a:spcAft>
              <a:buClr>
                <a:srgbClr val="43A047"/>
              </a:buClr>
              <a:buFont typeface="Arial"/>
              <a:buChar char="•"/>
            </a:pPr>
            <a:r>
              <a:rPr sz="1500">
                <a:solidFill>
                  <a:srgbClr val="1F2937"/>
                </a:solidFill>
                <a:latin typeface="Calibri"/>
              </a:rPr>
              <a:t>Ask your checker to use Review settlement.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F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82296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310279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6517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BFD9F5"/>
                </a:solidFill>
                <a:latin typeface="Calibri"/>
              </a:rPr>
              <a:t>BrokerVerse — Claims Officer guide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10698480" cy="1874519"/>
          </a:xfrm>
          <a:prstGeom prst="roundRect">
            <a:avLst>
              <a:gd name="adj" fmla="val 6000"/>
            </a:avLst>
          </a:prstGeom>
          <a:solidFill>
            <a:srgbClr val="0E5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9FC8F2"/>
                </a:solidFill>
                <a:latin typeface="Calibri"/>
              </a:rP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17720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617720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&lt;to be confirmed by BDOI&gt;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4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946904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&lt;support mailbox to be confirmed&gt;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76088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Hours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76088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&lt;business hours, Manila time, to be confirmed&gt;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605272"/>
            <a:ext cx="219456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Access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605272"/>
            <a:ext cx="8046720" cy="3017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Your User Access Administrator (Master &gt; User Management)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BFD9F5"/>
                </a:solidFill>
                <a:latin typeface="Calibri"/>
              </a:rPr>
              <a:t>iorta TechNXT · BrokerVerse insurance-broking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