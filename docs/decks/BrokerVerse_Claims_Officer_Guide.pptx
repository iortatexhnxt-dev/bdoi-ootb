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3172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— Claims Officer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Out-of-the-box functions, flows, reports and 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BrokerVerse OOTB ·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506016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506016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Register claims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4696" y="4983480"/>
            <a:ext cx="1976749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4696" y="4983480"/>
            <a:ext cx="197674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Settle with a checker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8606" y="4983480"/>
            <a:ext cx="1427561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8606" y="4983480"/>
            <a:ext cx="1427561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Claims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97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41732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Claims Officer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1460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77063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carlo.claims (maker), lisa.claims2 (checker)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5204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764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claims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78231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Claims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Registers claims:  </a:t>
            </a:r>
            <a:r>
              <a:rPr sz="1600">
                <a:solidFill>
                  <a:srgbClr val="1F2937"/>
                </a:solidFill>
                <a:latin typeface="Calibri"/>
              </a:rPr>
              <a:t>from the client or policy with date, time, place and cause of loss and estimate.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Manages:  </a:t>
            </a:r>
            <a:r>
              <a:rPr sz="1600">
                <a:solidFill>
                  <a:srgbClr val="1F2937"/>
                </a:solidFill>
                <a:latin typeface="Calibri"/>
              </a:rPr>
              <a:t>adjuster details, documents, status and insurer claim number.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Settles:  </a:t>
            </a:r>
            <a:r>
              <a:rPr sz="1600">
                <a:solidFill>
                  <a:srgbClr val="1F2937"/>
                </a:solidFill>
                <a:latin typeface="Calibri"/>
              </a:rPr>
              <a:t>submits the settlement for approval by a second claims user.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Reports:  </a:t>
            </a:r>
            <a:r>
              <a:rPr sz="1600">
                <a:solidFill>
                  <a:srgbClr val="1F2937"/>
                </a:solidFill>
                <a:latin typeface="Calibri"/>
              </a:rPr>
              <a:t>claims dashboard, claims position and ageing.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names carlo.claims and lisa.claims2. Land on the Claims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Insurer (claim request e-mail), second claims officer (approval), agent / owner (notified), Finance (claim payments), Reinsurance (recoveries).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carlo.claims makes the settlement, lisa.claims2 approves it; the maker is refused when approving.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Menus and screens granted to this role (menuPermissions); anything else is hidden and blocked by the route guard and the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681478" cy="201168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248031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Claims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1558" y="1645920"/>
            <a:ext cx="2681478" cy="201168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21558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8718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1286" y="2121408"/>
            <a:ext cx="248031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Home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Clients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Policy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Claims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645920"/>
            <a:ext cx="2681478" cy="201168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5916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Reinsurance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644" y="2121408"/>
            <a:ext cx="248031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Claims Recovery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645920"/>
            <a:ext cx="2681478" cy="201168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0274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7434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0002" y="2121408"/>
            <a:ext cx="248031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All Reports (8 reports)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Operational Reports: Production, Claims, Renewal, Remittance, Broker Commission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Claims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Dashboard &gt; Claims Dashboard — signed in as carlo.claims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Dashboard &gt; Claims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open claims, overdue, today’s, top line and region.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Recent claims:  </a:t>
            </a:r>
            <a:r>
              <a:rPr sz="1500">
                <a:solidFill>
                  <a:srgbClr val="1F2937"/>
                </a:solidFill>
                <a:latin typeface="Calibri"/>
              </a:rPr>
              <a:t>line, customer, policy, loss and report dates, priority, status, amount.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Export Report:  </a:t>
            </a:r>
            <a:r>
              <a:rPr sz="1500">
                <a:solidFill>
                  <a:srgbClr val="1F2937"/>
                </a:solidFill>
                <a:latin typeface="Calibri"/>
              </a:rPr>
              <a:t>Claims Ageing.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Claims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Operations &gt; Claims — signed in as carlo.claims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all claims with client, policy, product and status.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Status:  </a:t>
            </a:r>
            <a:r>
              <a:rPr sz="1500">
                <a:solidFill>
                  <a:srgbClr val="1F2937"/>
                </a:solidFill>
                <a:latin typeface="Calibri"/>
              </a:rPr>
              <a:t>pending, processing, pending approval, approved, settled, rejected.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Open:  </a:t>
            </a:r>
            <a:r>
              <a:rPr sz="1500">
                <a:solidFill>
                  <a:srgbClr val="1F2937"/>
                </a:solidFill>
                <a:latin typeface="Calibri"/>
              </a:rPr>
              <a:t>the eye icon opens claim details and the settlement.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Registering a 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4331748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258596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Claim Request from the policy row — signed in as carlo.claims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Policy &gt; … &gt;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Required:  </a:t>
            </a:r>
            <a:r>
              <a:rPr sz="1500">
                <a:solidFill>
                  <a:srgbClr val="1F2937"/>
                </a:solidFill>
                <a:latin typeface="Calibri"/>
              </a:rPr>
              <a:t>date and cause of loss; date not in the future; reported date not before the loss.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loss date must be inside the policy period and premium paid, or the claim is refused with the reason.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Documents:  </a:t>
            </a:r>
            <a:r>
              <a:rPr sz="1500">
                <a:solidFill>
                  <a:srgbClr val="1F2937"/>
                </a:solidFill>
                <a:latin typeface="Calibri"/>
              </a:rPr>
              <a:t>up to 2 MB each, PNG, JPEG or PDF.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Send:  </a:t>
            </a:r>
            <a:r>
              <a:rPr sz="1500">
                <a:solidFill>
                  <a:srgbClr val="1F2937"/>
                </a:solidFill>
                <a:latin typeface="Calibri"/>
              </a:rPr>
              <a:t>the request is e-mailed to the insurer.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Claim raised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Waiting for Update: the claim is with the insurer — signed in as carlo.claims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Claims &gt; eye 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Result:  </a:t>
            </a:r>
            <a:r>
              <a:rPr sz="1500">
                <a:solidFill>
                  <a:srgbClr val="1F2937"/>
                </a:solidFill>
                <a:latin typeface="Calibri"/>
              </a:rPr>
              <a:t>claim number issued; the request is e-mailed to the insurer.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Next:  </a:t>
            </a:r>
            <a:r>
              <a:rPr sz="1500">
                <a:solidFill>
                  <a:srgbClr val="1F2937"/>
                </a:solidFill>
                <a:latin typeface="Calibri"/>
              </a:rPr>
              <a:t>wait for the insurer to assign an adjuster, then Proceed.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Notified:  </a:t>
            </a:r>
            <a:r>
              <a:rPr sz="1500">
                <a:solidFill>
                  <a:srgbClr val="1F2937"/>
                </a:solidFill>
                <a:latin typeface="Calibri"/>
              </a:rPr>
              <a:t>every claims officer and the policy owner get “New claim”.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Edit:  </a:t>
            </a:r>
            <a:r>
              <a:rPr sz="1500">
                <a:solidFill>
                  <a:srgbClr val="1F2937"/>
                </a:solidFill>
                <a:latin typeface="Calibri"/>
              </a:rPr>
              <a:t>correct the request before the insurer acts on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Adjuster details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564151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56835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Adjuster details — signed in as carlo.claims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Claim &gt; Proceed &gt; Adjuster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Address:  </a:t>
            </a:r>
            <a:r>
              <a:rPr sz="1500">
                <a:solidFill>
                  <a:srgbClr val="1F2937"/>
                </a:solidFill>
                <a:latin typeface="Calibri"/>
              </a:rPr>
              <a:t>country, province, city from the address master; 4-digit ZIP.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Same as Policy Holder:  </a:t>
            </a:r>
            <a:r>
              <a:rPr sz="1500">
                <a:solidFill>
                  <a:srgbClr val="1F2937"/>
                </a:solidFill>
                <a:latin typeface="Calibri"/>
              </a:rPr>
              <a:t>copies the holder’s address.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Required:  </a:t>
            </a:r>
            <a:r>
              <a:rPr sz="1500">
                <a:solidFill>
                  <a:srgbClr val="1F2937"/>
                </a:solidFill>
                <a:latin typeface="Calibri"/>
              </a:rPr>
              <a:t>fields with an asterisk must be filled.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Claim details and settlement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4599432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526280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Claim CLM-2026-00002 — signed in as carlo.claims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Claims &gt;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Sections:  </a:t>
            </a:r>
            <a:r>
              <a:rPr sz="1500">
                <a:solidFill>
                  <a:srgbClr val="1F2937"/>
                </a:solidFill>
                <a:latin typeface="Calibri"/>
              </a:rPr>
              <a:t>claim, incident, driver and policy information; insurer ref MAPFRE-MC-2026-4471.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Maker:  </a:t>
            </a:r>
            <a:r>
              <a:rPr sz="1500">
                <a:solidFill>
                  <a:srgbClr val="1F2937"/>
                </a:solidFill>
                <a:latin typeface="Calibri"/>
              </a:rPr>
              <a:t>settlement type, amount and dates validated, then “submitted for approval”.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Checker:  </a:t>
            </a:r>
            <a:r>
              <a:rPr sz="1500">
                <a:solidFill>
                  <a:srgbClr val="1F2937"/>
                </a:solidFill>
                <a:latin typeface="Calibri"/>
              </a:rPr>
              <a:t>lisa.claims2 uses Review settlement and approves; the maker is refused.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Result:  </a:t>
            </a:r>
            <a:r>
              <a:rPr sz="1500">
                <a:solidFill>
                  <a:srgbClr val="1F2937"/>
                </a:solidFill>
                <a:latin typeface="Calibri"/>
              </a:rPr>
              <a:t>settled 78,500 against an 85,000 estimate; dashboard and report updated.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7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Claims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42076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4134516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506116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Reports &gt; Operational Reports &gt; Claims — signed in as carlo.claims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Operational Reports &gt;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Criteria:  </a:t>
            </a:r>
            <a:r>
              <a:rPr sz="1500">
                <a:solidFill>
                  <a:srgbClr val="1F2937"/>
                </a:solidFill>
                <a:latin typeface="Calibri"/>
              </a:rPr>
              <a:t>All, Open, Settled, Rejected or Aging (by 30/60/90/180 days).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Content:  </a:t>
            </a:r>
            <a:r>
              <a:rPr sz="1500">
                <a:solidFill>
                  <a:srgbClr val="1F2937"/>
                </a:solidFill>
                <a:latin typeface="Calibri"/>
              </a:rPr>
              <a:t>estimate, approved and settled amounts, age, bucket; Preview on screen.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Formats:  </a:t>
            </a:r>
            <a:r>
              <a:rPr sz="1500">
                <a:solidFill>
                  <a:srgbClr val="1F2937"/>
                </a:solidFill>
                <a:latin typeface="Calibri"/>
              </a:rPr>
              <a:t>CSV, Excel (XLSX) or PDF; Claims Ageing in Reports &gt; All Reports.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TO RENEWAL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End-to-end flow: your part of the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1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3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3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3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Agent / Sales / 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411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00883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4035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4035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4035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Agent / Sales / UW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55363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2836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988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988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Customer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988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Client (e-mail link)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57316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4788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7940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Agent / Sales / UW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59268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6740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892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9892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9892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System at issuance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61219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08692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81844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1844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Receipt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1844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0712196" y="2551176"/>
            <a:ext cx="274320" cy="402335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08692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1844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1844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Commission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1844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 maker + checker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9761219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06740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9892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9892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Remittance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9892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 maker + checker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7859268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4788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7940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7940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Endorsement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7940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Customer Services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5957316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402836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5988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5988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75988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Claims maker + checker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4055363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00883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74035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74035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Renewal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74035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UW / Sales + schedules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43159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1168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4315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31596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Claims experience informs the renewal price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709160"/>
            <a:ext cx="11274552" cy="150876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4846320"/>
            <a:ext cx="534924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10 Claim: register, adjust, settle with a second officer.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Policy period is checked at registration.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4846320"/>
            <a:ext cx="539496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Owners and agents are notified at each status.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Recoveries go to Reinsurance &gt; Claims Recovery.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ALL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you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5B6778"/>
                </a:solidFill>
                <a:latin typeface="Calibri"/>
              </a:rPr>
              <a:t>Output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16152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16152"/>
            <a:ext cx="6144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0516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0516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0596" y="1216152"/>
            <a:ext cx="971092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596" y="1216152"/>
            <a:ext cx="97109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On screen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3129" y="121615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23129" y="1216152"/>
            <a:ext cx="14703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Scheduled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804" y="1216152"/>
            <a:ext cx="506669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Eight operational reports in Reports &gt; All Reports.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783080"/>
          <a:ext cx="1127455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238"/>
                <a:gridCol w="6049759"/>
                <a:gridCol w="284155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Production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Policies incepted in the period: premium, commission, new or renewal; by agent, insurer or branch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All Reports; Operational &gt; Production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Claims 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Claims reported: estimate, approved, settled, age; criteria All / Open / Settled / Rejected / Aging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All Reports; Operational &gt; Claims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Renewal Retention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Renewals due: retained, lost or pending, old vs new premium, retention rate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All Reports; Operational &gt; Renewal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Remittance Summary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Remittances to insurers: gross premium, commission retained, net due, 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All Reports; Operational &gt; Remittance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Broker Commission Statement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Commission per agent and policy: basis, rate, gross, WHT, net, paid status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All Reports; Operational &gt; Broker Commission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Premium by Product / Month /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Policy count, sum insured, premium and commission by month, product or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All Reports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New Business vs Renewals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Policies and premium split into new business and renewals per month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All Reports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Claims Ageing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Open claims by ageing bucket (30/60/90/180 days) with estimate and approved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All Reports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Daily reports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05:00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Claims position generated each morning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Policy expiry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00:15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Expired policies: new losses after expiry are refused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E-mail outbox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5 minutes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Claim request e-mails to insurers leave every 5 minutes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Times are server time (Philippine time in production). The IT administrator can change a timetable, switch a job off or press Run now; every run is recorded.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New claim registered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Claim number and policy, to every claims officer.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Settlement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Amount and claim, to the other claims officers.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Claim status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Processing, Pending Approval, Approved, Settled.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Settlement approved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Back to the maker once the checker approves.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Claims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Your session is kept in the browser’s local storage: sign out on shared computers and keep the browser up to date.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Two-factor set-up shows a setup key and an app link, but no QR code: type the key into the authenticator app.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Screens are in English or Thai; Filipino is configured but has no translation yet.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Claims officers do not create leads: Create Lead and Create Policy are hidden for this role.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Check the policy period before registering.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Attach documents when you register, not later.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Record the insurer claim number as soon as you have it.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Ask your checker to use Review settlement.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— Claims Officer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10698480" cy="1874519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1772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&lt;service desk to be confirmed&gt;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4690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E-mail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94690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&lt;support mailbox to be confirmed&gt;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7608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27608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&lt;business hours, Manila time, to be confirmed&gt;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0527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60527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Your User Access Administrator (Master &gt; User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insurance-broking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