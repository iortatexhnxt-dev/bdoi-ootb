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Customer Services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427561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427561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Client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6241" y="4983480"/>
            <a:ext cx="1270650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6241" y="4983480"/>
            <a:ext cx="127065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4051" y="4983480"/>
            <a:ext cx="1113739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4051" y="4983480"/>
            <a:ext cx="111373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Open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Customer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ana.cs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customer-services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Serves clients:  </a:t>
            </a:r>
            <a:r>
              <a:rPr sz="1600">
                <a:solidFill>
                  <a:srgbClr val="1F2937"/>
                </a:solidFill>
                <a:latin typeface="Calibri"/>
              </a:rPr>
              <a:t>answers questions from the client 360 view: policies, claims, renewals, endorsements.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Changes policies:  </a:t>
            </a:r>
            <a:r>
              <a:rPr sz="1600">
                <a:solidFill>
                  <a:srgbClr val="1F2937"/>
                </a:solidFill>
                <a:latin typeface="Calibri"/>
              </a:rPr>
              <a:t>personal details and coverage endorsements, re-priced by the server.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Chases open items:  </a:t>
            </a:r>
            <a:r>
              <a:rPr sz="1600">
                <a:solidFill>
                  <a:srgbClr val="1F2937"/>
                </a:solidFill>
                <a:latin typeface="Calibri"/>
              </a:rPr>
              <a:t>expiring policies, pending payments, pending quotes, renewal requests.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Helps sell:  </a:t>
            </a:r>
            <a:r>
              <a:rPr sz="1600">
                <a:solidFill>
                  <a:srgbClr val="1F2937"/>
                </a:solidFill>
                <a:latin typeface="Calibri"/>
              </a:rPr>
              <a:t>can capture leads and quotes like Sales.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ana.cs. Lands on the Executive Dashboard; start the day on Operations &gt; Open Items.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Finance (endorsement bills), insurer (endorsement request e-mail), Claims, Sales / agents.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Endorsements are sent to the insurer; extra premium is billed and receipted by Finance.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and screens granted to this role (menuPermissions); anything else is hidden and blocked by the route guard and the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681478" cy="395020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2480310" cy="340156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Executive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1558" y="1645920"/>
            <a:ext cx="2681478" cy="395020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1558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8718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1286" y="2121408"/>
            <a:ext cx="2480310" cy="340156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Product Templates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645920"/>
            <a:ext cx="2681478" cy="395020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5916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5644" y="2121408"/>
            <a:ext cx="2480310" cy="340156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Renewals: Renewal Policy, Batch, Queue, Retention Analytics, At-Risk, Negotiations, Lapse Mgmt, Performance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645920"/>
            <a:ext cx="2681478" cy="395020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0274" y="1645920"/>
            <a:ext cx="2681478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7434" y="1645920"/>
            <a:ext cx="240715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121408"/>
            <a:ext cx="2480310" cy="340156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All Reports (9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Client 360 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Clients &gt; Andrea Villanueva — signed in as ana.cs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Clients &gt;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one client (header shows the CL- code) with tabs for Policy, Claim, Renewal and Endorsement.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Row actions:  </a:t>
            </a:r>
            <a:r>
              <a:rPr sz="1500">
                <a:solidFill>
                  <a:srgbClr val="1F2937"/>
                </a:solidFill>
                <a:latin typeface="Calibri"/>
              </a:rPr>
              <a:t>endorsement, claim request, renewal; endorsements listed with END- number and type.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Example:  </a:t>
            </a:r>
            <a:r>
              <a:rPr sz="1500">
                <a:solidFill>
                  <a:srgbClr val="1F2937"/>
                </a:solidFill>
                <a:latin typeface="Calibri"/>
              </a:rPr>
              <a:t>POL-2026-00001, gross 40,086.27 after endorsement, payment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Policy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Policy — signed in as ana.cs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all policies with premium, dates and payment status.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Status:  </a:t>
            </a:r>
            <a:r>
              <a:rPr sz="1500">
                <a:solidFill>
                  <a:srgbClr val="1F2937"/>
                </a:solidFill>
                <a:latin typeface="Calibri"/>
              </a:rPr>
              <a:t>completed, pending, expired.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open; row menu Claim, Endorsement, Reminder (disabled while premium is Pending or Reviewing).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Endorsement: personal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5246043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172891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Endorsement request, personal details change — signed in as ana.cs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Policy &gt; Endorsement &gt; Personal Details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Start:  </a:t>
            </a:r>
            <a:r>
              <a:rPr sz="1500">
                <a:solidFill>
                  <a:srgbClr val="1F2937"/>
                </a:solidFill>
                <a:latin typeface="Calibri"/>
              </a:rPr>
              <a:t>choose the endorsement type first; Proceed stays disabled until you do.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Pre-filled:  </a:t>
            </a:r>
            <a:r>
              <a:rPr sz="1500">
                <a:solidFill>
                  <a:srgbClr val="1F2937"/>
                </a:solidFill>
                <a:latin typeface="Calibri"/>
              </a:rPr>
              <a:t>with the client’s current details, including earlier endorsements.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Validation:  </a:t>
            </a:r>
            <a:r>
              <a:rPr sz="1500">
                <a:solidFill>
                  <a:srgbClr val="1F2937"/>
                </a:solidFill>
                <a:latin typeface="Calibri"/>
              </a:rPr>
              <a:t>required fields, mobile number and 4-digit ZIP.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the client record is updated; the owner is notified.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Endorsement: coverage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4903023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829871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Endorsement request, coverage change re-priced — signed in as ana.cs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Policy &gt; Endorsement &gt; Coverage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Pricing:  </a:t>
            </a:r>
            <a:r>
              <a:rPr sz="1500">
                <a:solidFill>
                  <a:srgbClr val="1F2937"/>
                </a:solidFill>
                <a:latin typeface="Calibri"/>
              </a:rPr>
              <a:t>re-priced with configured rates; the server checks the premium difference.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Example:  </a:t>
            </a:r>
            <a:r>
              <a:rPr sz="1500">
                <a:solidFill>
                  <a:srgbClr val="1F2937"/>
                </a:solidFill>
                <a:latin typeface="Calibri"/>
              </a:rPr>
              <a:t>own damage 1,400,000: gross 40,086.27, +5,010.00.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bill INV-2026-00002, journal 5,010 / 4,410 / 600, collection item.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Send:  </a:t>
            </a:r>
            <a:r>
              <a:rPr sz="1500">
                <a:solidFill>
                  <a:srgbClr val="1F2937"/>
                </a:solidFill>
                <a:latin typeface="Calibri"/>
              </a:rPr>
              <a:t>Send to Insurance Company from the summary.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Open 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Open Items — signed in as ana.cs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Open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expiring policies, pending payments, pending quotes and renewal requests.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Use:  </a:t>
            </a:r>
            <a:r>
              <a:rPr sz="1500">
                <a:solidFill>
                  <a:srgbClr val="1F2937"/>
                </a:solidFill>
                <a:latin typeface="Calibri"/>
              </a:rPr>
              <a:t>your daily worklist; See More opens the full list.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Source:  </a:t>
            </a:r>
            <a:r>
              <a:rPr sz="1500">
                <a:solidFill>
                  <a:srgbClr val="1F2937"/>
                </a:solidFill>
                <a:latin typeface="Calibri"/>
              </a:rPr>
              <a:t>policies, bills and renewals updated by the schedules overnight.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Payments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Payments — signed in as ana.cs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gross, collected, receivable premium and earned commission.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Tabs:  </a:t>
            </a:r>
            <a:r>
              <a:rPr sz="1500">
                <a:solidFill>
                  <a:srgbClr val="1F2937"/>
                </a:solidFill>
                <a:latin typeface="Calibri"/>
              </a:rPr>
              <a:t>Paid, Pending, Reviewing; type policy, renewal or endorsement; DIRECT BILL for direct-bill policies.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Note:  </a:t>
            </a:r>
            <a:r>
              <a:rPr sz="1500">
                <a:solidFill>
                  <a:srgbClr val="1F2937"/>
                </a:solidFill>
                <a:latin typeface="Calibri"/>
              </a:rPr>
              <a:t>receipts are posted by Finance; you see the result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Expired and expiring policies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Renewals &gt; Renewal Policy — signed in as ana.cs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Renewals &gt; Renewal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active, expiring soon (0-5 days) and expired policies.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Action:  </a:t>
            </a:r>
            <a:r>
              <a:rPr sz="1500">
                <a:solidFill>
                  <a:srgbClr val="1F2937"/>
                </a:solidFill>
                <a:latin typeface="Calibri"/>
              </a:rPr>
              <a:t>call the client and start the renewal quote.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Timing:  </a:t>
            </a:r>
            <a:r>
              <a:rPr sz="1500">
                <a:solidFill>
                  <a:srgbClr val="1F2937"/>
                </a:solidFill>
                <a:latin typeface="Calibri"/>
              </a:rPr>
              <a:t>notices already went at 60 / 30 / 15 days.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3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UW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98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Client (e-mail link)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UW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9892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System at issuance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184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184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9892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Endorsement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7940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Customer Services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98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 maker + checker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403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UW / Sales + 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Renewal follow-up starts the next cycle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9 Endorsement: personal and coverage changes.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Extra premium goes to Finance as a bill.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 Lead: can capture leads for Sales.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11 Renewal: chase expiring policies.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97109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On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3129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3129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804" y="1216152"/>
            <a:ext cx="506669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Nine operational reports in Reports &gt; All Reports.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83080"/>
          <a:ext cx="112745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238"/>
                <a:gridCol w="6049759"/>
                <a:gridCol w="2841553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renewal; by agent, insurer or branch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Production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settled, age; criteria All / Open / Settled / Rejected / 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Claims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old vs new premium, retention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Renewal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 retained, net due,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Remittance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All Reports; Operational &gt; Broker Commission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 by month, product or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All Reports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and premium split into new business and renewals per month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All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 (30/60/90/180 days) with estimate and approved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All Reports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Lead Conversion Funnel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Leads by stage (new to converted / lost) with share and conversion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All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06:00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get notices at 60 / 30 / 15 days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08:00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reminded 7 days before premium is due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Receivable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07:00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Pending payments move to older buckets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00:15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Expired policies appear in Open Items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 e-mails leave 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server time (Philippine time in production). The IT administrator can change a timetable, switch a job off or press Run now; every run is recorded.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Endorsement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With the premium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cancelled by endorsement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When a cancellation endorsement completes.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notice 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For policies you 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Customer accepted quotation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For quotes you created.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Customer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Your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link,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Screens are in English or Thai; Filipino is configured but has no translation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Endorsement is offered only on policies in force whose premium is not Pending or Reviewing: renew an expired policy instead.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Pick the endorsement type first, then Proceed.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Check the summary before Send to Insurance Company.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Tell Finance when an endorsement adds premium.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Start the day on Open Items.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Customer Services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&lt;service desk to be confirmed&gt;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User Access Administrator (Master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