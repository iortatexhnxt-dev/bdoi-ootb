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Customer Services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BDO Insure (BDOI)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427561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427561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Client 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96241" y="4983480"/>
            <a:ext cx="1270650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6241" y="4983480"/>
            <a:ext cx="127065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4051" y="4983480"/>
            <a:ext cx="1113739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4051" y="4983480"/>
            <a:ext cx="111373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Open items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Customer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ana.cs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customer-services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Home (business overview dashboard)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Serves clients:  </a:t>
            </a:r>
            <a:r>
              <a:rPr sz="1600">
                <a:solidFill>
                  <a:srgbClr val="1F2937"/>
                </a:solidFill>
                <a:latin typeface="Calibri"/>
              </a:rPr>
              <a:t>answers questions from the client 360 view: policies, claims, renewals, endorsements.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Changes policies:  </a:t>
            </a:r>
            <a:r>
              <a:rPr sz="1600">
                <a:solidFill>
                  <a:srgbClr val="1F2937"/>
                </a:solidFill>
                <a:latin typeface="Calibri"/>
              </a:rPr>
              <a:t>personal details and coverage endorsements, re-priced by the server.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Chases open items:  </a:t>
            </a:r>
            <a:r>
              <a:rPr sz="1600">
                <a:solidFill>
                  <a:srgbClr val="1F2937"/>
                </a:solidFill>
                <a:latin typeface="Calibri"/>
              </a:rPr>
              <a:t>expiring policies, pending payments, pending quotes, renewal requests.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Helps sell:  </a:t>
            </a:r>
            <a:r>
              <a:rPr sz="1600">
                <a:solidFill>
                  <a:srgbClr val="1F2937"/>
                </a:solidFill>
                <a:latin typeface="Calibri"/>
              </a:rPr>
              <a:t>can capture leads and quotes like Sales.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 ana.cs. Lands on Home, the business overview dashboard.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Finance (endorsement bills), insurer (endorsement request e-mail), Claims, Sales / agents.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Endorsements are sent to the insurer; extra premium is billed and receipted by Finance.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Menus and screens granted to this role (menuPermissions); anything else is hidden and blocked by the route guard and the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681478" cy="395020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2480310" cy="340156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Executive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1558" y="1645920"/>
            <a:ext cx="2681478" cy="395020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21558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8718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Product Configurator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1286" y="2121408"/>
            <a:ext cx="2480310" cy="340156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Product Templates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5916" y="1645920"/>
            <a:ext cx="2681478" cy="395020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5916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5644" y="2121408"/>
            <a:ext cx="2480310" cy="340156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Home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Leads/Prospects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Clients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Quotation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Policy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Claims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Renewals: Renewal Policy, Batch, Queue, Retention Analytics, At-Risk, Negotiations, Lapse Mgmt, Performance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Open Items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Payments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645920"/>
            <a:ext cx="2681478" cy="395020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0274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7434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0002" y="2121408"/>
            <a:ext cx="2480310" cy="340156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Operational Reports: Production, Claims, Renewal, Remittance, Broker Commission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Client 360 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Clients &gt; Andrea Villanueva — signed in as ana.cs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Clients &gt;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one client with tabs for Policy, Claim, Renewal and Endorsement.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Row actions:  </a:t>
            </a:r>
            <a:r>
              <a:rPr sz="1500">
                <a:solidFill>
                  <a:srgbClr val="1F2937"/>
                </a:solidFill>
                <a:latin typeface="Calibri"/>
              </a:rPr>
              <a:t>endorsement, claim request, renewal.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Example:  </a:t>
            </a:r>
            <a:r>
              <a:rPr sz="1500">
                <a:solidFill>
                  <a:srgbClr val="1F2937"/>
                </a:solidFill>
                <a:latin typeface="Calibri"/>
              </a:rPr>
              <a:t>POL-2026-00001, gross 40,086.27 after endorsement, payment completed.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Policy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Policy — signed in as ana.cs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all policies with premium, dates and payment status.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Status:  </a:t>
            </a:r>
            <a:r>
              <a:rPr sz="1500">
                <a:solidFill>
                  <a:srgbClr val="1F2937"/>
                </a:solidFill>
                <a:latin typeface="Calibri"/>
              </a:rPr>
              <a:t>completed, pending, expired.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Actions:  </a:t>
            </a:r>
            <a:r>
              <a:rPr sz="1500">
                <a:solidFill>
                  <a:srgbClr val="1F2937"/>
                </a:solidFill>
                <a:latin typeface="Calibri"/>
              </a:rPr>
              <a:t>open, endorse, renew; Bulk Upload and Create Policy.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Endorsement: personal details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Screen from the recorded end-to-end run — Endorsement request, personal details (END-2026-00002) — ana.cs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Policy &gt; Endorsement &gt; Personal Details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Start:  </a:t>
            </a:r>
            <a:r>
              <a:rPr sz="1500">
                <a:solidFill>
                  <a:srgbClr val="1F2937"/>
                </a:solidFill>
                <a:latin typeface="Calibri"/>
              </a:rPr>
              <a:t>choose the endorsement type first; Proceed stays disabled until you do.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Validation:  </a:t>
            </a:r>
            <a:r>
              <a:rPr sz="1500">
                <a:solidFill>
                  <a:srgbClr val="1F2937"/>
                </a:solidFill>
                <a:latin typeface="Calibri"/>
              </a:rPr>
              <a:t>required fields, mobile number and 4-digit ZIP.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the client record is updated; the owner is notified.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Endorsement: coverage change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Screen from the recorded end-to-end run — Endorsement request, coverage change (END-2026-00003) — ana.cs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Policy &gt; Endorsement &gt; Coverage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Pricing:  </a:t>
            </a:r>
            <a:r>
              <a:rPr sz="1500">
                <a:solidFill>
                  <a:srgbClr val="1F2937"/>
                </a:solidFill>
                <a:latin typeface="Calibri"/>
              </a:rPr>
              <a:t>re-priced with configured rates; the server checks the premium difference.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Example:  </a:t>
            </a:r>
            <a:r>
              <a:rPr sz="1500">
                <a:solidFill>
                  <a:srgbClr val="1F2937"/>
                </a:solidFill>
                <a:latin typeface="Calibri"/>
              </a:rPr>
              <a:t>own damage 1,400,000: gross 40,086.27, +5,010.00.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bill INV-2026-00002, journal 5,010 / 4,410 / 600, collection item.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Send:  </a:t>
            </a:r>
            <a:r>
              <a:rPr sz="1500">
                <a:solidFill>
                  <a:srgbClr val="1F2937"/>
                </a:solidFill>
                <a:latin typeface="Calibri"/>
              </a:rPr>
              <a:t>Send to Insurance Company from the summary.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Open items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Open Items — signed in as ana.cs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Open Items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expiring policies, pending payments, pending quotes and renewal requests.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Use:  </a:t>
            </a:r>
            <a:r>
              <a:rPr sz="1500">
                <a:solidFill>
                  <a:srgbClr val="1F2937"/>
                </a:solidFill>
                <a:latin typeface="Calibri"/>
              </a:rPr>
              <a:t>your daily worklist; See More opens the full list.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Source:  </a:t>
            </a:r>
            <a:r>
              <a:rPr sz="1500">
                <a:solidFill>
                  <a:srgbClr val="1F2937"/>
                </a:solidFill>
                <a:latin typeface="Calibri"/>
              </a:rPr>
              <a:t>policies, bills and renewals updated by the schedules overnight.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6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Payments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Payments — signed in as ana.cs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Payments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gross, collected, receivable premium and earned commission.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Tabs:  </a:t>
            </a:r>
            <a:r>
              <a:rPr sz="1500">
                <a:solidFill>
                  <a:srgbClr val="1F2937"/>
                </a:solidFill>
                <a:latin typeface="Calibri"/>
              </a:rPr>
              <a:t>paid, pending, processing, by policy or endorsement.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Note:  </a:t>
            </a:r>
            <a:r>
              <a:rPr sz="1500">
                <a:solidFill>
                  <a:srgbClr val="1F2937"/>
                </a:solidFill>
                <a:latin typeface="Calibri"/>
              </a:rPr>
              <a:t>receipts are posted by Finance; you see the result 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7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Expired and expiring policies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Renewals &gt; Renewal Policy — signed in as ana.cs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Renewals &gt; Renewal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active, expiring soon (0-5 days) and expired policies.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Action:  </a:t>
            </a:r>
            <a:r>
              <a:rPr sz="1500">
                <a:solidFill>
                  <a:srgbClr val="1F2937"/>
                </a:solidFill>
                <a:latin typeface="Calibri"/>
              </a:rPr>
              <a:t>call the client and start the renewal quote.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Timing:  </a:t>
            </a:r>
            <a:r>
              <a:rPr sz="1500">
                <a:solidFill>
                  <a:srgbClr val="1F2937"/>
                </a:solidFill>
                <a:latin typeface="Calibri"/>
              </a:rPr>
              <a:t>notices already went at 60 / 30 / 15 days.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LEAD TO RENEWAL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End-to-end flow: your part of the 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1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3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3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3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53411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00883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403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403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Quote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403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UW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5363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98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98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Customer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98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Client (e-mail link)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7316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4788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UW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59268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6740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892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892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9892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System at issuance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1219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0869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184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184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Receipt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184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712196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869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184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84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184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9761219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06740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892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Remittance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9892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7859268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04788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7940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Endorsement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Customer Services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5957316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283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598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598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Claim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598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Claims maker + checker</a:t>
            </a:r>
          </a:p>
        </p:txBody>
      </p:sp>
      <p:sp>
        <p:nvSpPr>
          <p:cNvPr id="57" name="Left Arrow 56"/>
          <p:cNvSpPr/>
          <p:nvPr/>
        </p:nvSpPr>
        <p:spPr>
          <a:xfrm>
            <a:off x="4055363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0883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7403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403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Renewal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403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UW / Sales + schedules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Renewal follow-up starts the next cycle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9 Endorsement: personal and coverage changes.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Extra premium goes to Finance as a bill.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1 Lead: can capture leads for Sales.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11 Renewal: chase expiring policies.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OPERATIONAL / FINANCIAL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 you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5B6778"/>
                </a:solidFill>
                <a:latin typeface="Calibri"/>
              </a:rPr>
              <a:t>Output formats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216152"/>
            <a:ext cx="614476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6144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0516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20516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PDF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0596" y="1216152"/>
            <a:ext cx="971092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0596" y="1216152"/>
            <a:ext cx="97109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On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23129" y="1216152"/>
            <a:ext cx="1470355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3129" y="1216152"/>
            <a:ext cx="14703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Scheduled e-mail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804" y="1216152"/>
            <a:ext cx="506669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Nine operational reports in your catalogue.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1783080"/>
          <a:ext cx="1127455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238"/>
                <a:gridCol w="6049759"/>
                <a:gridCol w="2841553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Production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Policies incepted in the period: premium, commission, new or renewal; by agent, insurer or branch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Production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Claims Position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Claims reported: estimate, approved, settled, age; criteria All / Open / Settled / Rejected / Aging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Claims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Renewal Retention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Renewals due: retained, lost or pending, old vs new premium, retention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Renewal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Remittance Summary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Remittances to insurers: gross premium, commission retained, net due,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Remittance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Broker Commission Statement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Commission per agent and policy: basis, rate, gross, WHT, net, paid status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Broker Commission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Premium by Product / Month /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Policy count, sum insured, premium and commission by month, product or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Executive Dashboard &gt; Export Report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New Business vs Renewals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Policies and premium split into new business and renewals per month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Executive Dashboard &gt; Export Report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Claims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Open claims by ageing bucket (30/60/90/180 days) with estimate and approved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Claims Dashboard &gt; Export Report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Lead Conversion Funnel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Leads by stage (new to converted / lost) with share and conversion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Leads &gt; Generate Report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notices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06:00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Clients get notices at 60 / 30 / 15 days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Collection reminders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08:00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Clients reminded 7 days before premium is due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Receivable ageing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07:00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Pending payments move to older buckets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Policy expiry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00:15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Expired policies appear in Open Items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E-mail outbox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5 minutes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Client e-mails leave every 5 minutes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Times are server time (Philippine time in production). The IT administrator can change a timetable, switch a job off or press Run now; every run is recorded.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Endorsement completed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With the premium 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Policy cancelled by endorsement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When a cancellation endorsement completes.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Reminder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Renewal notice 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For policies you own.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96227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7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7515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Customer accepted quotation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5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For quotes you created.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Customer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Some date pickers still show month-first dates (MM/DD/YYYY) although the configured format is DD/MM/YYYY.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 few screens use the browser’s own confirm boxes instead of in-app dialogs.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“Proceed to payment” is still offered for an endorsement with no premium change: ignore it.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Some endorsement and client headers may show an internal ID instead of the client code.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The Clients list can fail to open for this role in the current build: use Policy and open the client.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Pick the endorsement type first, then Proceed.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Check the summary before Send to Insurance Company.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Tell Finance when an endorsement adds premium.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Start the day on Open Items.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Customer Services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&lt;to be confirmed by BDOI&gt;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Your User Access Administrator (Master &gt; User Management)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