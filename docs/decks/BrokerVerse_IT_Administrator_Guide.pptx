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822960"/>
            <a:ext cx="3257935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331720"/>
            <a:ext cx="7223760" cy="13716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3800" b="1" i="0">
                <a:solidFill>
                  <a:srgbClr val="0B4F9C"/>
                </a:solidFill>
                <a:latin typeface="Calibri"/>
              </a:rPr>
              <a:t>BrokerVerse — IT Administrator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9476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0" i="0">
                <a:solidFill>
                  <a:srgbClr val="1F2937"/>
                </a:solidFill>
                <a:latin typeface="Calibri"/>
              </a:rPr>
              <a:t>Out-of-the-box functions, flows, reports and schedules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>
                <a:solidFill>
                  <a:srgbClr val="5B6778"/>
                </a:solidFill>
                <a:latin typeface="Calibri"/>
              </a:rPr>
              <a:t>BDO Insure (BDOI) insurance broking · Philippines · PHP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83480"/>
            <a:ext cx="1035283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983480"/>
            <a:ext cx="1035283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All menus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03963" y="4983480"/>
            <a:ext cx="2055205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03963" y="4983480"/>
            <a:ext cx="2055205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Settings and schedules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6329" y="4983480"/>
            <a:ext cx="1506016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96329" y="4983480"/>
            <a:ext cx="1506016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Users and roles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822960"/>
            <a:ext cx="3108960" cy="5120640"/>
          </a:xfrm>
          <a:prstGeom prst="roundRect">
            <a:avLst>
              <a:gd name="adj" fmla="val 5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10972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BFD9F5"/>
                </a:solidFill>
                <a:latin typeface="Calibri"/>
              </a:rPr>
              <a:t>THIS GUIDE IS FOR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41732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IT Administrator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51460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SIGN-IN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77063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BrokerVerse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352044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ROLE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77647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it-admin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52628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LANDS 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78231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Home (business overview dashboard)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Prepared by iorta TechNXT ·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IT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WHO YOU ARE IN BROKERVERSE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Role at a glance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667512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B4F9C"/>
                </a:solidFill>
                <a:latin typeface="Calibri"/>
              </a:rPr>
              <a:t>What you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621792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Runs the platform:  </a:t>
            </a:r>
            <a:r>
              <a:rPr sz="1600">
                <a:solidFill>
                  <a:srgbClr val="1F2937"/>
                </a:solidFill>
                <a:latin typeface="Calibri"/>
              </a:rPr>
              <a:t>users, roles, system settings, configuration values and scheduled jobs.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Keeps it safe:  </a:t>
            </a:r>
            <a:r>
              <a:rPr sz="1600">
                <a:solidFill>
                  <a:srgbClr val="1F2937"/>
                </a:solidFill>
                <a:latin typeface="Calibri"/>
              </a:rPr>
              <a:t>password policy, sign-in limits, two-factor per role, audit trail review.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Supports every persona:  </a:t>
            </a:r>
            <a:r>
              <a:rPr sz="1600">
                <a:solidFill>
                  <a:srgbClr val="1F2937"/>
                </a:solidFill>
                <a:latin typeface="Calibri"/>
              </a:rPr>
              <a:t>full menu access to reproduce and fix issues on any screen.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Owns integrations:  </a:t>
            </a:r>
            <a:r>
              <a:rPr sz="1600">
                <a:solidFill>
                  <a:srgbClr val="1F2937"/>
                </a:solidFill>
                <a:latin typeface="Calibri"/>
              </a:rPr>
              <a:t>API (543 endpoints), Postman collection, OpenAPI and the e-mail outbox.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Operates automation:  </a:t>
            </a:r>
            <a:r>
              <a:rPr sz="1600">
                <a:solidFill>
                  <a:srgbClr val="1F2937"/>
                </a:solidFill>
                <a:latin typeface="Calibri"/>
              </a:rPr>
              <a:t>nine scheduled jobs and report schedules, with Run now and run history.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325880"/>
            <a:ext cx="4325112" cy="146304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1463039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Sign-in and landing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1783080"/>
            <a:ext cx="39319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User name BrokerVerse on the BrokerVerse sign-in page. Lands on Home, the business overview dashboard. Idle sessions end after 30 minutes (setting).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2880360"/>
            <a:ext cx="4325112" cy="160020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30175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You hand work 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3337560"/>
            <a:ext cx="3931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User Access Administrators for day-to-day user requests; Business Administrator for products, masters and rates; Finance for anything posted to the ledger.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4572000"/>
            <a:ext cx="4325112" cy="160020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47091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Maker-checker partners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029200"/>
            <a:ext cx="3931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Administrator roles pass every permission check, but maker-checker still applies to vouchers, claims settlements and renewals: you cannot approve what you created.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IT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WHAT YOU SEE AFTER SIGN-IN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Menu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1">
                <a:solidFill>
                  <a:srgbClr val="5B6778"/>
                </a:solidFill>
                <a:latin typeface="Calibri"/>
              </a:rPr>
              <a:t>The it-admin role has every menu (all: true) and every read / write permission.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2681478" cy="241642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645920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45920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21408"/>
            <a:ext cx="2480310" cy="1867788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Executive Dashboard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Claims Dashboard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Underwriting Dashboard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Agent Dashboard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1558" y="1645920"/>
            <a:ext cx="2681478" cy="241642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21558" y="1645920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8718" y="1645920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Product Configurator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1286" y="2121408"/>
            <a:ext cx="2480310" cy="1867788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Dashboard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Product Templates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Coverage Builder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Rating Engine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Underwriting Rules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Document Manager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Approval Workflows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Market / Risk Mapping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Product Analytics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5916" y="1645920"/>
            <a:ext cx="2681478" cy="241642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5916" y="1645920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645920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5644" y="2121408"/>
            <a:ext cx="2480310" cy="1867788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System Settings, Configuration, Schedules, Audit Trail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Generals: Organization, Insurance Mgmt, Location, Commission, Employee Mgmt, User Mgmt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Finance: account setups, transaction codes, currency, FX, bank, accounts, taxation, petty cash, remittance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Incentive Programs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Reinsurance Treaty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0274" y="1645920"/>
            <a:ext cx="2681478" cy="241642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50274" y="1645920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7434" y="1645920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Operations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0002" y="2121408"/>
            <a:ext cx="2480310" cy="1867788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Home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Leads/Prospects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Clients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Quotation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Policy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Claims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Renewals: Renewal Policy, Batch, Queue, Retention Analytics, At-Risk, Negotiations, Lapse Mgmt, Performance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Open Items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Payments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45229"/>
            <a:ext cx="2681478" cy="197269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4245229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245229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Accounts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720717"/>
            <a:ext cx="2480310" cy="142405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Receipts, Collections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Accounting Query, All Clients Accounting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Open Entry Matching / Un-Matching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Disbursement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Petty Cash (5 screens)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Journal, Correction and Reversal JV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Remittance (17 screens)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Incentive (4 screens)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21558" y="4245229"/>
            <a:ext cx="2681478" cy="197269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321558" y="4245229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58718" y="4245229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Commission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31286" y="4720717"/>
            <a:ext cx="2480310" cy="142405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Commission Dashboard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Agents/Referrer Accounts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85916" y="4245229"/>
            <a:ext cx="2681478" cy="197269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185916" y="4245229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23076" y="4245229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Reinsurance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5644" y="4720717"/>
            <a:ext cx="2480310" cy="142405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Treaty Dashboard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Cession Tracking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Claims Recovery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Reconciliation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Analytics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50274" y="4245229"/>
            <a:ext cx="2681478" cy="197269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050274" y="4245229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87434" y="4245229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Reports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0002" y="4720717"/>
            <a:ext cx="2480310" cy="142405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Operational: Production, Claims, Renewal, Remittance, Broker Commission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Financial: SOA / Premium Receivable, Collection, Payables, Journal, Trial Balance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IT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1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Executive dashboard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Dashboard &gt; Executive Dashboard — signed in as BrokerVerse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Dashboard &gt; Executive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one view of revenue, active policies, new business and claims ratio.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Filters:  </a:t>
            </a:r>
            <a:r>
              <a:rPr sz="1500">
                <a:solidFill>
                  <a:srgbClr val="1F2937"/>
                </a:solidFill>
                <a:latin typeface="Calibri"/>
              </a:rPr>
              <a:t>date range and period; Export Report gives Premium by Product and New vs Renewals.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Source:  </a:t>
            </a:r>
            <a:r>
              <a:rPr sz="1500">
                <a:solidFill>
                  <a:srgbClr val="1F2937"/>
                </a:solidFill>
                <a:latin typeface="Calibri"/>
              </a:rPr>
              <a:t>live policies, bills and claims, so it moves as soon as a policy is issued.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Check:  </a:t>
            </a:r>
            <a:r>
              <a:rPr sz="1500">
                <a:solidFill>
                  <a:srgbClr val="1F2937"/>
                </a:solidFill>
                <a:latin typeface="Calibri"/>
              </a:rPr>
              <a:t>after a release, confirm each dashboard loads for each persona.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IT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2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User management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Master &gt; User Management &gt; User — signed in as BrokerVerse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Generals &gt; User Management &gt;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create, edit, deactivate and unlock users; assign one or more roles.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Rules:  </a:t>
            </a:r>
            <a:r>
              <a:rPr sz="1500">
                <a:solidFill>
                  <a:srgbClr val="1F2937"/>
                </a:solidFill>
                <a:latin typeface="Calibri"/>
              </a:rPr>
              <a:t>at least one role; password min 8 with upper, lower, digit and symbol; last 5 not reused; 90-day expiry.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Lockout:  </a:t>
            </a:r>
            <a:r>
              <a:rPr sz="1500">
                <a:solidFill>
                  <a:srgbClr val="1F2937"/>
                </a:solidFill>
                <a:latin typeface="Calibri"/>
              </a:rPr>
              <a:t>repeated failed sign-ins lock the user; unlock from the list (status).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Downstream:  </a:t>
            </a:r>
            <a:r>
              <a:rPr sz="1500">
                <a:solidFill>
                  <a:srgbClr val="1F2937"/>
                </a:solidFill>
                <a:latin typeface="Calibri"/>
              </a:rPr>
              <a:t>every change is written to the audit trail with before and after values.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IT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3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Roles and permissions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Master &gt; User Management &gt; Role — signed in as BrokerVerse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Generals &gt; User Management &gt; Role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the nine personas are roles: it-admin, ba, sales, underwriting, customer-services, claims, finance, agent, user-access-admin.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Permissions:  </a:t>
            </a:r>
            <a:r>
              <a:rPr sz="1500">
                <a:solidFill>
                  <a:srgbClr val="1F2937"/>
                </a:solidFill>
                <a:latin typeface="Calibri"/>
              </a:rPr>
              <a:t>read / write per module (25 modules, e.g. write:receipts, read:audit).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Scope:  </a:t>
            </a:r>
            <a:r>
              <a:rPr sz="1500">
                <a:solidFill>
                  <a:srgbClr val="1F2937"/>
                </a:solidFill>
                <a:latin typeface="Calibri"/>
              </a:rPr>
              <a:t>agents see only their own book (security.scoped_roles).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Rule:  </a:t>
            </a:r>
            <a:r>
              <a:rPr sz="1500">
                <a:solidFill>
                  <a:srgbClr val="1F2937"/>
                </a:solidFill>
                <a:latin typeface="Calibri"/>
              </a:rPr>
              <a:t>only non-system roles with no users can be deleted.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IT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4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System settings: branding and locale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Master &gt; System Settings — signed in as BrokerVerse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System Settings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application title, logo presets, favicon, theme colours.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Locale:  </a:t>
            </a:r>
            <a:r>
              <a:rPr sz="1500">
                <a:solidFill>
                  <a:srgbClr val="1F2937"/>
                </a:solidFill>
                <a:latin typeface="Calibri"/>
              </a:rPr>
              <a:t>display currency PHP, language, Philippine number grouping.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Effect:  </a:t>
            </a:r>
            <a:r>
              <a:rPr sz="1500">
                <a:solidFill>
                  <a:srgbClr val="1F2937"/>
                </a:solidFill>
                <a:latin typeface="Calibri"/>
              </a:rPr>
              <a:t>applies to every user, including the sign-in page.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Tip:  </a:t>
            </a:r>
            <a:r>
              <a:rPr sz="1500">
                <a:solidFill>
                  <a:srgbClr val="1F2937"/>
                </a:solidFill>
                <a:latin typeface="Calibri"/>
              </a:rPr>
              <a:t>use Theme preview before Save.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IT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5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Configuration: business parameters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Master &gt; Configuration — signed in as BrokerVerse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Configuration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every business value in one place, grouped in tabs (accounting, branding, claims, collections, commission, currency, e-mail, security…).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Examples:  </a:t>
            </a:r>
            <a:r>
              <a:rPr sz="1500">
                <a:solidFill>
                  <a:srgbClr val="1F2937"/>
                </a:solidFill>
                <a:latin typeface="Calibri"/>
              </a:rPr>
              <a:t>GL accounts, VAT 12%, DST, LGT 0.75%, renewal notice days 60/30/15, maker-checker switches.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Effect:  </a:t>
            </a:r>
            <a:r>
              <a:rPr sz="1500">
                <a:solidFill>
                  <a:srgbClr val="1F2937"/>
                </a:solidFill>
                <a:latin typeface="Calibri"/>
              </a:rPr>
              <a:t>changes apply immediately and are audited.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Care:  </a:t>
            </a:r>
            <a:r>
              <a:rPr sz="1500">
                <a:solidFill>
                  <a:srgbClr val="1F2937"/>
                </a:solidFill>
                <a:latin typeface="Calibri"/>
              </a:rPr>
              <a:t>change GL accounts only with Finance sign-off.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IT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6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Schedules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Master &gt; Schedules — signed in as BrokerVerse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Configuration &gt; Schedules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nine jobs: renewal notices, expiries, ageing, daily reports, e-mail outbox, reminders.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Actions:  </a:t>
            </a:r>
            <a:r>
              <a:rPr sz="1500">
                <a:solidFill>
                  <a:srgbClr val="1F2937"/>
                </a:solidFill>
                <a:latin typeface="Calibri"/>
              </a:rPr>
              <a:t>change timetable, enable / disable, Run now; results shown as “Updated: 5”.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History:  </a:t>
            </a:r>
            <a:r>
              <a:rPr sz="1500">
                <a:solidFill>
                  <a:srgbClr val="1F2937"/>
                </a:solidFill>
                <a:latin typeface="Calibri"/>
              </a:rPr>
              <a:t>last run and status per job; each run is audited.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Time:  </a:t>
            </a:r>
            <a:r>
              <a:rPr sz="1500">
                <a:solidFill>
                  <a:srgbClr val="1F2937"/>
                </a:solidFill>
                <a:latin typeface="Calibri"/>
              </a:rPr>
              <a:t>server time; set the server to Asia/Manila in production.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IT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7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Audit trail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Master &gt; Audit Trail — signed in as BrokerVerse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Configuration &gt; Audit Trail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every create, update, approval, report run and sign-in, newest first.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Filters:  </a:t>
            </a:r>
            <a:r>
              <a:rPr sz="1500">
                <a:solidFill>
                  <a:srgbClr val="1F2937"/>
                </a:solidFill>
                <a:latin typeface="Calibri"/>
              </a:rPr>
              <a:t>record type, record ID, user.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Coverage:  </a:t>
            </a:r>
            <a:r>
              <a:rPr sz="1500">
                <a:solidFill>
                  <a:srgbClr val="1F2937"/>
                </a:solidFill>
                <a:latin typeface="Calibri"/>
              </a:rPr>
              <a:t>logins, reports, jobs, endorsements, receipts, claims, vouchers, cheques, remittances, settlements.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Use:  </a:t>
            </a:r>
            <a:r>
              <a:rPr sz="1500">
                <a:solidFill>
                  <a:srgbClr val="1F2937"/>
                </a:solidFill>
                <a:latin typeface="Calibri"/>
              </a:rPr>
              <a:t>investigations, access reviews and proving maker-checker.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IT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8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Reports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Reports &gt; Operational Reports &gt; Production — signed in as BrokerVerse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Reports &gt; Operational / Financial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all 18 reports: criteria, date range, agent, company, branch, client.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Formats:  </a:t>
            </a:r>
            <a:r>
              <a:rPr sz="1500">
                <a:solidFill>
                  <a:srgbClr val="1F2937"/>
                </a:solidFill>
                <a:latin typeface="Calibri"/>
              </a:rPr>
              <a:t>CSV, XLSX (default) and PDF (A4); up to 50,000 rows.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Delivery:  </a:t>
            </a:r>
            <a:r>
              <a:rPr sz="1500">
                <a:solidFill>
                  <a:srgbClr val="1F2937"/>
                </a:solidFill>
                <a:latin typeface="Calibri"/>
              </a:rPr>
              <a:t>download links valid 72 hours; report schedules e-mail recipients.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Audit:  </a:t>
            </a:r>
            <a:r>
              <a:rPr sz="1500">
                <a:solidFill>
                  <a:srgbClr val="1F2937"/>
                </a:solidFill>
                <a:latin typeface="Calibri"/>
              </a:rPr>
              <a:t>each generated report is recorded.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IT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BACKEND/DOCS/API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API and Postman touchpoints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2681478" cy="1234440"/>
          </a:xfrm>
          <a:prstGeom prst="roundRect">
            <a:avLst>
              <a:gd name="adj" fmla="val 4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89888"/>
            <a:ext cx="2315718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000" b="1" i="0">
                <a:solidFill>
                  <a:srgbClr val="0B4F9C"/>
                </a:solidFill>
                <a:latin typeface="Calibri"/>
              </a:rPr>
              <a:t>543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231571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endpoints (GET 258, POST 198, PUT 57, DELETE 23, PATCH 7)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1558" y="1325880"/>
            <a:ext cx="2681478" cy="1234440"/>
          </a:xfrm>
          <a:prstGeom prst="roundRect">
            <a:avLst>
              <a:gd name="adj" fmla="val 4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4438" y="1389888"/>
            <a:ext cx="2315718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000" b="1" i="0">
                <a:solidFill>
                  <a:srgbClr val="0B4F9C"/>
                </a:solidFill>
                <a:latin typeface="Calibri"/>
              </a:rPr>
              <a:t>37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4438" y="2011680"/>
            <a:ext cx="231571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modules in the route registry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5916" y="1325880"/>
            <a:ext cx="2681478" cy="1234440"/>
          </a:xfrm>
          <a:prstGeom prst="roundRect">
            <a:avLst>
              <a:gd name="adj" fmla="val 4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8796" y="1389888"/>
            <a:ext cx="2315718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000" b="1" i="0">
                <a:solidFill>
                  <a:srgbClr val="0B4F9C"/>
                </a:solidFill>
                <a:latin typeface="Calibri"/>
              </a:rPr>
              <a:t>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8796" y="2011680"/>
            <a:ext cx="231571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folders in the Postman collection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0274" y="1325880"/>
            <a:ext cx="2681478" cy="1234440"/>
          </a:xfrm>
          <a:prstGeom prst="roundRect">
            <a:avLst>
              <a:gd name="adj" fmla="val 4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3154" y="1389888"/>
            <a:ext cx="2315718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000" b="1" i="0">
                <a:solidFill>
                  <a:srgbClr val="0B4F9C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3154" y="2011680"/>
            <a:ext cx="231571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OpenAPI file, generated from the code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743200"/>
            <a:ext cx="5532120" cy="342900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5292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 i="0">
                <a:solidFill>
                  <a:srgbClr val="0B4F9C"/>
                </a:solidFill>
                <a:latin typeface="Calibri"/>
              </a:rPr>
              <a:t>What you 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18688"/>
            <a:ext cx="5120640" cy="29260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6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BrokerVerse.postman_collection.json and environment (set base URL and token)</a:t>
            </a:r>
          </a:p>
          <a:p>
            <a:pPr marL="201168" indent="-182880">
              <a:spcAft>
                <a:spcPts val="6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openapi.json: every path with request and response examples</a:t>
            </a:r>
          </a:p>
          <a:p>
            <a:pPr marL="201168" indent="-182880">
              <a:spcAft>
                <a:spcPts val="6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BrokerVerse_API_Touchpoints.xlsx / .csv: endpoint, screen that calls it, permission</a:t>
            </a:r>
          </a:p>
          <a:p>
            <a:pPr marL="201168" indent="-182880">
              <a:spcAft>
                <a:spcPts val="6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Generated from the code, so it matches what is deployed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2743200"/>
            <a:ext cx="5532120" cy="342900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285292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 i="0">
                <a:solidFill>
                  <a:srgbClr val="0B4F9C"/>
                </a:solidFill>
                <a:latin typeface="Calibri"/>
              </a:rPr>
              <a:t>How to use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3218688"/>
            <a:ext cx="5120640" cy="29260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6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POST /api/auth/login returns an access token; send it as Authorization: Bearer</a:t>
            </a:r>
          </a:p>
          <a:p>
            <a:pPr marL="201168" indent="-182880">
              <a:spcAft>
                <a:spcPts val="6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Refresh with /api/auth/refresh; sign-in is rate limited per IP</a:t>
            </a:r>
          </a:p>
          <a:p>
            <a:pPr marL="201168" indent="-182880">
              <a:spcAft>
                <a:spcPts val="6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Every endpoint checks read: / write: permissions: a wrong role gets 403</a:t>
            </a:r>
          </a:p>
          <a:p>
            <a:pPr marL="201168" indent="-182880">
              <a:spcAft>
                <a:spcPts val="600"/>
              </a:spcAft>
              <a:buClr>
                <a:srgbClr val="1E88E5"/>
              </a:buClr>
              <a:buFont typeface="Arial"/>
              <a:buChar char="•"/>
            </a:pPr>
            <a:r>
              <a:rPr sz="1400">
                <a:solidFill>
                  <a:srgbClr val="1F2937"/>
                </a:solidFill>
                <a:latin typeface="Calibri"/>
              </a:rPr>
              <a:t>Useful admin calls: /api/schedules, /api/settings, /api/users, /api/reports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IT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LEAD TO RENEWAL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End-to-end flow: you configure every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1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3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3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3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Agent / Sales / CS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53411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00883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74035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4035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Quote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4035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Agent / Sales / UW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55363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02836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5988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988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Customer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988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Client (e-mail link)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57316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4788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7940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Policy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Agent / Sales / UW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859268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06740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9892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9892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Billing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9892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System at issuance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761219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108692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81844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81844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Receipt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81844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Finance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0712196" y="2551176"/>
            <a:ext cx="274320" cy="402335"/>
          </a:xfrm>
          <a:prstGeom prst="down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108692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81844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81844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Commission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81844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Finance maker + checker</a:t>
            </a:r>
          </a:p>
        </p:txBody>
      </p:sp>
      <p:sp>
        <p:nvSpPr>
          <p:cNvPr id="42" name="Left Arrow 41"/>
          <p:cNvSpPr/>
          <p:nvPr/>
        </p:nvSpPr>
        <p:spPr>
          <a:xfrm>
            <a:off x="9761219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206740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79892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9892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Remittance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9892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Finance maker + checker</a:t>
            </a:r>
          </a:p>
        </p:txBody>
      </p:sp>
      <p:sp>
        <p:nvSpPr>
          <p:cNvPr id="47" name="Left Arrow 46"/>
          <p:cNvSpPr/>
          <p:nvPr/>
        </p:nvSpPr>
        <p:spPr>
          <a:xfrm>
            <a:off x="7859268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304788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77940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77940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Endorsement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77940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Customer Services</a:t>
            </a:r>
          </a:p>
        </p:txBody>
      </p:sp>
      <p:sp>
        <p:nvSpPr>
          <p:cNvPr id="52" name="Left Arrow 51"/>
          <p:cNvSpPr/>
          <p:nvPr/>
        </p:nvSpPr>
        <p:spPr>
          <a:xfrm>
            <a:off x="5957316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402836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75988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5988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Claim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5988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Claims maker + checker</a:t>
            </a:r>
          </a:p>
        </p:txBody>
      </p:sp>
      <p:sp>
        <p:nvSpPr>
          <p:cNvPr id="57" name="Left Arrow 56"/>
          <p:cNvSpPr/>
          <p:nvPr/>
        </p:nvSpPr>
        <p:spPr>
          <a:xfrm>
            <a:off x="4055363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00883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74035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74035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Renewal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74035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UW / Sales + schedules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4361688"/>
            <a:ext cx="256032" cy="182880"/>
          </a:xfrm>
          <a:prstGeom prst="roundRect">
            <a:avLst>
              <a:gd name="adj" fmla="val 30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431596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Your steps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011680" y="4361688"/>
            <a:ext cx="256032" cy="182880"/>
          </a:xfrm>
          <a:prstGeom prst="roundRect">
            <a:avLst>
              <a:gd name="adj" fmla="val 30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31720" y="431596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Done by other personas or by the system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0" y="431596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100" b="0" i="1">
                <a:solidFill>
                  <a:srgbClr val="5B6778"/>
                </a:solidFill>
                <a:latin typeface="Calibri"/>
              </a:rPr>
              <a:t>Renewal starts the next cycle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7200" y="4709160"/>
            <a:ext cx="11274552" cy="1508760"/>
          </a:xfrm>
          <a:prstGeom prst="roundRect">
            <a:avLst>
              <a:gd name="adj" fmla="val 4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5800" y="4846320"/>
            <a:ext cx="5349240" cy="13258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Rates and taxes that price quotes come from Configuration and the Product Configurator.</a:t>
            </a:r>
          </a:p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Numbering (LD, QT, POL, INV, OR, PV, JV, CLM, END) comes from settings.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72200" y="4846320"/>
            <a:ext cx="5394960" cy="13258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Schedules drive quote and policy expiry, renewal notices, ageing and reminders.</a:t>
            </a:r>
          </a:p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Maker-checker switches (quotes, claims, finance, renewals) are settings you 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IT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REPORTS &gt; OPERATIONAL / FINANCIAL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Reports you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1615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1" i="0">
                <a:solidFill>
                  <a:srgbClr val="5B6778"/>
                </a:solidFill>
                <a:latin typeface="Calibri"/>
              </a:rPr>
              <a:t>Output formats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1216152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4519" y="12161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1216152"/>
            <a:ext cx="614476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4600" y="1216152"/>
            <a:ext cx="614476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XLSX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20516" y="1216152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20516" y="12161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PDF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60596" y="1216152"/>
            <a:ext cx="971092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0596" y="1216152"/>
            <a:ext cx="97109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On screen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23129" y="1216152"/>
            <a:ext cx="1470355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3129" y="1216152"/>
            <a:ext cx="1470355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Scheduled e-mail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804" y="1216152"/>
            <a:ext cx="506669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1">
                <a:solidFill>
                  <a:srgbClr val="5B6778"/>
                </a:solidFill>
                <a:latin typeface="Calibri"/>
              </a:rPr>
              <a:t>All 18 reports; e-mail schedules through the report schedules API.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1783080"/>
          <a:ext cx="5541262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39"/>
                <a:gridCol w="362102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Operational report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it shows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Production Register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Policies incepted in the period: premium, commission, new or renewal; by agent, insurer or branch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Claims Position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Claims reported: estimate, approved, settled, age; criteria All / Open / Settled / Rejected / Aging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Renewal Retention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Renewals due: retained, lost or pending, old vs new premium, retention rate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Remittance Summary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Remittances to insurers: gross premium, commission retained, net due, status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Broker Commission Statement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Commission per agent and policy: basis, rate, gross, WHT, net, paid status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Premium by Product / Month / Insurer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Policy count, sum insured, premium and commission by month, product or insurer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New Business vs Renewals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Policies and premium split into new business and renewals per month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Claims Ageing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Open claims by ageing bucket (30/60/90/180 days) with estimate and approved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Lead Conversion Funnel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Leads by stage (new to converted / lost) with share and conversion rate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Reinsurance Cession Register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Cessions per treaty and policy: sum insured, ceded sum and premium, share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190488" y="1783080"/>
          <a:ext cx="554126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39"/>
                <a:gridCol w="362102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Financial report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it shows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SOA / Premium Receivable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Bills issued: amount, paid, balance, age and ageing bucket as of To Date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Collection Report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Bills due: billed, collected, balance and collection rate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Receivables Ageing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Outstanding receivables by bucket (30/60/90/120 days)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Receipts Register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Official receipts: bill, policy, payment mode, bank, reference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Payables / Disbursement Register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Payment vouchers to insurers, agents, clients, vendors with approval and paid dates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Journal Register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Journal lines: account, debit, credit, memo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Trial Balance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Opening, period debits and credits, closing balance per account (approved and posted JVs)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Incentive Results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Programme target, achieved, achievement % and payout per agent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IT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CONFIGURATION &gt; SCHEDULES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Schedules and automations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25880"/>
          <a:ext cx="1127455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912"/>
                <a:gridCol w="2016586"/>
                <a:gridCol w="7058052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Job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means for you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Daily reports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Every day, 05:00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Files ready for managers each morning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Renewal pipeline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Every day, 05:30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Policies within 90 days enrolled; lapsed after 30 days grace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Renewal notices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Every day, 06:00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Notices at 60, 30 and 15 days before expiry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Receivable ageing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Every day, 07:00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Ageing buckets 30/60/90/120 refreshed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Collection reminders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Every day, 08:00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Clients reminded 7 days before due, then every 7 days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Policy expiry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Every day, 00:15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Policies past expiry marked expired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Quotation expiry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Every day, 00:30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Quotations past validity expired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E-mail outbox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Every 5 minutes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Queued e-mails delivered (needs SMTP configured)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Renewal notice queue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Every minute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Queued renewal notices sent, stale jobs retried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760720"/>
            <a:ext cx="1127455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1">
                <a:solidFill>
                  <a:srgbClr val="5B6778"/>
                </a:solidFill>
                <a:latin typeface="Calibri"/>
              </a:rPr>
              <a:t>Times are server time (Philippine time in production). The IT administrator can change a timetable, switch a job off or press Run now; every run is recorded.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IT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BELL ICON, TOP RIGHT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Notifications and approvals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149047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904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1E88E5"/>
                </a:solidFill>
                <a:latin typeface="Calibri"/>
              </a:rPr>
              <a:t>Reminder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435607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Premium overdue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74650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Collection reminders for policies you own, e.g. “Premium overdue 55 day(s)”.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2316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258775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5877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Approval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53288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Remittances awaiting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284378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Batches over an approval level land with approvers.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20439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3685031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368503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363016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Journal voucher awaiting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941063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Sent to finance approvers when a JV is submitted.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1636" y="132588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96227" y="149047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6227" y="14904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Approval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57515" y="1435607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Treaty / incentive awaiting approval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57515" y="174650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Reinsurance treaties and incentive batches need approval.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1636" y="242316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396227" y="258775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96227" y="25877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C62828"/>
                </a:solidFill>
                <a:latin typeface="Calibri"/>
              </a:rPr>
              <a:t>Alert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57515" y="253288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Petty cash below minimum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57515" y="284378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Sent to the custodian when a fund drops below its minimum.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1636" y="3520439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6227" y="3685031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6227" y="368503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E-mail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57515" y="363016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Outbox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57515" y="3941063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Customer e-mails wait in the outbox until SMTP is configured.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IT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GOOD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Known limitations and tips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32120" cy="484632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0B4F9C"/>
                </a:solidFill>
                <a:latin typeface="Calibri"/>
              </a:rPr>
              <a:t>Open items that affect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19"/>
            <a:ext cx="5074920" cy="42062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Some date pickers still show month-first dates (MM/DD/YYYY) although the configured format is DD/MM/YYYY.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A few screens use the browser’s own confirm boxes instead of in-app dialogs.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Dashboard quick actions are shown to every role even if the role cannot open the target screen.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Commission accrues to whoever created the policy, including an administrator: issue policies as the agent.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Receipts API is shared with the in-app payment step; separating it is planned.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Chart of accounts has no operating-expense accounts yet (to agree with Finance).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325880"/>
            <a:ext cx="5532120" cy="4846320"/>
          </a:xfrm>
          <a:prstGeom prst="roundRect">
            <a:avLst>
              <a:gd name="adj" fmla="val 4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463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43A047"/>
                </a:solidFill>
                <a:latin typeface="Calibri"/>
              </a:rPr>
              <a:t>Tips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1874519"/>
            <a:ext cx="5074920" cy="42062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Keep BrokerVerse for administration; use persona users for business work.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Before go-live: SMTP, server time zone, logo, GL accounts, numbering prefixes.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Use Run now on a schedule after changing its settings, then read the run history.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Review the audit trail weekly for sign-ins and approvals.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Share the Postman collection, not passwords, with integration partners.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4F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82296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051560"/>
            <a:ext cx="310279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65176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0" i="0">
                <a:solidFill>
                  <a:srgbClr val="BFD9F5"/>
                </a:solidFill>
                <a:latin typeface="Calibri"/>
              </a:rPr>
              <a:t>BrokerVerse — IT Administrator guide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0520"/>
            <a:ext cx="10698480" cy="1874519"/>
          </a:xfrm>
          <a:prstGeom prst="roundRect">
            <a:avLst>
              <a:gd name="adj" fmla="val 6000"/>
            </a:avLst>
          </a:prstGeom>
          <a:solidFill>
            <a:srgbClr val="0E5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9FC8F2"/>
                </a:solidFill>
                <a:latin typeface="Calibri"/>
              </a:rPr>
              <a:t>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17720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 desk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617720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&lt;to be confirmed by BDOI&gt;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46904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E-mail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4946904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&lt;support mailbox to be confirmed&gt;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276088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Hours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276088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&lt;business hours, Manila time, to be confirmed&gt;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605272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Access requests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605272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Your User Access Administrator (Master &gt; User Management)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BFD9F5"/>
                </a:solidFill>
                <a:latin typeface="Calibri"/>
              </a:rPr>
              <a:t>iorta TechNXT · BrokerVerse insurance-broking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