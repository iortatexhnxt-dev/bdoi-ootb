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IT Administrator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035283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35283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All menus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3963" y="4983480"/>
            <a:ext cx="2055205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3963" y="4983480"/>
            <a:ext cx="205520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Settings and schedules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329" y="4983480"/>
            <a:ext cx="1506016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329" y="4983480"/>
            <a:ext cx="150601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Users and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IT 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BrokerVerse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it-admin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Runs the platform:  </a:t>
            </a:r>
            <a:r>
              <a:rPr sz="1600">
                <a:solidFill>
                  <a:srgbClr val="1F2937"/>
                </a:solidFill>
                <a:latin typeface="Calibri"/>
              </a:rPr>
              <a:t>users, roles, system settings, configuration values and scheduled jobs.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it safe:  </a:t>
            </a:r>
            <a:r>
              <a:rPr sz="1600">
                <a:solidFill>
                  <a:srgbClr val="1F2937"/>
                </a:solidFill>
                <a:latin typeface="Calibri"/>
              </a:rPr>
              <a:t>password policy, sign-in limits, two-factor per role, sign-in history and audit trail.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Supports every persona:  </a:t>
            </a:r>
            <a:r>
              <a:rPr sz="1600">
                <a:solidFill>
                  <a:srgbClr val="1F2937"/>
                </a:solidFill>
                <a:latin typeface="Calibri"/>
              </a:rPr>
              <a:t>full menu access to reproduce and fix issues on any screen.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Owns integrations:  </a:t>
            </a:r>
            <a:r>
              <a:rPr sz="1600">
                <a:solidFill>
                  <a:srgbClr val="1F2937"/>
                </a:solidFill>
                <a:latin typeface="Calibri"/>
              </a:rPr>
              <a:t>API (543 endpoints), Postman collection, OpenAPI and the e-mail outbox.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Operates automation:  </a:t>
            </a:r>
            <a:r>
              <a:rPr sz="1600">
                <a:solidFill>
                  <a:srgbClr val="1F2937"/>
                </a:solidFill>
                <a:latin typeface="Calibri"/>
              </a:rPr>
              <a:t>nine scheduled jobs and report schedules, with Run now and run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BrokerVerse. Lands on the Executive Dashboard. Idle sessions end after 30 minutes; a password change or role change ends the other 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Access Administrators for day-to-day user requests; Business Administrator for products, masters and rates; Finance for anything posted to the ledger.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Administrator roles pass every permission check, but maker-checker still applies to vouchers, claims settlements and renewals: you cannot approve what you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The it-admin role has every menu (all: true) and every read / write permission.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Executive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Underwriting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Agent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Product Templates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Coverage Builder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Rating Engine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Underwriting Rules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Document Manager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Approval Workflows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Market / Risk Mapping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Product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System Settings, Configuration, Schedules, Audit Trail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Generals: Organization, Insurance Mgmt, Location, Commission, Employee Mgmt, User Mgmt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Finance: account setups, transaction codes, currency, FX, bank, accounts, taxation, petty cash, remittance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Incentive Programs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Reinsurance Treaty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4164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186778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Renewals: Renewal Policy, Batch, Queue, Retention Analytics, At-Risk, Negotiations, Lapse Mgmt, Performance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Disbursement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Journal, Correction and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Remittance (17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1558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8718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286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5916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6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Treaty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Cession Tracking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Claims Recovery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Reconciliation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245229"/>
            <a:ext cx="2681478" cy="197269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0274" y="4245229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7434" y="4245229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0002" y="4720717"/>
            <a:ext cx="2480310" cy="142405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All Reports: the 19 catalogue reports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Operational: Production, Claims, Renewal, Remittance, Broker Commission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900">
                <a:solidFill>
                  <a:srgbClr val="1F2937"/>
                </a:solidFill>
                <a:latin typeface="Calibri"/>
              </a:rPr>
              <a:t>Financial: SOA / Premium Receivable, Collection, Payables, Journal, Trial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Executive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Dashboard &gt; Executive Dashboard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Executive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one view of revenue, active policies, new business and claims ratio against target.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Periods:  </a:t>
            </a:r>
            <a:r>
              <a:rPr sz="1500">
                <a:solidFill>
                  <a:srgbClr val="1F2937"/>
                </a:solidFill>
                <a:latin typeface="Calibri"/>
              </a:rPr>
              <a:t>calendar month, quarter or year to date in Manila time, compared with the whole previous period.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Export Report:  </a:t>
            </a:r>
            <a:r>
              <a:rPr sz="1500">
                <a:solidFill>
                  <a:srgbClr val="1F2937"/>
                </a:solidFill>
                <a:latin typeface="Calibri"/>
              </a:rPr>
              <a:t>Production Register for the chosen dates; Settings opens System Settings.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Check:  </a:t>
            </a:r>
            <a:r>
              <a:rPr sz="1500">
                <a:solidFill>
                  <a:srgbClr val="1F2937"/>
                </a:solidFill>
                <a:latin typeface="Calibri"/>
              </a:rPr>
              <a:t>after a release, confirm each dashboard loads for each persona.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User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User list with the account actions of a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Add:  </a:t>
            </a:r>
            <a:r>
              <a:rPr sz="1500">
                <a:solidFill>
                  <a:srgbClr val="1F2937"/>
                </a:solidFill>
                <a:latin typeface="Calibri"/>
              </a:rPr>
              <a:t>leave the password empty: a temporary password is shown once and must be changed at first sign-in.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Unlock (Locked tag), Reset password, Turn off two-step verification, Sign-in history.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only an IT administrator acts on IT / business administrator accounts or on their own.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Audit:  </a:t>
            </a:r>
            <a:r>
              <a:rPr sz="1500">
                <a:solidFill>
                  <a:srgbClr val="1F2937"/>
                </a:solidFill>
                <a:latin typeface="Calibri"/>
              </a:rPr>
              <a:t>every change is written to the audit trail with before and after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Sign-in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sign-in, two-step verification code (example code)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Sign-in page; profile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Password:  </a:t>
            </a:r>
            <a:r>
              <a:rPr sz="1500">
                <a:solidFill>
                  <a:srgbClr val="1F2937"/>
                </a:solidFill>
                <a:latin typeface="Calibri"/>
              </a:rPr>
              <a:t>hidden with show / hide; min 8, upper, lower, digit, symbol; last 5 not reused; 90-day expiry.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Forgot password:  </a:t>
            </a:r>
            <a:r>
              <a:rPr sz="1500">
                <a:solidFill>
                  <a:srgbClr val="1F2937"/>
                </a:solidFill>
                <a:latin typeface="Calibri"/>
              </a:rPr>
              <a:t>e-mailed 6-digit code, valid 15 minutes; 5 wrong entries withdraw 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Two-factor:  </a:t>
            </a:r>
            <a:r>
              <a:rPr sz="1500">
                <a:solidFill>
                  <a:srgbClr val="1F2937"/>
                </a:solidFill>
                <a:latin typeface="Calibri"/>
              </a:rPr>
              <a:t>authenticator app; users turn it on in the profile menu; compulsory per role with security.require_2fa_roles.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Lockout:  </a:t>
            </a:r>
            <a:r>
              <a:rPr sz="1500">
                <a:solidFill>
                  <a:srgbClr val="1F2937"/>
                </a:solidFill>
                <a:latin typeface="Calibri"/>
              </a:rPr>
              <a:t>5 failed sign-ins lock the user; 10 attempts per 5 minutes per address and user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Roles and permissions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User Management &gt; Role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Generals &gt; User Management &gt;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the nine personas are roles: it-admin, ba, sales, underwriting, customer-services, claims, finance, agent, user-access-admin.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Permissions:  </a:t>
            </a:r>
            <a:r>
              <a:rPr sz="1500">
                <a:solidFill>
                  <a:srgbClr val="1F2937"/>
                </a:solidFill>
                <a:latin typeface="Calibri"/>
              </a:rPr>
              <a:t>read / write per module (25 modules, e.g. write:receipts, read:audit).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Scope:  </a:t>
            </a:r>
            <a:r>
              <a:rPr sz="1500">
                <a:solidFill>
                  <a:srgbClr val="1F2937"/>
                </a:solidFill>
                <a:latin typeface="Calibri"/>
              </a:rPr>
              <a:t>agents see only their own book (security.scoped_roles).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only non-system roles with no users can be deleted.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System settings: branding and locale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2907792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4279392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System Settings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System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application name, logo (standard: iorta TechNXT / BrokerVerse), favicon, theme colours.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Locale:  </a:t>
            </a:r>
            <a:r>
              <a:rPr sz="1500">
                <a:solidFill>
                  <a:srgbClr val="1F2937"/>
                </a:solidFill>
                <a:latin typeface="Calibri"/>
              </a:rPr>
              <a:t>display currency PHP, default language (English or Thai).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Effect:  </a:t>
            </a:r>
            <a:r>
              <a:rPr sz="1500">
                <a:solidFill>
                  <a:srgbClr val="1F2937"/>
                </a:solidFill>
                <a:latin typeface="Calibri"/>
              </a:rPr>
              <a:t>applies to every user, including the sign-in page.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Tip:  </a:t>
            </a:r>
            <a:r>
              <a:rPr sz="1500">
                <a:solidFill>
                  <a:srgbClr val="1F2937"/>
                </a:solidFill>
                <a:latin typeface="Calibri"/>
              </a:rPr>
              <a:t>upload your own logo and set your name before go-live.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Configuration: business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Configuration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every business value in one place, in tabs with plain names (Accounting, Claims, Security, Taxes…).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Editor:  </a:t>
            </a:r>
            <a:r>
              <a:rPr sz="1500">
                <a:solidFill>
                  <a:srgbClr val="1F2937"/>
                </a:solidFill>
                <a:latin typeface="Calibri"/>
              </a:rPr>
              <a:t>lists as “a, b, c”, lists of records as a small table, e-mail templates in a text box.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Examples:  </a:t>
            </a:r>
            <a:r>
              <a:rPr sz="1500">
                <a:solidFill>
                  <a:srgbClr val="1F2937"/>
                </a:solidFill>
                <a:latin typeface="Calibri"/>
              </a:rPr>
              <a:t>GL accounts, VAT 12%, DST, LGT 0.75%, notice days 60/30/15, maker-checker switches.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Effect:  </a:t>
            </a:r>
            <a:r>
              <a:rPr sz="1500">
                <a:solidFill>
                  <a:srgbClr val="1F2937"/>
                </a:solidFill>
                <a:latin typeface="Calibri"/>
              </a:rPr>
              <a:t>changes apply immediately and are audited; change GL accounts only with Finance.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Schedules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nine jobs: renewal notices, expiries, ageing, daily reports, e-mail outbox, reminders.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change timetable, enable / disable, Run now; results shown as “Updated: 5”.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History:  </a:t>
            </a:r>
            <a:r>
              <a:rPr sz="1500">
                <a:solidFill>
                  <a:srgbClr val="1F2937"/>
                </a:solidFill>
                <a:latin typeface="Calibri"/>
              </a:rPr>
              <a:t>last run and status per job; each run is audited.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Time:  </a:t>
            </a:r>
            <a:r>
              <a:rPr sz="1500">
                <a:solidFill>
                  <a:srgbClr val="1F2937"/>
                </a:solidFill>
                <a:latin typeface="Calibri"/>
              </a:rPr>
              <a:t>Manila time; with several API servers each run happens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Master &gt; Audit Trail — signed in as BrokerVerse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every create, update, approval, report run and sign-in, newest first.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Filters: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type, record ID, user.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Coverage:  </a:t>
            </a:r>
            <a:r>
              <a:rPr sz="1500">
                <a:solidFill>
                  <a:srgbClr val="1F2937"/>
                </a:solidFill>
                <a:latin typeface="Calibri"/>
              </a:rPr>
              <a:t>logins, reports, jobs, endorsements, receipts, claims, vouchers, cheques, remittances, settlements.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Use:  </a:t>
            </a:r>
            <a:r>
              <a:rPr sz="1500">
                <a:solidFill>
                  <a:srgbClr val="1F2937"/>
                </a:solidFill>
                <a:latin typeface="Calibri"/>
              </a:rPr>
              <a:t>investigations, access reviews and proving maker-checker.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865466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792314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Reports &gt; All Reports (all 19 reports, administrator)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Catalogue:  </a:t>
            </a:r>
            <a:r>
              <a:rPr sz="1500">
                <a:solidFill>
                  <a:srgbClr val="1F2937"/>
                </a:solidFill>
                <a:latin typeface="Calibri"/>
              </a:rPr>
              <a:t>every report the role may run, grouped Operational / Financial, with search.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Report screen:  </a:t>
            </a:r>
            <a:r>
              <a:rPr sz="1500">
                <a:solidFill>
                  <a:srgbClr val="1F2937"/>
                </a:solidFill>
                <a:latin typeface="Calibri"/>
              </a:rPr>
              <a:t>criteria, From / To dates, filters used by the criteria, Preview on screen.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Formats:  </a:t>
            </a:r>
            <a:r>
              <a:rPr sz="1500">
                <a:solidFill>
                  <a:srgbClr val="1F2937"/>
                </a:solidFill>
                <a:latin typeface="Calibri"/>
              </a:rPr>
              <a:t>CSV, Excel (XLSX) or PDF; up to 50,000 rows; links valid 72 hours.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Schedules:  </a:t>
            </a:r>
            <a:r>
              <a:rPr sz="1500">
                <a:solidFill>
                  <a:srgbClr val="1F2937"/>
                </a:solidFill>
                <a:latin typeface="Calibri"/>
              </a:rPr>
              <a:t>report schedules e-mail recipients; each generated file is audited.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BACKEND/DOCS/API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API and Postman touchpoints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543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endpoints (GET 258, POST 198, PUT 57, DELETE 23, PATCH 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1558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4438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4438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modules in the route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folders in the Postman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0274" y="1325880"/>
            <a:ext cx="2681478" cy="1234440"/>
          </a:xfrm>
          <a:prstGeom prst="roundRect">
            <a:avLst>
              <a:gd name="adj" fmla="val 4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3154" y="1389888"/>
            <a:ext cx="231571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 i="0">
                <a:solidFill>
                  <a:srgbClr val="0B4F9C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3154" y="2011680"/>
            <a:ext cx="231571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OpenAPI file, generated from the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5532120" cy="3429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529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B4F9C"/>
                </a:solidFill>
                <a:latin typeface="Calibri"/>
              </a:rPr>
              <a:t>What you 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120640" cy="29260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BrokerVerse.postman_collection.json and environment (set base URL and token)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openapi.json: every path with request and response examples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BrokerVerse_API_Touchpoints.xlsx / .csv: endpoint, screen that calls it, permission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Generated from the code, so it matches what is deployed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743200"/>
            <a:ext cx="5532120" cy="3429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8529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B4F9C"/>
                </a:solidFill>
                <a:latin typeface="Calibri"/>
              </a:rPr>
              <a:t>How to use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18688"/>
            <a:ext cx="5120640" cy="29260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POST /api/auth/login returns an access token; send it as Authorization: Bearer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Refresh with /api/auth/refresh; sign-in and requests are rate limited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Every endpoint checks read: / write: permissions: a wrong role gets 403</a:t>
            </a:r>
          </a:p>
          <a:p>
            <a:pPr marL="201168" indent="-182880">
              <a:spcAft>
                <a:spcPts val="600"/>
              </a:spcAft>
              <a:buClr>
                <a:srgbClr val="1E88E5"/>
              </a:buClr>
              <a:buFont typeface="Arial"/>
              <a:buChar char="•"/>
            </a:pPr>
            <a:r>
              <a:rPr sz="1400">
                <a:solidFill>
                  <a:srgbClr val="1F2937"/>
                </a:solidFill>
                <a:latin typeface="Calibri"/>
              </a:rPr>
              <a:t>Useful admin calls: /api/schedules, /api/settings, /api/users, /api/reports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 configure every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starts the next 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Rates and taxes that price quotes come from Configuration and the Product Configurator.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Numbering (LD, QT, POL, INV, OR, PV, JV, CLM, END) comes from settings.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Schedules drive quote and policy expiry, renewal notices, ageing and reminders.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Maker-checker switches (quotes, claims, finance, renewals) are settings you 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All 19 reports; e-mail schedules through the report schedules API.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554126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Operational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Leads by stage (new to converted / lost) with share and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Reinsurance Cession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Cessions per treaty and policy: sum insured, ceded sum and premium,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90488" y="1783080"/>
          <a:ext cx="554126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Financial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SOA / Premium Receivable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issued: amount, paid, balance, age and ageing bucket as of To Date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Collection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due: billed, collected, balance and collection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Receivables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Outstanding receivables by bucket (30/60/90/120 days)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Commission Receivable – Direct Bill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Commission and VAT due from insurers on direct-bill policies, with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Receipts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Official receipts: bill, policy, payment mode, bank, reference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Payables / Disbursement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Payment vouchers to insurers, agents, clients, vendors with approval and paid dates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Journal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Journal lines: account, debit, credit, memo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Trial Balance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Opening, period debits and credits, closing balance per account (approved and posted JVs)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Incentive Results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Programme target, achieved, achievement % and payout per agent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Files ready for managers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within 90 days enrolled; lapsed after 30 days grace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Notices at 60, 30 and 15 days before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07:00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Ageing buckets 30/60/90/120 refreshed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Clients reminded 7 days before due, then every 7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past expiry marked expired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day,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Quotations past validity expired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Queued e-mails delivered (needs SMTP configured)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notice queue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Every minute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Queued renewal notices sent, stale jobs retried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6072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Premium overdue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Collection reminders for policies you own, e.g. “Premium overdue 55 day(s)”.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Remittances awaiting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Batches over an approval level land with approvers.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awaiting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Sent to finance approvers when a JV is submitted.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/ incentive awaiting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Reinsurance treaties and incentive batches need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Petty cash below minimum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Sent to the custodian when a fund drops below its minimum.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Outbox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Customer e-mails wait in the outbox until SMTP is configured.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IT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Your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link,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Sign-in and request rate limits are counted per API server; with several servers, add a limit at the load balancer.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Screens are in English or Thai; Filipino is configured but has no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database queries use the database’s own date: set the PostgreSQL time zone to Asia/Manila.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BrokerVerse for administration; use persona users for business work.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Before go-live: SMTP, Manila time zone on API and database, your logo and name, GL accounts, numbering.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Run now on a schedule after changing its settings, then read the run history.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Review the audit trail weekly for sign-ins and approvals.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Share the Postman collection, not passwords, with integration partners.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IT Administrator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&lt;service desk to be confirmed&gt;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