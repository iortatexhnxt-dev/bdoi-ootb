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402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guide for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Functions, flows, reports and schedules of 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584472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58447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Client servicing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3152" y="498348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3152" y="4983480"/>
            <a:ext cx="1898294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Endorsement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8606" y="4983480"/>
            <a:ext cx="1113739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8606" y="4983480"/>
            <a:ext cx="111373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Open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25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942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Operations (Client Servicing)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791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16936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ana.cs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4670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844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01421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2519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Executive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Serves clients:  </a:t>
            </a:r>
            <a:r>
              <a:rPr sz="1600">
                <a:solidFill>
                  <a:srgbClr val="1F2937"/>
                </a:solidFill>
                <a:latin typeface="Calibri"/>
              </a:rPr>
              <a:t>finds the client and answers from one view of policies, claims, renewals and endorsements.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Raises endorsements:  </a:t>
            </a:r>
            <a:r>
              <a:rPr sz="1600">
                <a:solidFill>
                  <a:srgbClr val="1F2937"/>
                </a:solidFill>
                <a:latin typeface="Calibri"/>
              </a:rPr>
              <a:t>personal details, vehicle and coverage changes, extensions and cancellations.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Captures payments:  </a:t>
            </a:r>
            <a:r>
              <a:rPr sz="1600">
                <a:solidFill>
                  <a:srgbClr val="1F2937"/>
                </a:solidFill>
                <a:latin typeface="Calibri"/>
              </a:rPr>
              <a:t>records how the client paid, for Accounting to verify.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Chases open items:  </a:t>
            </a:r>
            <a:r>
              <a:rPr sz="1600">
                <a:solidFill>
                  <a:srgbClr val="1F2937"/>
                </a:solidFill>
                <a:latin typeface="Calibri"/>
              </a:rPr>
              <a:t>expiring policies, pending payments, pending quotes and renewal requests.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Renews:  </a:t>
            </a:r>
            <a:r>
              <a:rPr sz="1600">
                <a:solidFill>
                  <a:srgbClr val="1F2937"/>
                </a:solidFill>
                <a:latin typeface="Calibri"/>
              </a:rPr>
              <a:t>starts renewal quotations and works the renewal screens with Sales.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ana.cs. Lands on the Executive Dashboard. Start the day on Operations &gt; Open Items.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Processing Team (completes endorsements with the insurer’s document), Accounting (verifies payments), Claims, Sales &amp; Marketing.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Your renewal terms go to the Processing Team for approval. Endorsements become final only when the Processing Team completes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granted to operations in menuPermissions.js. The role walk opened 27 screens.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81478" cy="376859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2480310" cy="321995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Executive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1558" y="1645920"/>
            <a:ext cx="2681478" cy="376859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558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718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Product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286" y="2121408"/>
            <a:ext cx="2480310" cy="321995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Product Templates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645920"/>
            <a:ext cx="2681478" cy="376859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5916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121408"/>
            <a:ext cx="2480310" cy="321995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Broker Slips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Placement Slips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Renewals (8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645920"/>
            <a:ext cx="2681478" cy="376859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0274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7434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121408"/>
            <a:ext cx="2480310" cy="321995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All Reports (11 reports)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Operational Reports: Production, Claims, Renewal,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Open items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Open Items.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Open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Boxes:  </a:t>
            </a:r>
            <a:r>
              <a:rPr sz="1500">
                <a:solidFill>
                  <a:srgbClr val="1F2937"/>
                </a:solidFill>
                <a:latin typeface="Calibri"/>
              </a:rPr>
              <a:t>Expiring Policy, Pending Payments, Quote Pending and Renewal Request.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See More:  </a:t>
            </a:r>
            <a:r>
              <a:rPr sz="1500">
                <a:solidFill>
                  <a:srgbClr val="1F2937"/>
                </a:solidFill>
                <a:latin typeface="Calibri"/>
              </a:rPr>
              <a:t>opens the full list of a box.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Source:  </a:t>
            </a:r>
            <a:r>
              <a:rPr sz="1500">
                <a:solidFill>
                  <a:srgbClr val="1F2937"/>
                </a:solidFill>
                <a:latin typeface="Calibri"/>
              </a:rPr>
              <a:t>policies, bills and renewals, refreshed by the overnight jobs.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Use:  </a:t>
            </a:r>
            <a:r>
              <a:rPr sz="1500">
                <a:solidFill>
                  <a:srgbClr val="1F2937"/>
                </a:solidFill>
                <a:latin typeface="Calibri"/>
              </a:rPr>
              <a:t>your daily worklist.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Client 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Clients &gt; client.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Find:  </a:t>
            </a:r>
            <a:r>
              <a:rPr sz="1500">
                <a:solidFill>
                  <a:srgbClr val="1F2937"/>
                </a:solidFill>
                <a:latin typeface="Calibri"/>
              </a:rPr>
              <a:t>tabs All, Individual, Corporate, or search by name.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Tabs:  </a:t>
            </a:r>
            <a:r>
              <a:rPr sz="1500">
                <a:solidFill>
                  <a:srgbClr val="1F2937"/>
                </a:solidFill>
                <a:latin typeface="Calibri"/>
              </a:rPr>
              <a:t>Policy, Claim, Renewal and Endorsement.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Client code:  </a:t>
            </a:r>
            <a:r>
              <a:rPr sz="1500">
                <a:solidFill>
                  <a:srgbClr val="1F2937"/>
                </a:solidFill>
                <a:latin typeface="Calibri"/>
              </a:rPr>
              <a:t>CL- is created when the first policy is issued.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Corrections:  </a:t>
            </a:r>
            <a:r>
              <a:rPr sz="1500">
                <a:solidFill>
                  <a:srgbClr val="1F2937"/>
                </a:solidFill>
                <a:latin typeface="Calibri"/>
              </a:rPr>
              <a:t>name or address on an issued policy: raise a Personal Details Change endorsement.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Policy list and row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Policy, row actions.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List:  </a:t>
            </a:r>
            <a:r>
              <a:rPr sz="1500">
                <a:solidFill>
                  <a:srgbClr val="1F2937"/>
                </a:solidFill>
                <a:latin typeface="Calibri"/>
              </a:rPr>
              <a:t>policy number, client, gross premium, dates, product, payment status.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Row menu:  </a:t>
            </a:r>
            <a:r>
              <a:rPr sz="1500">
                <a:solidFill>
                  <a:srgbClr val="1F2937"/>
                </a:solidFill>
                <a:latin typeface="Calibri"/>
              </a:rPr>
              <a:t>Claim, Endorsement, Reminder.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Disabled:  </a:t>
            </a:r>
            <a:r>
              <a:rPr sz="1500">
                <a:solidFill>
                  <a:srgbClr val="1F2937"/>
                </a:solidFill>
                <a:latin typeface="Calibri"/>
              </a:rPr>
              <a:t>while payment is Pending or Reviewing.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Not offered:  </a:t>
            </a:r>
            <a:r>
              <a:rPr sz="1500">
                <a:solidFill>
                  <a:srgbClr val="1F2937"/>
                </a:solidFill>
                <a:latin typeface="Calibri"/>
              </a:rPr>
              <a:t>Endorsement on expired, lapsed, cancelled or renewed policies.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Policy details and documents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Policy Details.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Policy &gt;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Sections:  </a:t>
            </a:r>
            <a:r>
              <a:rPr sz="1500">
                <a:solidFill>
                  <a:srgbClr val="1F2937"/>
                </a:solidFill>
                <a:latin typeface="Calibri"/>
              </a:rPr>
              <a:t>policy, insured, vehicle and photos, coverage, premium breakdown.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Participants:  </a:t>
            </a:r>
            <a:r>
              <a:rPr sz="1500">
                <a:solidFill>
                  <a:srgbClr val="1F2937"/>
                </a:solidFill>
                <a:latin typeface="Calibri"/>
              </a:rPr>
              <a:t>each insurer with its share on a co-insured policy.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Documents &amp; Billing:  </a:t>
            </a:r>
            <a:r>
              <a:rPr sz="1500">
                <a:solidFill>
                  <a:srgbClr val="1F2937"/>
                </a:solidFill>
                <a:latin typeface="Calibri"/>
              </a:rPr>
              <a:t>Generate Policy Invoice, Premium Accounting Entries, the policy document.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Payment:  </a:t>
            </a:r>
            <a:r>
              <a:rPr sz="1500">
                <a:solidFill>
                  <a:srgbClr val="1F2937"/>
                </a:solidFill>
                <a:latin typeface="Calibri"/>
              </a:rPr>
              <a:t>Proceed to Payment while premium is due.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Record the client’s payment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081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Policy &gt; Proceed to Payment.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Policy &gt; Proceed to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How paid:  </a:t>
            </a:r>
            <a:r>
              <a:rPr sz="1500">
                <a:solidFill>
                  <a:srgbClr val="1F2937"/>
                </a:solidFill>
                <a:latin typeface="Calibri"/>
              </a:rPr>
              <a:t>Pay later, Bank transfer, Cheque, Online payment or Cash.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Details:  </a:t>
            </a:r>
            <a:r>
              <a:rPr sz="1500">
                <a:solidFill>
                  <a:srgbClr val="1F2937"/>
                </a:solidFill>
                <a:latin typeface="Calibri"/>
              </a:rPr>
              <a:t>reference, amount, date, remarks, proof of payment.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Result:  </a:t>
            </a:r>
            <a:r>
              <a:rPr sz="1500">
                <a:solidFill>
                  <a:srgbClr val="1F2937"/>
                </a:solidFill>
                <a:latin typeface="Calibri"/>
              </a:rPr>
              <a:t>payment status Reviewing; Accounting receives Premium payment to verify.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Receipt:  </a:t>
            </a:r>
            <a:r>
              <a:rPr sz="1500">
                <a:solidFill>
                  <a:srgbClr val="1F2937"/>
                </a:solidFill>
                <a:latin typeface="Calibri"/>
              </a:rPr>
              <a:t>Accounting confirms and posts the official receipt, or rejects with a reason.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Choose the endorsement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Policy &gt; Endorsement, type.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Policy &gt; three dots &gt; Endorsement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Motor:  </a:t>
            </a:r>
            <a:r>
              <a:rPr sz="1500">
                <a:solidFill>
                  <a:srgbClr val="1F2937"/>
                </a:solidFill>
                <a:latin typeface="Calibri"/>
              </a:rPr>
              <a:t>Personal Details, Motor Details, Coverage Change, Policy Extend, Policy Cancel.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Fire:  </a:t>
            </a:r>
            <a:r>
              <a:rPr sz="1500">
                <a:solidFill>
                  <a:srgbClr val="1F2937"/>
                </a:solidFill>
                <a:latin typeface="Calibri"/>
              </a:rPr>
              <a:t>Regular / Premium Change, Policy Cancellation (full, partial, pro-rata).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Proceed:  </a:t>
            </a:r>
            <a:r>
              <a:rPr sz="1500">
                <a:solidFill>
                  <a:srgbClr val="1F2937"/>
                </a:solidFill>
                <a:latin typeface="Calibri"/>
              </a:rPr>
              <a:t>stays disabled until you tick a type.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Number:  </a:t>
            </a:r>
            <a:r>
              <a:rPr sz="1500">
                <a:solidFill>
                  <a:srgbClr val="1F2937"/>
                </a:solidFill>
                <a:latin typeface="Calibri"/>
              </a:rPr>
              <a:t>END- when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Coverage change, priced again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081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Endorsement request, coverage change.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Endorsement Request &gt; Coverage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Recalculated:  </a:t>
            </a:r>
            <a:r>
              <a:rPr sz="1500">
                <a:solidFill>
                  <a:srgbClr val="1F2937"/>
                </a:solidFill>
                <a:latin typeface="Calibri"/>
              </a:rPr>
              <a:t>net premium, VAT, DST, LGT, gross premium and Premium change.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CTPL:  </a:t>
            </a:r>
            <a:r>
              <a:rPr sz="1500">
                <a:solidFill>
                  <a:srgbClr val="1F2937"/>
                </a:solidFill>
                <a:latin typeface="Calibri"/>
              </a:rPr>
              <a:t>stays as issued.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Send:  </a:t>
            </a:r>
            <a:r>
              <a:rPr sz="1500">
                <a:solidFill>
                  <a:srgbClr val="1F2937"/>
                </a:solidFill>
                <a:latin typeface="Calibri"/>
              </a:rPr>
              <a:t>Save &amp; Next, check the summary, Send to Insurance Company.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Money:  </a:t>
            </a:r>
            <a:r>
              <a:rPr sz="1500">
                <a:solidFill>
                  <a:srgbClr val="1F2937"/>
                </a:solidFill>
                <a:latin typeface="Calibri"/>
              </a:rPr>
              <a:t>additional premium is billed when the Processing Team completes the endorsement.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Renewal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Renewals &gt; Renewal Policy.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Renewals &gt; Renewal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Shows:  </a:t>
            </a:r>
            <a:r>
              <a:rPr sz="1500">
                <a:solidFill>
                  <a:srgbClr val="1F2937"/>
                </a:solidFill>
                <a:latin typeface="Calibri"/>
              </a:rPr>
              <a:t>active, expiring and expired policies.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Renew:  </a:t>
            </a:r>
            <a:r>
              <a:rPr sz="1500">
                <a:solidFill>
                  <a:srgbClr val="1F2937"/>
                </a:solidFill>
                <a:latin typeface="Calibri"/>
              </a:rPr>
              <a:t>three dots &gt; Renewal opens a quotation with the covers of the expiring term.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Then:  </a:t>
            </a:r>
            <a:r>
              <a:rPr sz="1500">
                <a:solidFill>
                  <a:srgbClr val="1F2937"/>
                </a:solidFill>
                <a:latin typeface="Calibri"/>
              </a:rPr>
              <a:t>Calculate, Completed Quote, send for customer approval, Proceed to Policy.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Result:  </a:t>
            </a:r>
            <a:r>
              <a:rPr sz="1500">
                <a:solidFill>
                  <a:srgbClr val="1F2937"/>
                </a:solidFill>
                <a:latin typeface="Calibri"/>
              </a:rPr>
              <a:t>new term issued, old policy Renewed, premium billed.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9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Lapse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Renewals &gt; Lapse Management.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Renewals &gt; Lapse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Grace:  </a:t>
            </a:r>
            <a:r>
              <a:rPr sz="1500">
                <a:solidFill>
                  <a:srgbClr val="1F2937"/>
                </a:solidFill>
                <a:latin typeface="Calibri"/>
              </a:rPr>
              <a:t>an unrenewed policy lapses 30 days after expiry (renewals.grace_period_days).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Shows:  </a:t>
            </a:r>
            <a:r>
              <a:rPr sz="1500">
                <a:solidFill>
                  <a:srgbClr val="1F2937"/>
                </a:solidFill>
                <a:latin typeface="Calibri"/>
              </a:rPr>
              <a:t>lapsed policies, policies in the grace period and win-back campaigns.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Batch:  </a:t>
            </a:r>
            <a:r>
              <a:rPr sz="1500">
                <a:solidFill>
                  <a:srgbClr val="1F2937"/>
                </a:solidFill>
                <a:latin typeface="Calibri"/>
              </a:rPr>
              <a:t>Renewal Batch sends notices for up to 500 policies together.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Queue:  </a:t>
            </a:r>
            <a:r>
              <a:rPr sz="1500">
                <a:solidFill>
                  <a:srgbClr val="1F2937"/>
                </a:solidFill>
                <a:latin typeface="Calibri"/>
              </a:rPr>
              <a:t>Renewal Queue lists days to expiry, risk and contact attempts.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10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Payments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50234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442919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0079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Payments.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Figures:  </a:t>
            </a:r>
            <a:r>
              <a:rPr sz="1500">
                <a:solidFill>
                  <a:srgbClr val="1F2937"/>
                </a:solidFill>
                <a:latin typeface="Calibri"/>
              </a:rPr>
              <a:t>gross premium, collected premium, receivables and earned commission.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Tabs:  </a:t>
            </a:r>
            <a:r>
              <a:rPr sz="1500">
                <a:solidFill>
                  <a:srgbClr val="1F2937"/>
                </a:solidFill>
                <a:latin typeface="Calibri"/>
              </a:rPr>
              <a:t>Paid, Pending, Reviewing.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Type:  </a:t>
            </a:r>
            <a:r>
              <a:rPr sz="1500">
                <a:solidFill>
                  <a:srgbClr val="1F2937"/>
                </a:solidFill>
                <a:latin typeface="Calibri"/>
              </a:rPr>
              <a:t>policy, renewal or endorsement; DIRECT BILL for bills cancelled by direct billing.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Note:  </a:t>
            </a:r>
            <a:r>
              <a:rPr sz="1500">
                <a:solidFill>
                  <a:srgbClr val="1F2937"/>
                </a:solidFill>
                <a:latin typeface="Calibri"/>
              </a:rPr>
              <a:t>Accounting posts the receipts; this screen shows the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Sales, Operations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7452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1226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541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Broker Slip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29584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67328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Quotation Slip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Sales, Processing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84648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22392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5544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Placement Slip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39712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77456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Policy 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494776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3252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567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Payment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14984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8758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Official receipt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10922507" y="2532888"/>
            <a:ext cx="274320" cy="237744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8758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073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073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4244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10149840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732520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5672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5672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Remittance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8494776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77456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50608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Endorsement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Operations, Processing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6839712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422392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95544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95544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Claim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77256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Claims, two users</a:t>
            </a:r>
          </a:p>
        </p:txBody>
      </p:sp>
      <p:sp>
        <p:nvSpPr>
          <p:cNvPr id="62" name="Left Arrow 61"/>
          <p:cNvSpPr/>
          <p:nvPr/>
        </p:nvSpPr>
        <p:spPr>
          <a:xfrm>
            <a:off x="5184648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767328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0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Renewal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22192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67" name="Left Arrow 66"/>
          <p:cNvSpPr/>
          <p:nvPr/>
        </p:nvSpPr>
        <p:spPr>
          <a:xfrm>
            <a:off x="3529584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11226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8541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8541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Month-end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6712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Acct. Manager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4206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01168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3172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2062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Renewal follow-up starts the next cycle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57200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4709160"/>
            <a:ext cx="534924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 Lead: you can record prospects like Sales.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6 Payment capture: record how the client paid.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4709160"/>
            <a:ext cx="539496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10 Endorsement: raise the request; Processing completes it.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12 Renewal: chase expiring policies.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 (11)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82844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82844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0483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0483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158" y="1216152"/>
            <a:ext cx="520933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Eleven operational reports in Reports &gt; All Reports.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37360"/>
          <a:ext cx="11274551" cy="4434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216"/>
                <a:gridCol w="8341335"/>
              </a:tblGrid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renewal, billing mode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New business and renewals by month or agent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Lead Conversion Funnel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Leads by stage with the conversion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Placement Pipeline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Broker Slips and Placement Slips of the period with status, lead insurer, premium and age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Market Response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Insurers approached: offers, declines, pending, response days and hit ratio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 and age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and the retention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commission, net due,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956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notices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06:00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get notices at 60, 30 and 15 days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08:00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reminded 7 days before premium is due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Receivable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07:00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Pending payments move to older buckets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Policy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00:15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Expired policies show in Open Items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pipeline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05:30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Policies within 90 days enter the renewal queue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E-mail outbox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 e-mails leave every 5 minutes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6636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Manila time (general.timezone). The System Administrator changes a timetable, switches a job on or off, or runs it now; every run is recorded.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Endorsement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With the premium change, for policies you 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Policy cancelled by endorsement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When a cancellation is completed.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notice reminders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For each notice on your policies.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Customer accepted quotation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For quotations you created.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Premium overdue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For policies you own.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Policy lapsed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No renewal within the grace period.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sign-in session is kept in the browser’s local storage: sign out on shared computers and keep the browser up to date.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Two-factor set-up shows a setup key and an app link but no QR code: type the key into the authenticator app.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Filipino is configured as a language but has no screen translation yet.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Endorsement is offered only on policies in force whose premium is not Pending or Reviewing: renew an expired policy instead.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Pick the endorsement type first, then Proceed.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Attach proof of payment when you record it.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Start the day on Open Items.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Tell the Processing Team when the insurer’s endorsement arrives.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guide for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First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key user of your team: how-to questions, checking that a role or setting is not the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7258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Second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67258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Administrator: users, roles, passwords, two-step resets, settings and 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0176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Third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00176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iorta TechNXT production support, raised by the System Administrator through the support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3095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3095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 (Master &gt; Generals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78424"/>
            <a:ext cx="1024128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BFD9F5"/>
                </a:solidFill>
                <a:latin typeface="Calibri"/>
              </a:rPr>
              <a:t>When you report a problem, give the menu path, the record number, the time, your user ID, the message and its request ID. Never send a password or a two-step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 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