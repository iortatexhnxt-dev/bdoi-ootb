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3257935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240280"/>
            <a:ext cx="7223760" cy="146304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3800" b="1" i="0">
                <a:solidFill>
                  <a:srgbClr val="0B4F9C"/>
                </a:solidFill>
                <a:latin typeface="Calibri"/>
              </a:rPr>
              <a:t>BrokerVerse guide for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94760"/>
            <a:ext cx="72237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000" b="0" i="0">
                <a:solidFill>
                  <a:srgbClr val="1F2937"/>
                </a:solidFill>
                <a:latin typeface="Calibri"/>
              </a:rPr>
              <a:t>Functions, flows, reports and schedules of your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223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0" i="0">
                <a:solidFill>
                  <a:srgbClr val="5B6778"/>
                </a:solidFill>
                <a:latin typeface="Calibri"/>
              </a:rPr>
              <a:t>BrokerVerse OOTB · insurance broking · Philippines · PHP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83480"/>
            <a:ext cx="2369027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83480"/>
            <a:ext cx="2369027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Broker and placement slips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7707" y="4983480"/>
            <a:ext cx="1270650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7707" y="4983480"/>
            <a:ext cx="127065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Policy issue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5517" y="4983480"/>
            <a:ext cx="1270650" cy="292608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517" y="4983480"/>
            <a:ext cx="127065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100" b="1" i="0">
                <a:solidFill>
                  <a:srgbClr val="0B4F9C"/>
                </a:solidFill>
                <a:latin typeface="Calibri"/>
              </a:rPr>
              <a:t>Co-insurance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822960"/>
            <a:ext cx="3108960" cy="5120640"/>
          </a:xfrm>
          <a:prstGeom prst="roundRect">
            <a:avLst>
              <a:gd name="adj" fmla="val 5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0515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BFD9F5"/>
                </a:solidFill>
                <a:latin typeface="Calibri"/>
              </a:rPr>
              <a:t>THIS GUIDE IS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13258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Processing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011680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24942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Processing Team (Placement &amp; Policy Processing)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907792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SIGN-IN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3145536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jose.uw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575304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ROLE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813048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242816"/>
            <a:ext cx="256032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9FC8F2"/>
                </a:solidFill>
                <a:latin typeface="Calibri"/>
              </a:rPr>
              <a:t>LANDS 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48056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Executive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Prepared by iorta TechNXT ·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WHO YOU ARE IN BROKERVERSE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Role at a glance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6675120" cy="4846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0B4F9C"/>
                </a:solidFill>
                <a:latin typeface="Calibri"/>
              </a:rPr>
              <a:t>What you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6217920" cy="41148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Markets risks:  </a:t>
            </a:r>
            <a:r>
              <a:rPr sz="1600">
                <a:solidFill>
                  <a:srgbClr val="1F2937"/>
                </a:solidFill>
                <a:latin typeface="Calibri"/>
              </a:rPr>
              <a:t>Broker Slips to several insurers, offers and declines recorded, offers compared.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Binds cover:  </a:t>
            </a:r>
            <a:r>
              <a:rPr sz="1600">
                <a:solidFill>
                  <a:srgbClr val="1F2937"/>
                </a:solidFill>
                <a:latin typeface="Calibri"/>
              </a:rPr>
              <a:t>Quotation Slips and Placement Slips, firm orders to the lead and co-insurers, confirmations.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Issues policies:  </a:t>
            </a:r>
            <a:r>
              <a:rPr sz="1600">
                <a:solidFill>
                  <a:srgbClr val="1F2937"/>
                </a:solidFill>
                <a:latin typeface="Calibri"/>
              </a:rPr>
              <a:t>from a bound Placement Slip, from a motor quotation, by direct placement or Record Issued Policy.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Completes changes:  </a:t>
            </a:r>
            <a:r>
              <a:rPr sz="1600">
                <a:solidFill>
                  <a:srgbClr val="1F2937"/>
                </a:solidFill>
                <a:latin typeface="Calibri"/>
              </a:rPr>
              <a:t>endorsements with the insurer’s document; approves renewal terms.</a:t>
            </a:r>
          </a:p>
          <a:p>
            <a:pPr marL="201168" indent="-182880">
              <a:spcAft>
                <a:spcPts val="1200"/>
              </a:spcAft>
              <a:buClr>
                <a:srgbClr val="1E88E5"/>
              </a:buClr>
              <a:buFont typeface="Arial"/>
              <a:buChar char="•"/>
            </a:pPr>
            <a:r>
              <a:rPr b="1" sz="1600">
                <a:solidFill>
                  <a:srgbClr val="0B4F9C"/>
                </a:solidFill>
                <a:latin typeface="Calibri"/>
              </a:rPr>
              <a:t>Keeps products:  </a:t>
            </a:r>
            <a:r>
              <a:rPr sz="1600">
                <a:solidFill>
                  <a:srgbClr val="1F2937"/>
                </a:solidFill>
                <a:latin typeface="Calibri"/>
              </a:rPr>
              <a:t>motor tariff, templates and acceptance rules; treaties and cessions.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1325880"/>
            <a:ext cx="4325112" cy="146304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35240" y="1463039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Sign-in and landing 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783080"/>
            <a:ext cx="393192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User name jose.uw. Lands on the Executive Dashboard. Your workbench is Dashboard &gt; Processing Dashboard.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88036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524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You hand work 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33756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Insurers (requests for quotation, firm orders), Sales &amp; Marketing and Operations (terms and policies), Accounting (bills, commission and remittance by insurer share).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572000"/>
            <a:ext cx="4325112" cy="160020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70916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1" i="0">
                <a:solidFill>
                  <a:srgbClr val="1E88E5"/>
                </a:solidFill>
                <a:latin typeface="Calibri"/>
              </a:rPr>
              <a:t>Maker-checker partners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29200"/>
            <a:ext cx="393192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1F2937"/>
                </a:solidFill>
                <a:latin typeface="Calibri"/>
              </a:rPr>
              <a:t>You are notified of quotations sent to clients (quotations.approval_notify_roles) and approve renewal terms (renewals.approver_roles). You cannot approve your 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WHAT YOU SEE AFTER SIGN-IN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Menu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1">
                <a:solidFill>
                  <a:srgbClr val="5B6778"/>
                </a:solidFill>
                <a:latin typeface="Calibri"/>
              </a:rPr>
              <a:t>Menus granted to processing in menuPermissions.js. The role walk opened 41 screens.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45920"/>
            <a:ext cx="3636264" cy="278206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121408"/>
            <a:ext cx="3435095" cy="223342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Processing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Executive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6344" y="1645920"/>
            <a:ext cx="3636264" cy="278206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76344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3504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 Configurator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072" y="2121408"/>
            <a:ext cx="3435095" cy="223342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Dashboard, Product Templates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Coverage Builder, Rating Engine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Acceptance Rules, Document Manager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Approval Workflows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Market Mapping, Risk Mapping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Product Analytics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5488" y="1645920"/>
            <a:ext cx="3636264" cy="278206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5488" y="1645920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2648" y="1645920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5215" y="2121408"/>
            <a:ext cx="3435095" cy="2233422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Home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Leads/Prospects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Clients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Quotation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Broker Slips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Placement Slips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Policy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Claims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Renewals (8 screens)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Open Items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Payments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10862"/>
            <a:ext cx="3636264" cy="160705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4610862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610862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Reinsurance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086350"/>
            <a:ext cx="3435095" cy="105841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Treaty Dashboard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Cession Tracking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Claims Recovery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Reconciliation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Analytics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6344" y="4610862"/>
            <a:ext cx="3636264" cy="1607058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76344" y="4610862"/>
            <a:ext cx="3636264" cy="384048"/>
          </a:xfrm>
          <a:prstGeom prst="roundRect">
            <a:avLst>
              <a:gd name="adj" fmla="val 18000"/>
            </a:avLst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3504" y="4610862"/>
            <a:ext cx="3361944" cy="3840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6072" y="5086350"/>
            <a:ext cx="3435095" cy="1058418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All Reports (13 reports)</a:t>
            </a:r>
          </a:p>
          <a:p>
            <a:pPr marL="201168" indent="-182880">
              <a:spcAft>
                <a:spcPts val="200"/>
              </a:spcAft>
              <a:buClr>
                <a:srgbClr val="1E88E5"/>
              </a:buClr>
              <a:buFont typeface="Arial"/>
              <a:buChar char="•"/>
            </a:pPr>
            <a:r>
              <a:rPr sz="1100">
                <a:solidFill>
                  <a:srgbClr val="1F2937"/>
                </a:solidFill>
                <a:latin typeface="Calibri"/>
              </a:rPr>
              <a:t>Operational Reports: Production, Claims, Renewal, Remittance, Broker Commission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Processing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Dashboard &gt; Processing Dashboard.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Dashboard &gt; Processing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Submissions:  </a:t>
            </a:r>
            <a:r>
              <a:rPr sz="1500">
                <a:solidFill>
                  <a:srgbClr val="1F2937"/>
                </a:solidFill>
                <a:latin typeface="Calibri"/>
              </a:rPr>
              <a:t>quotations in progress: new this week and older.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Priority:  </a:t>
            </a:r>
            <a:r>
              <a:rPr sz="1500">
                <a:solidFill>
                  <a:srgbClr val="1F2937"/>
                </a:solidFill>
                <a:latin typeface="Calibri"/>
              </a:rPr>
              <a:t>high from ₱ 5,000,000 sum insured (dashboard.high_sum_insured).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Open alerts:  </a:t>
            </a:r>
            <a:r>
              <a:rPr sz="1500">
                <a:solidFill>
                  <a:srgbClr val="1F2937"/>
                </a:solidFill>
                <a:latin typeface="Calibri"/>
              </a:rPr>
              <a:t>duplicates, missing sums insured or dates, missing line of business.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Also:  </a:t>
            </a:r>
            <a:r>
              <a:rPr sz="1500">
                <a:solidFill>
                  <a:srgbClr val="1F2937"/>
                </a:solidFill>
                <a:latin typeface="Calibri"/>
              </a:rPr>
              <a:t>average cycle time, workload by group, open tasks with due 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2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New Broker Slip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750488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677336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Operations &gt; Broker Slips &gt; New Broker Slip.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Broker Slips &gt; New Broker Slip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Customer:  </a:t>
            </a:r>
            <a:r>
              <a:rPr sz="1500">
                <a:solidFill>
                  <a:srgbClr val="1F2937"/>
                </a:solidFill>
                <a:latin typeface="Calibri"/>
              </a:rPr>
              <a:t>a client or a lead, the product, the insured name and the period.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Risk and covers:  </a:t>
            </a:r>
            <a:r>
              <a:rPr sz="1500">
                <a:solidFill>
                  <a:srgbClr val="1F2937"/>
                </a:solidFill>
                <a:latin typeface="Calibri"/>
              </a:rPr>
              <a:t>location, occupancy, construction; each cover with sum insured and deductible.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Market:  </a:t>
            </a:r>
            <a:r>
              <a:rPr sz="1500">
                <a:solidFill>
                  <a:srgbClr val="1F2937"/>
                </a:solidFill>
                <a:latin typeface="Calibri"/>
              </a:rPr>
              <a:t>the insurers to approach, and remarks such as claims history.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Submit:  </a:t>
            </a:r>
            <a:r>
              <a:rPr sz="1500">
                <a:solidFill>
                  <a:srgbClr val="1F2937"/>
                </a:solidFill>
                <a:latin typeface="Calibri"/>
              </a:rPr>
              <a:t>numbers the slip BS-, creates one offer per insurer and e-mails each a request for quotation.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3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Record the insurers’ answers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02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951481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323081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Broker Slip &gt; Market responses &gt; Record response.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Broker Slip &gt; Market responses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Offered:  </a:t>
            </a:r>
            <a:r>
              <a:rPr sz="1500">
                <a:solidFill>
                  <a:srgbClr val="1F2937"/>
                </a:solidFill>
                <a:latin typeface="Calibri"/>
              </a:rPr>
              <a:t>net premium at 100%, rate, line offered, taxes, validity, deductibles, special terms, reference.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Declined:  </a:t>
            </a:r>
            <a:r>
              <a:rPr sz="1500">
                <a:solidFill>
                  <a:srgbClr val="1F2937"/>
                </a:solidFill>
                <a:latin typeface="Calibri"/>
              </a:rPr>
              <a:t>record the reason. Declines count in Market Response.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Attach:  </a:t>
            </a:r>
            <a:r>
              <a:rPr sz="1500">
                <a:solidFill>
                  <a:srgbClr val="1F2937"/>
                </a:solidFill>
                <a:latin typeface="Calibri"/>
              </a:rPr>
              <a:t>the insurer’s offer letter.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Add insurer:  </a:t>
            </a:r>
            <a:r>
              <a:rPr sz="1500">
                <a:solidFill>
                  <a:srgbClr val="1F2937"/>
                </a:solidFill>
                <a:latin typeface="Calibri"/>
              </a:rPr>
              <a:t>approach another insurer on an open slip.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4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Compare offers and choose the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14925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4076101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447701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Broker Slip &gt; Compare offers.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Broker Slip &gt; Compare offers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Ranking:  </a:t>
            </a:r>
            <a:r>
              <a:rPr sz="1500">
                <a:solidFill>
                  <a:srgbClr val="1F2937"/>
                </a:solidFill>
                <a:latin typeface="Calibri"/>
              </a:rPr>
              <a:t>by gross premium; the cheapest is marked Best, with the difference for each offer.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Select:  </a:t>
            </a:r>
            <a:r>
              <a:rPr sz="1500">
                <a:solidFill>
                  <a:srgbClr val="1F2937"/>
                </a:solidFill>
                <a:latin typeface="Calibri"/>
              </a:rPr>
              <a:t>one offer at 100% for a single insurer, several for a co-insurance.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Lead:  </a:t>
            </a:r>
            <a:r>
              <a:rPr sz="1500">
                <a:solidFill>
                  <a:srgbClr val="1F2937"/>
                </a:solidFill>
                <a:latin typeface="Calibri"/>
              </a:rPr>
              <a:t>choose one lead; its terms apply. Shares must total exactly 100%.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Next:  </a:t>
            </a:r>
            <a:r>
              <a:rPr sz="1500">
                <a:solidFill>
                  <a:srgbClr val="1F2937"/>
                </a:solidFill>
                <a:latin typeface="Calibri"/>
              </a:rPr>
              <a:t>Prepare Quotation Slip (client accepts first) or Prepare Placement Slip.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5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Placement Slip: firm order and confirmations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01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941096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312696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Placement Slip PS-2026-90001, sent.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Placement Slips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Send to insurer(s):  </a:t>
            </a:r>
            <a:r>
              <a:rPr sz="1500">
                <a:solidFill>
                  <a:srgbClr val="1F2937"/>
                </a:solidFill>
                <a:latin typeface="Calibri"/>
              </a:rPr>
              <a:t>each participant gets a placing slip showing its own share.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Confirm:  </a:t>
            </a:r>
            <a:r>
              <a:rPr sz="1500">
                <a:solidFill>
                  <a:srgbClr val="1F2937"/>
                </a:solidFill>
                <a:latin typeface="Calibri"/>
              </a:rPr>
              <a:t>type the insurer’s policy or certificate number on its row.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Declined:  </a:t>
            </a:r>
            <a:r>
              <a:rPr sz="1500">
                <a:solidFill>
                  <a:srgbClr val="1F2937"/>
                </a:solidFill>
                <a:latin typeface="Calibri"/>
              </a:rPr>
              <a:t>record the reason, then Edit participants so the shares total 100% again.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Bound:  </a:t>
            </a:r>
            <a:r>
              <a:rPr sz="1500">
                <a:solidFill>
                  <a:srgbClr val="1F2937"/>
                </a:solidFill>
                <a:latin typeface="Calibri"/>
              </a:rPr>
              <a:t>when every participant has confirmed.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6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Direct placement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193143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119991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Placement Slips &gt; New direct placement.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Placement Slips &gt; New direct placement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When:  </a:t>
            </a:r>
            <a:r>
              <a:rPr sz="1500">
                <a:solidFill>
                  <a:srgbClr val="1F2937"/>
                </a:solidFill>
                <a:latin typeface="Calibri"/>
              </a:rPr>
              <a:t>the client instructs placement with named insurers; no quotation is needed.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Enter:  </a:t>
            </a:r>
            <a:r>
              <a:rPr sz="1500">
                <a:solidFill>
                  <a:srgbClr val="1F2937"/>
                </a:solidFill>
                <a:latin typeface="Calibri"/>
              </a:rPr>
              <a:t>customer and risk, period, sum insured, net premium, commission rate, billing mode.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Security:  </a:t>
            </a:r>
            <a:r>
              <a:rPr sz="1500">
                <a:solidFill>
                  <a:srgbClr val="1F2937"/>
                </a:solidFill>
                <a:latin typeface="Calibri"/>
              </a:rPr>
              <a:t>each insurer with its share and one Lead; the line under the table checks 100%.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Then:  </a:t>
            </a:r>
            <a:r>
              <a:rPr sz="1500">
                <a:solidFill>
                  <a:srgbClr val="1F2937"/>
                </a:solidFill>
                <a:latin typeface="Calibri"/>
              </a:rPr>
              <a:t>Create Placement Slip, send, confirm and issue as usual.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7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Issue the policy from a bound slip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060981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987829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35942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Placement Slip PS-2026-00001, issued as POL-2026-00001.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Placement Slip &gt; Issue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Policy:  </a:t>
            </a:r>
            <a:r>
              <a:rPr sz="1500">
                <a:solidFill>
                  <a:srgbClr val="1F2937"/>
                </a:solidFill>
                <a:latin typeface="Calibri"/>
              </a:rPr>
              <a:t>number issued; participants, shares and insurer references copied.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Client:  </a:t>
            </a:r>
            <a:r>
              <a:rPr sz="1500">
                <a:solidFill>
                  <a:srgbClr val="1F2937"/>
                </a:solidFill>
                <a:latin typeface="Calibri"/>
              </a:rPr>
              <a:t>created from the lead if needed.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Money:  </a:t>
            </a:r>
            <a:r>
              <a:rPr sz="1500">
                <a:solidFill>
                  <a:srgbClr val="1F2937"/>
                </a:solidFill>
                <a:latin typeface="Calibri"/>
              </a:rPr>
              <a:t>premium bill to the client (broker billed) or commission due from insurers (direct bill).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Journal:  </a:t>
            </a:r>
            <a:r>
              <a:rPr sz="1500">
                <a:solidFill>
                  <a:srgbClr val="1F2937"/>
                </a:solidFill>
                <a:latin typeface="Calibri"/>
              </a:rPr>
              <a:t>each insurer’s payable and commission on its own 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8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Co-insurance on the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15200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42048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Policy POL-2026-00001, participants.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Policy &gt; policy &gt; Participants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Example:  </a:t>
            </a:r>
            <a:r>
              <a:rPr sz="1500">
                <a:solidFill>
                  <a:srgbClr val="1F2937"/>
                </a:solidFill>
                <a:latin typeface="Calibri"/>
              </a:rPr>
              <a:t>Malayan lead 60% and Standard 40% on ₱ 125,000,000 sum insured.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Split:  </a:t>
            </a:r>
            <a:r>
              <a:rPr sz="1500">
                <a:solidFill>
                  <a:srgbClr val="1F2937"/>
                </a:solidFill>
                <a:latin typeface="Calibri"/>
              </a:rPr>
              <a:t>sum insured, premium, taxes, gross and commission by share; the rounding remainder goes to the lead.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Used by:  </a:t>
            </a:r>
            <a:r>
              <a:rPr sz="1500">
                <a:solidFill>
                  <a:srgbClr val="1F2937"/>
                </a:solidFill>
                <a:latin typeface="Calibri"/>
              </a:rPr>
              <a:t>the bill journal, remittance per insurer, claim recoveries and the reports.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Rule:  </a:t>
            </a:r>
            <a:r>
              <a:rPr sz="1500">
                <a:solidFill>
                  <a:srgbClr val="1F2937"/>
                </a:solidFill>
                <a:latin typeface="Calibri"/>
              </a:rPr>
              <a:t>shares always total 100% with exactly one lead.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9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Motor: from quotation straight to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4523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444996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21560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Convert Policy, review with participants and billing mode.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Quotation &gt; Proceed to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KYC:  </a:t>
            </a:r>
            <a:r>
              <a:rPr sz="1500">
                <a:solidFill>
                  <a:srgbClr val="1F2937"/>
                </a:solidFill>
                <a:latin typeface="Calibri"/>
              </a:rPr>
              <a:t>ID type, number and image, chassis, motor and plate or MV file number are required.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Photos:  </a:t>
            </a:r>
            <a:r>
              <a:rPr sz="1500">
                <a:solidFill>
                  <a:srgbClr val="1F2937"/>
                </a:solidFill>
                <a:latin typeface="Calibri"/>
              </a:rPr>
              <a:t>left, right, front, rear and interior.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Billing mode:  </a:t>
            </a:r>
            <a:r>
              <a:rPr sz="1500">
                <a:solidFill>
                  <a:srgbClr val="1F2937"/>
                </a:solidFill>
                <a:latin typeface="Calibri"/>
              </a:rPr>
              <a:t>broker billed (premium bill INV-) or direct bill (commission due from the insurer).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Send to Insurance Company:  </a:t>
            </a:r>
            <a:r>
              <a:rPr sz="1500">
                <a:solidFill>
                  <a:srgbClr val="1F2937"/>
                </a:solidFill>
                <a:latin typeface="Calibri"/>
              </a:rPr>
              <a:t>issues the policy; then upload the insurer’s policy document.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10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Record Issued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353421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280269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Placement Slips &gt; Record Issued Policy.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Operations &gt; Placement Slips &gt; Record Issued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When:  </a:t>
            </a:r>
            <a:r>
              <a:rPr sz="1500">
                <a:solidFill>
                  <a:srgbClr val="1F2937"/>
                </a:solidFill>
                <a:latin typeface="Calibri"/>
              </a:rPr>
              <a:t>the insurer has already issued the policy, for example a renewal it processed itself.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One step:  </a:t>
            </a:r>
            <a:r>
              <a:rPr sz="1500">
                <a:solidFill>
                  <a:srgbClr val="1F2937"/>
                </a:solidFill>
                <a:latin typeface="Calibri"/>
              </a:rPr>
              <a:t>policy, bill and commission are created together.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Security:  </a:t>
            </a:r>
            <a:r>
              <a:rPr sz="1500">
                <a:solidFill>
                  <a:srgbClr val="1F2937"/>
                </a:solidFill>
                <a:latin typeface="Calibri"/>
              </a:rPr>
              <a:t>each participant with its share and its own policy or certificate number.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Refused:  </a:t>
            </a:r>
            <a:r>
              <a:rPr sz="1500">
                <a:solidFill>
                  <a:srgbClr val="1F2937"/>
                </a:solidFill>
                <a:latin typeface="Calibri"/>
              </a:rPr>
              <a:t>on lines whose journey does not allow a direct policy entry.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11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Complete an endorsement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7342631" cy="3983093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7269480" cy="3909941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281541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Endorsement END-2026-95001, completed.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Endorsement &gt; Proceed &gt; Complete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Start:  </a:t>
            </a:r>
            <a:r>
              <a:rPr sz="1500">
                <a:solidFill>
                  <a:srgbClr val="1F2937"/>
                </a:solidFill>
                <a:latin typeface="Calibri"/>
              </a:rPr>
              <a:t>Operations raises the request and sends it to the insurer (Waiting for Update).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You:  </a:t>
            </a:r>
            <a:r>
              <a:rPr sz="1500">
                <a:solidFill>
                  <a:srgbClr val="1F2937"/>
                </a:solidFill>
                <a:latin typeface="Calibri"/>
              </a:rPr>
              <a:t>upload the insurer’s endorsement with its number and dates, then Complete.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Money:  </a:t>
            </a:r>
            <a:r>
              <a:rPr sz="1500">
                <a:solidFill>
                  <a:srgbClr val="1F2937"/>
                </a:solidFill>
                <a:latin typeface="Calibri"/>
              </a:rPr>
              <a:t>additional premium is billed; for a co-insured policy the journal splits it by share.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Return premium:  </a:t>
            </a:r>
            <a:r>
              <a:rPr sz="1500">
                <a:solidFill>
                  <a:srgbClr val="1F2937"/>
                </a:solidFill>
                <a:latin typeface="Calibri"/>
              </a:rPr>
              <a:t>credited to the client; already remitted amounts are netted on the next remittance.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KEY FUNCTION 12 OF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Motor tariff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" y="1243584"/>
            <a:ext cx="6108192" cy="4599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035040" cy="4526280"/>
          </a:xfrm>
          <a:prstGeom prst="rect">
            <a:avLst/>
          </a:prstGeom>
          <a:ln w="6350">
            <a:solidFill>
              <a:srgbClr val="D5DEEA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5897879"/>
            <a:ext cx="7269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1">
                <a:solidFill>
                  <a:srgbClr val="5B6778"/>
                </a:solidFill>
                <a:latin typeface="Calibri"/>
              </a:rPr>
              <a:t>Live screen: Product Templates &gt; MOT-003-2025, CTPL &amp; Auto PA. Signed in as Processing Team (jose.uw).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43584"/>
            <a:ext cx="3733495" cy="4965192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89888"/>
            <a:ext cx="32762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Product Configurator &gt; Product Templates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322015" cy="434340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Vehicle classes:  </a:t>
            </a:r>
            <a:r>
              <a:rPr sz="1500">
                <a:solidFill>
                  <a:srgbClr val="1F2937"/>
                </a:solidFill>
                <a:latin typeface="Calibri"/>
              </a:rPr>
              <a:t>code, default seats, CTPL 1 year and 3 years, e.g. private cars ₱ 610.40 / ₱ 1,660.40.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Auto Passenger PA:  </a:t>
            </a:r>
            <a:r>
              <a:rPr sz="1500">
                <a:solidFill>
                  <a:srgbClr val="1F2937"/>
                </a:solidFill>
                <a:latin typeface="Calibri"/>
              </a:rPr>
              <a:t>rate per seat and the limits per person offered.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Effect:  </a:t>
            </a:r>
            <a:r>
              <a:rPr sz="1500">
                <a:solidFill>
                  <a:srgbClr val="1F2937"/>
                </a:solidFill>
                <a:latin typeface="Calibri"/>
              </a:rPr>
              <a:t>quotation screens use the values at once.</a:t>
            </a:r>
          </a:p>
          <a:p>
            <a:pPr marL="201168" indent="-182880">
              <a:spcAft>
                <a:spcPts val="1000"/>
              </a:spcAft>
              <a:buClr>
                <a:srgbClr val="1E88E5"/>
              </a:buClr>
              <a:buFont typeface="Arial"/>
              <a:buChar char="•"/>
            </a:pPr>
            <a:r>
              <a:rPr b="1" sz="1500">
                <a:solidFill>
                  <a:srgbClr val="0B4F9C"/>
                </a:solidFill>
                <a:latin typeface="Calibri"/>
              </a:rPr>
              <a:t>Taxes:  </a:t>
            </a:r>
            <a:r>
              <a:rPr sz="1500">
                <a:solidFill>
                  <a:srgbClr val="1F2937"/>
                </a:solidFill>
                <a:latin typeface="Calibri"/>
              </a:rPr>
              <a:t>come from Master &gt; Configuration, shown read-only on the template.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PLACEMENT.JOURNEY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Placement journey by line of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The journey of each line decides which steps are required. A required step cannot be skipped; the screens show the journey as a progress bar and mark unused steps Not used.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828800"/>
          <a:ext cx="1127454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6520"/>
                <a:gridCol w="1833260"/>
                <a:gridCol w="1833260"/>
                <a:gridCol w="1833260"/>
                <a:gridCol w="2108249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Line of business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Broker Slip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Quotation Slip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Placement Slip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Record Issued Policy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4F9C"/>
                          </a:solidFill>
                          <a:latin typeface="Calibri"/>
                        </a:rPr>
                        <a:t>Motor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Required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4F9C"/>
                          </a:solidFill>
                          <a:latin typeface="Calibri"/>
                        </a:rPr>
                        <a:t>Fire, IAR, Marine, Casualty, Engineering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Required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B4F9C"/>
                          </a:solidFill>
                          <a:latin typeface="Calibri"/>
                        </a:rPr>
                        <a:t>Other lines (default)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1F2937"/>
                          </a:solidFill>
                          <a:latin typeface="Calibri"/>
                        </a:rPr>
                        <a:t>Optional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Renewals follow the journey only when placement.journey_applies_to_renewals is on (off when delivered). The System Administrator changes the journey on Master &gt; Configuration, tab Placement.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LEAD TO RENEWAL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End-to-end flow: your part of the cycle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Sales, Operations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87452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11226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8541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8541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Broker Slip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712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Processing Team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29584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67328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Quotation Slip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Sales, Processing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84648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22392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95544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95544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Placement Slip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77256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Processing Team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6839712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077456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Policy issue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Processing Team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494776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32520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05672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05672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Payment capture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10149840" y="1755648"/>
            <a:ext cx="164592" cy="237744"/>
          </a:xfrm>
          <a:prstGeom prst="righ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10387584" y="132588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60736" y="139903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60736" y="156362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Official receipt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42448" y="198424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</a:t>
            </a:r>
          </a:p>
        </p:txBody>
      </p:sp>
      <p:sp>
        <p:nvSpPr>
          <p:cNvPr id="42" name="Down Arrow 41"/>
          <p:cNvSpPr/>
          <p:nvPr/>
        </p:nvSpPr>
        <p:spPr>
          <a:xfrm>
            <a:off x="10922507" y="2532888"/>
            <a:ext cx="274320" cy="237744"/>
          </a:xfrm>
          <a:prstGeom prst="down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38758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073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6073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Commission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4244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47" name="Left Arrow 46"/>
          <p:cNvSpPr/>
          <p:nvPr/>
        </p:nvSpPr>
        <p:spPr>
          <a:xfrm>
            <a:off x="10149840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732520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05672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05672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Remittance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87384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two users</a:t>
            </a:r>
          </a:p>
        </p:txBody>
      </p:sp>
      <p:sp>
        <p:nvSpPr>
          <p:cNvPr id="52" name="Left Arrow 51"/>
          <p:cNvSpPr/>
          <p:nvPr/>
        </p:nvSpPr>
        <p:spPr>
          <a:xfrm>
            <a:off x="8494776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077456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50608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50608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Endorsement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32320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Operations, Processing</a:t>
            </a:r>
          </a:p>
        </p:txBody>
      </p:sp>
      <p:sp>
        <p:nvSpPr>
          <p:cNvPr id="57" name="Left Arrow 56"/>
          <p:cNvSpPr/>
          <p:nvPr/>
        </p:nvSpPr>
        <p:spPr>
          <a:xfrm>
            <a:off x="6839712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422392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95544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95544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Claim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77256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Claims, two users</a:t>
            </a:r>
          </a:p>
        </p:txBody>
      </p:sp>
      <p:sp>
        <p:nvSpPr>
          <p:cNvPr id="62" name="Left Arrow 61"/>
          <p:cNvSpPr/>
          <p:nvPr/>
        </p:nvSpPr>
        <p:spPr>
          <a:xfrm>
            <a:off x="5184648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3767328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40480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40480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Renewal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22192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FFFFFF"/>
                </a:solidFill>
                <a:latin typeface="Calibri"/>
              </a:rPr>
              <a:t>Operations, Sales, Processing</a:t>
            </a:r>
          </a:p>
        </p:txBody>
      </p:sp>
      <p:sp>
        <p:nvSpPr>
          <p:cNvPr id="67" name="Left Arrow 66"/>
          <p:cNvSpPr/>
          <p:nvPr/>
        </p:nvSpPr>
        <p:spPr>
          <a:xfrm>
            <a:off x="3529584" y="3310128"/>
            <a:ext cx="164592" cy="237744"/>
          </a:xfrm>
          <a:prstGeom prst="leftArrow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112264" y="2880360"/>
            <a:ext cx="1344168" cy="1097280"/>
          </a:xfrm>
          <a:prstGeom prst="roundRect">
            <a:avLst>
              <a:gd name="adj" fmla="val 12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185416" y="295351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1" i="0">
                <a:solidFill>
                  <a:srgbClr val="1E88E5"/>
                </a:solidFill>
                <a:latin typeface="Calibri"/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85416" y="3118104"/>
            <a:ext cx="1197864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250" b="1" i="0">
                <a:solidFill>
                  <a:srgbClr val="0B4F9C"/>
                </a:solidFill>
                <a:latin typeface="Calibri"/>
              </a:rPr>
              <a:t>Month-end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167128" y="3538728"/>
            <a:ext cx="12344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50" b="0" i="0">
                <a:solidFill>
                  <a:srgbClr val="5B6778"/>
                </a:solidFill>
                <a:latin typeface="Calibri"/>
              </a:rPr>
              <a:t>Accounting, Acct. Manager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5720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7240" y="4206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Your steps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011680" y="4251959"/>
            <a:ext cx="256032" cy="182880"/>
          </a:xfrm>
          <a:prstGeom prst="roundRect">
            <a:avLst>
              <a:gd name="adj" fmla="val 30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31720" y="42062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Done by other personas or by the system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420624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100" b="0" i="1">
                <a:solidFill>
                  <a:srgbClr val="5B6778"/>
                </a:solidFill>
                <a:latin typeface="Calibri"/>
              </a:rPr>
              <a:t>Renewal terms you approve start the next term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57200" y="457200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85800" y="4709160"/>
            <a:ext cx="534924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2 Broker Slip: market the risk and compare offers.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3 and 4: Quotation Slip for the client, Placement Slip to bind.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172200" y="4709160"/>
            <a:ext cx="5394960" cy="14630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5 Policy issue: from the bound slip or the motor quotation.</a:t>
            </a:r>
          </a:p>
          <a:p>
            <a:pPr marL="201168" indent="-182880">
              <a:spcAft>
                <a:spcPts val="5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10 and 12: complete endorsements, approve renewal terms.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REPORTS &gt; ALL REPORTS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Reports you use (13)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1" i="0">
                <a:solidFill>
                  <a:srgbClr val="5B6778"/>
                </a:solidFill>
                <a:latin typeface="Calibri"/>
              </a:rPr>
              <a:t>Output formats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74519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74519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16152"/>
            <a:ext cx="61447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216152"/>
            <a:ext cx="61447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XLSX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20516" y="1216152"/>
            <a:ext cx="548640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20516" y="12161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PDF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60596" y="1216152"/>
            <a:ext cx="828446" cy="274320"/>
          </a:xfrm>
          <a:prstGeom prst="roundRect">
            <a:avLst>
              <a:gd name="adj" fmla="val 50000"/>
            </a:avLst>
          </a:prstGeom>
          <a:solidFill>
            <a:srgbClr val="E3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0596" y="1216152"/>
            <a:ext cx="828446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0B4F9C"/>
                </a:solidFill>
                <a:latin typeface="Calibri"/>
              </a:rPr>
              <a:t>Preview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80483" y="121615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0483" y="1216152"/>
            <a:ext cx="147035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Scheduled 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5158" y="1216152"/>
            <a:ext cx="5209336" cy="29260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Thirteen reports in Reports &gt; All Reports.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1737360"/>
          <a:ext cx="11274551" cy="4434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216"/>
                <a:gridCol w="8341335"/>
              </a:tblGrid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Report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Production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Policies incepted in the period: premium, commission, new or renewal, billing mode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Premium by Product / Month / Insurer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Policy count, sum insured, premium and commission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New Business vs Renewals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New business and renewals by month or agent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Lead Conversion Funnel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Leads by stage with the conversion rate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Placement Pipeline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Broker Slips and Placement Slips of the period with status, lead insurer, premium and age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Market Response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Insurers approached: offers, declines, pending, response days and hit ratio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Co-insurance Register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Co-insured policies with each participant's share, premium and commission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Reinsurance Cession Register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Cessions per treaty and policy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Claims Position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Claims reported: estimate, approved, settled and age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Claims Ageing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Open claims by ageing bucket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Renewal Retention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Renewals due: retained, lost or pending, and the retention rate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Remittance 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Remittances to insurers: gross premium, commission, net due, status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1677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0B4F9C"/>
                          </a:solidFill>
                          <a:latin typeface="Calibri"/>
                        </a:rPr>
                        <a:t>Broker Commission Statement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Calibri"/>
                        </a:rPr>
                        <a:t>Commission per agent and policy: basis, rate, gross, WHT, net, paid status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MASTER &gt; CONFIGURATION &gt; SCHEDULES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Schedules and automations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7455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9912"/>
                <a:gridCol w="2016586"/>
                <a:gridCol w="7058052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When it runs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means for you</a:t>
                      </a:r>
                    </a:p>
                  </a:txBody>
                  <a:tcPr marL="73152" marR="73152" marT="27432" marB="27432" anchor="ctr">
                    <a:solidFill>
                      <a:srgbClr val="0B4F9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Quotation expiry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00:30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Quotations expire after 30 days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pipeline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05:30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Policies due within 90 days reach the renewal queue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Renewal notices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06:00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Notices at 60, 30 and 15 days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Policy expiry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00:15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Expired policies leave the in-force figures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E-mail outbox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Requests for quotation and firm orders leave every 5 minutes</a:t>
                      </a:r>
                    </a:p>
                  </a:txBody>
                  <a:tcPr marL="73152" marR="73152" marT="27432" marB="27432" anchor="ctr">
                    <a:solidFill>
                      <a:srgbClr val="F5F8FC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B4F9C"/>
                          </a:solidFill>
                          <a:latin typeface="Calibri"/>
                        </a:rPr>
                        <a:t>Daily reports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Daily 05:00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Production Register each morning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166360"/>
            <a:ext cx="1127455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5B6778"/>
                </a:solidFill>
                <a:latin typeface="Calibri"/>
              </a:rPr>
              <a:t>Times are Manila time (general.timezone). The System Administrator changes a timetable, switches a job on or off, or runs it now; every run is recorded.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BELL ICON, TOP RIGHT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Notifications and approvals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Quotation sent for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Client, quotation number and gross premium.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1792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approval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Renewal terms waiting for your decision.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Renewal approved / returned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Goes back to the maker with your note.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132588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96227" y="14904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6227" y="149047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57515" y="1435607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Policy issued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515" y="174650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Policy issued from a Placement Slip you own.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1636" y="2423160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96227" y="25877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6227" y="2587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43A047"/>
                </a:solidFill>
                <a:latin typeface="Calibri"/>
              </a:rPr>
              <a:t>Approval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7515" y="253288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Treaty awaiting approval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7515" y="2843784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When treaty approval is on; not your own treaty.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1636" y="3520439"/>
            <a:ext cx="5500116" cy="960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96227" y="3685031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6227" y="3685031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000" b="1" i="0">
                <a:solidFill>
                  <a:srgbClr val="1E88E5"/>
                </a:solidFill>
                <a:latin typeface="Calibri"/>
              </a:rPr>
              <a:t>Info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57515" y="3630168"/>
            <a:ext cx="4037075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50" b="1" i="0">
                <a:solidFill>
                  <a:srgbClr val="0B4F9C"/>
                </a:solidFill>
                <a:latin typeface="Calibri"/>
              </a:rPr>
              <a:t>Endorsement completed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57515" y="3941063"/>
            <a:ext cx="4037075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0">
                <a:solidFill>
                  <a:srgbClr val="1F2937"/>
                </a:solidFill>
                <a:latin typeface="Calibri"/>
              </a:rPr>
              <a:t>Sent to the policy owner when you complete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B4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428232"/>
            <a:ext cx="930839" cy="274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70918" y="6437376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000" b="0" i="0">
                <a:solidFill>
                  <a:srgbClr val="5B6778"/>
                </a:solidFill>
                <a:latin typeface="Calibri"/>
              </a:rPr>
              <a:t>BrokerVerse | Processing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/>
            <a:r>
              <a:rPr sz="1000" b="0" i="0">
                <a:solidFill>
                  <a:srgbClr val="5B6778"/>
                </a:solidFill>
                <a:latin typeface="Calibri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1E88E5"/>
                </a:solidFill>
                <a:latin typeface="Calibri"/>
              </a:rPr>
              <a:t>GOOD TO KNOW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"/>
            <a:ext cx="11247120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 i="0">
                <a:solidFill>
                  <a:srgbClr val="0B4F9C"/>
                </a:solidFill>
                <a:latin typeface="Calibri"/>
              </a:rPr>
              <a:t>Known limitations and tips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F5F8FC"/>
          </a:solidFill>
          <a:ln w="9525">
            <a:solidFill>
              <a:srgbClr val="D5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0B4F9C"/>
                </a:solidFill>
                <a:latin typeface="Calibri"/>
              </a:rPr>
              <a:t>Open items that affect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The sign-in session is kept in the browser’s local storage: sign out on shared computers and keep the browser up to date.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Two-factor set-up shows a setup key and an app link but no QR code: type the key into the authenticator app.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Filipino is configured as a language but has no screen translation yet.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Only users with policy issuing rights see Issue Policy; others see “All insurers confirmed”.</a:t>
            </a:r>
          </a:p>
          <a:p>
            <a:pPr marL="201168" indent="-182880">
              <a:spcAft>
                <a:spcPts val="800"/>
              </a:spcAft>
              <a:buClr>
                <a:srgbClr val="5B6778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Treaties are added by the System Administrator on Master &gt; Reinsurance Treaty.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325880"/>
            <a:ext cx="5532120" cy="4846320"/>
          </a:xfrm>
          <a:prstGeom prst="roundRect">
            <a:avLst>
              <a:gd name="adj" fmla="val 4000"/>
            </a:avLst>
          </a:prstGeom>
          <a:solidFill>
            <a:srgbClr val="E6F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4630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500" b="1" i="0">
                <a:solidFill>
                  <a:srgbClr val="43A047"/>
                </a:solidFill>
                <a:latin typeface="Calibri"/>
              </a:rPr>
              <a:t>Tips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5074920" cy="4206240"/>
          </a:xfrm>
          <a:prstGeom prst="rect">
            <a:avLst/>
          </a:prstGeom>
          <a:noFill/>
        </p:spPr>
        <p:txBody>
          <a:bodyPr wrap="square" lIns="18288" rIns="18288" tIns="18288" bIns="18288"/>
          <a:lstStyle/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Keep each insurer’s placement e-mail current: slips go there.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Record declines as well as offers.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Check the shares total 100% before you send a Placement Slip.</a:t>
            </a:r>
          </a:p>
          <a:p>
            <a:pPr marL="201168" indent="-182880">
              <a:spcAft>
                <a:spcPts val="800"/>
              </a:spcAft>
              <a:buClr>
                <a:srgbClr val="43A047"/>
              </a:buClr>
              <a:buFont typeface="Arial"/>
              <a:buChar char="•"/>
            </a:pPr>
            <a:r>
              <a:rPr sz="1500">
                <a:solidFill>
                  <a:srgbClr val="1F2937"/>
                </a:solidFill>
                <a:latin typeface="Calibri"/>
              </a:rPr>
              <a:t>Use Placement Pipeline to chase slips that are getting old.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9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822960"/>
            <a:ext cx="38404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orta-techn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051560"/>
            <a:ext cx="3102796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5146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800" b="0" i="0">
                <a:solidFill>
                  <a:srgbClr val="BFD9F5"/>
                </a:solidFill>
                <a:latin typeface="Calibri"/>
              </a:rPr>
              <a:t>BrokerVerse guide for Processing Team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10698480" cy="2194560"/>
          </a:xfrm>
          <a:prstGeom prst="roundRect">
            <a:avLst>
              <a:gd name="adj" fmla="val 6000"/>
            </a:avLst>
          </a:prstGeom>
          <a:solidFill>
            <a:srgbClr val="0E5C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041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1" i="0">
                <a:solidFill>
                  <a:srgbClr val="9FC8F2"/>
                </a:solidFill>
                <a:latin typeface="Calibri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343400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First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4343400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The key user of your team: how-to questions, checking that a role or setting is not the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672584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Second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4672584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Administrator: users, roles, passwords, two-step resets, settings and master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001768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Third 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001768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iorta TechNXT production support, raised by the System Administrator through the support 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330952"/>
            <a:ext cx="219456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Access 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5330952"/>
            <a:ext cx="804672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Your System Administrator (Master &gt; Generals &gt; User Management)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678424"/>
            <a:ext cx="10241280" cy="30175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100" b="0" i="1">
                <a:solidFill>
                  <a:srgbClr val="BFD9F5"/>
                </a:solidFill>
                <a:latin typeface="Calibri"/>
              </a:rPr>
              <a:t>When you report a problem, give the menu path, the record number, the time, your user ID, the message and its request ID. Never send a password or a two-step code.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 i="0">
                <a:solidFill>
                  <a:srgbClr val="BFD9F5"/>
                </a:solidFill>
                <a:latin typeface="Calibri"/>
              </a:rPr>
              <a:t>iorta TechNXT · BrokerVerse insurance broking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