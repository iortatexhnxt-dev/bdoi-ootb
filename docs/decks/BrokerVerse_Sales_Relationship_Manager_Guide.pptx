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7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B4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orta-techn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822960"/>
            <a:ext cx="3257935" cy="9601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2331720"/>
            <a:ext cx="7223760" cy="137160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/>
            <a:r>
              <a:rPr sz="3800" b="1" i="0">
                <a:solidFill>
                  <a:srgbClr val="0B4F9C"/>
                </a:solidFill>
                <a:latin typeface="Calibri"/>
              </a:rPr>
              <a:t>BrokerVerse — Sales / Relationship Manager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794760"/>
            <a:ext cx="7223760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2000" b="0" i="0">
                <a:solidFill>
                  <a:srgbClr val="1F2937"/>
                </a:solidFill>
                <a:latin typeface="Calibri"/>
              </a:rPr>
              <a:t>Out-of-the-box functions, flows, reports and schedules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343400"/>
            <a:ext cx="722376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400" b="0" i="0">
                <a:solidFill>
                  <a:srgbClr val="5B6778"/>
                </a:solidFill>
                <a:latin typeface="Calibri"/>
              </a:rPr>
              <a:t>BrokerVerse OOTB · insurance broking · Philippines · PHP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983480"/>
            <a:ext cx="1584472" cy="292608"/>
          </a:xfrm>
          <a:prstGeom prst="roundRect">
            <a:avLst>
              <a:gd name="adj" fmla="val 50000"/>
            </a:avLst>
          </a:prstGeom>
          <a:solidFill>
            <a:srgbClr val="E3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4983480"/>
            <a:ext cx="1584472" cy="2926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100" b="1" i="0">
                <a:solidFill>
                  <a:srgbClr val="0B4F9C"/>
                </a:solidFill>
                <a:latin typeface="Calibri"/>
              </a:rPr>
              <a:t>Leads and quotes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453152" y="4983480"/>
            <a:ext cx="956828" cy="292608"/>
          </a:xfrm>
          <a:prstGeom prst="roundRect">
            <a:avLst>
              <a:gd name="adj" fmla="val 50000"/>
            </a:avLst>
          </a:prstGeom>
          <a:solidFill>
            <a:srgbClr val="E3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453152" y="4983480"/>
            <a:ext cx="956828" cy="2926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100" b="1" i="0">
                <a:solidFill>
                  <a:srgbClr val="0B4F9C"/>
                </a:solidFill>
                <a:latin typeface="Calibri"/>
              </a:rPr>
              <a:t>Policies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47140" y="4983480"/>
            <a:ext cx="956828" cy="292608"/>
          </a:xfrm>
          <a:prstGeom prst="roundRect">
            <a:avLst>
              <a:gd name="adj" fmla="val 50000"/>
            </a:avLst>
          </a:prstGeom>
          <a:solidFill>
            <a:srgbClr val="E3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47140" y="4983480"/>
            <a:ext cx="956828" cy="2926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100" b="1" i="0">
                <a:solidFill>
                  <a:srgbClr val="0B4F9C"/>
                </a:solidFill>
                <a:latin typeface="Calibri"/>
              </a:rPr>
              <a:t>Renewals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412480" y="822960"/>
            <a:ext cx="3108960" cy="5120640"/>
          </a:xfrm>
          <a:prstGeom prst="roundRect">
            <a:avLst>
              <a:gd name="adj" fmla="val 5000"/>
            </a:avLst>
          </a:prstGeom>
          <a:solidFill>
            <a:srgbClr val="0B4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0" y="1097280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1" i="0">
                <a:solidFill>
                  <a:srgbClr val="BFD9F5"/>
                </a:solidFill>
                <a:latin typeface="Calibri"/>
              </a:rPr>
              <a:t>THIS GUIDE IS FOR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0" y="1417320"/>
            <a:ext cx="2560320" cy="914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Sales / Relationship Manager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2514600"/>
            <a:ext cx="256032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00" b="1" i="0">
                <a:solidFill>
                  <a:srgbClr val="9FC8F2"/>
                </a:solidFill>
                <a:latin typeface="Calibri"/>
              </a:rPr>
              <a:t>SIGN-IN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0" y="2770632"/>
            <a:ext cx="2560320" cy="685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maria.sales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0" y="3520440"/>
            <a:ext cx="256032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00" b="1" i="0">
                <a:solidFill>
                  <a:srgbClr val="9FC8F2"/>
                </a:solidFill>
                <a:latin typeface="Calibri"/>
              </a:rPr>
              <a:t>ROLE CODE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3776472"/>
            <a:ext cx="2560320" cy="685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sales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0" y="4526280"/>
            <a:ext cx="256032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00" b="1" i="0">
                <a:solidFill>
                  <a:srgbClr val="9FC8F2"/>
                </a:solidFill>
                <a:latin typeface="Calibri"/>
              </a:rPr>
              <a:t>LANDS 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0" y="4782312"/>
            <a:ext cx="2560320" cy="685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Executive Dashboard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62636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00" b="0" i="0">
                <a:solidFill>
                  <a:srgbClr val="5B6778"/>
                </a:solidFill>
                <a:latin typeface="Calibri"/>
              </a:rPr>
              <a:t>Prepared by iorta TechNXT · September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B4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orta-techn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28232"/>
            <a:ext cx="930839" cy="274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70918" y="6437376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000" b="0" i="0">
                <a:solidFill>
                  <a:srgbClr val="5B6778"/>
                </a:solidFill>
                <a:latin typeface="Calibri"/>
              </a:rPr>
              <a:t>BrokerVerse | Sales / Relationship Manager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2009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/>
            <a:r>
              <a:rPr sz="1000" b="0" i="0">
                <a:solidFill>
                  <a:srgbClr val="5B6778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7432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1" i="0">
                <a:solidFill>
                  <a:srgbClr val="1E88E5"/>
                </a:solidFill>
                <a:latin typeface="Calibri"/>
              </a:rPr>
              <a:t>WHO YOU ARE IN BROKERVERSE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"/>
            <a:ext cx="11247120" cy="5943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800" b="1" i="0">
                <a:solidFill>
                  <a:srgbClr val="0B4F9C"/>
                </a:solidFill>
                <a:latin typeface="Calibri"/>
              </a:rPr>
              <a:t>Role at a glance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325880"/>
            <a:ext cx="6675120" cy="4846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508760"/>
            <a:ext cx="621792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600" b="1" i="0">
                <a:solidFill>
                  <a:srgbClr val="0B4F9C"/>
                </a:solidFill>
                <a:latin typeface="Calibri"/>
              </a:rPr>
              <a:t>What you 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965960"/>
            <a:ext cx="6217920" cy="4114800"/>
          </a:xfrm>
          <a:prstGeom prst="rect">
            <a:avLst/>
          </a:prstGeom>
          <a:noFill/>
        </p:spPr>
        <p:txBody>
          <a:bodyPr wrap="square" lIns="18288" rIns="18288" tIns="18288" bIns="18288"/>
          <a:lstStyle/>
          <a:p>
            <a:pPr marL="201168" indent="-182880">
              <a:spcAft>
                <a:spcPts val="1200"/>
              </a:spcAft>
              <a:buClr>
                <a:srgbClr val="1E88E5"/>
              </a:buClr>
              <a:buFont typeface="Arial"/>
              <a:buChar char="•"/>
            </a:pPr>
            <a:r>
              <a:rPr b="1" sz="1600">
                <a:solidFill>
                  <a:srgbClr val="0B4F9C"/>
                </a:solidFill>
                <a:latin typeface="Calibri"/>
              </a:rPr>
              <a:t>Wins business:  </a:t>
            </a:r>
            <a:r>
              <a:rPr sz="1600">
                <a:solidFill>
                  <a:srgbClr val="1F2937"/>
                </a:solidFill>
                <a:latin typeface="Calibri"/>
              </a:rPr>
              <a:t>captures leads, builds and sends quotations, converts accepted quotes to policies.</a:t>
            </a:r>
          </a:p>
          <a:p>
            <a:pPr marL="201168" indent="-182880">
              <a:spcAft>
                <a:spcPts val="1200"/>
              </a:spcAft>
              <a:buClr>
                <a:srgbClr val="1E88E5"/>
              </a:buClr>
              <a:buFont typeface="Arial"/>
              <a:buChar char="•"/>
            </a:pPr>
            <a:r>
              <a:rPr b="1" sz="1600">
                <a:solidFill>
                  <a:srgbClr val="0B4F9C"/>
                </a:solidFill>
                <a:latin typeface="Calibri"/>
              </a:rPr>
              <a:t>Looks after clients:  </a:t>
            </a:r>
            <a:r>
              <a:rPr sz="1600">
                <a:solidFill>
                  <a:srgbClr val="1F2937"/>
                </a:solidFill>
                <a:latin typeface="Calibri"/>
              </a:rPr>
              <a:t>client 360 view with policies, claims, renewals and endorsements.</a:t>
            </a:r>
          </a:p>
          <a:p>
            <a:pPr marL="201168" indent="-182880">
              <a:spcAft>
                <a:spcPts val="1200"/>
              </a:spcAft>
              <a:buClr>
                <a:srgbClr val="1E88E5"/>
              </a:buClr>
              <a:buFont typeface="Arial"/>
              <a:buChar char="•"/>
            </a:pPr>
            <a:r>
              <a:rPr b="1" sz="1600">
                <a:solidFill>
                  <a:srgbClr val="0B4F9C"/>
                </a:solidFill>
                <a:latin typeface="Calibri"/>
              </a:rPr>
              <a:t>Retains the book:  </a:t>
            </a:r>
            <a:r>
              <a:rPr sz="1600">
                <a:solidFill>
                  <a:srgbClr val="1F2937"/>
                </a:solidFill>
                <a:latin typeface="Calibri"/>
              </a:rPr>
              <a:t>works the renewal queue, at-risk policies and negotiations.</a:t>
            </a:r>
          </a:p>
          <a:p>
            <a:pPr marL="201168" indent="-182880">
              <a:spcAft>
                <a:spcPts val="1200"/>
              </a:spcAft>
              <a:buClr>
                <a:srgbClr val="1E88E5"/>
              </a:buClr>
              <a:buFont typeface="Arial"/>
              <a:buChar char="•"/>
            </a:pPr>
            <a:r>
              <a:rPr b="1" sz="1600">
                <a:solidFill>
                  <a:srgbClr val="0B4F9C"/>
                </a:solidFill>
                <a:latin typeface="Calibri"/>
              </a:rPr>
              <a:t>Tracks results:  </a:t>
            </a:r>
            <a:r>
              <a:rPr sz="1600">
                <a:solidFill>
                  <a:srgbClr val="1F2937"/>
                </a:solidFill>
                <a:latin typeface="Calibri"/>
              </a:rPr>
              <a:t>executive and agent dashboards, commission dashboard, operational reports.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06640" y="1325880"/>
            <a:ext cx="4325112" cy="1463040"/>
          </a:xfrm>
          <a:prstGeom prst="roundRect">
            <a:avLst>
              <a:gd name="adj" fmla="val 4000"/>
            </a:avLst>
          </a:prstGeom>
          <a:solidFill>
            <a:srgbClr val="F5F8FC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35240" y="1463039"/>
            <a:ext cx="393192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300" b="1" i="0">
                <a:solidFill>
                  <a:srgbClr val="1E88E5"/>
                </a:solidFill>
                <a:latin typeface="Calibri"/>
              </a:rPr>
              <a:t>Sign-in and landing page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35240" y="1783080"/>
            <a:ext cx="3931920" cy="914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User name maria.sales. Lands on the Executive Dashboard; the Agent Dashboard is in the Dashboard menu.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06640" y="2880360"/>
            <a:ext cx="4325112" cy="1600200"/>
          </a:xfrm>
          <a:prstGeom prst="roundRect">
            <a:avLst>
              <a:gd name="adj" fmla="val 4000"/>
            </a:avLst>
          </a:prstGeom>
          <a:solidFill>
            <a:srgbClr val="F5F8FC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35240" y="3017520"/>
            <a:ext cx="393192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300" b="1" i="0">
                <a:solidFill>
                  <a:srgbClr val="1E88E5"/>
                </a:solidFill>
                <a:latin typeface="Calibri"/>
              </a:rPr>
              <a:t>You hand work to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35240" y="3337560"/>
            <a:ext cx="3931920" cy="10515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Underwriter (quote approval), client (accepts by e-mail link), Finance (receipts, commission), Customer Services (endorsements), Claims.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406640" y="4572000"/>
            <a:ext cx="4325112" cy="1600200"/>
          </a:xfrm>
          <a:prstGeom prst="roundRect">
            <a:avLst>
              <a:gd name="adj" fmla="val 4000"/>
            </a:avLst>
          </a:prstGeom>
          <a:solidFill>
            <a:srgbClr val="F5F8FC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35240" y="4709160"/>
            <a:ext cx="393192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300" b="1" i="0">
                <a:solidFill>
                  <a:srgbClr val="1E88E5"/>
                </a:solidFill>
                <a:latin typeface="Calibri"/>
              </a:rPr>
              <a:t>Maker-checker partners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35240" y="5029200"/>
            <a:ext cx="3931920" cy="10515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Quotations are maker-checker: the underwriter is notified when you send one for approval.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B4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orta-techn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28232"/>
            <a:ext cx="930839" cy="274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70918" y="6437376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000" b="0" i="0">
                <a:solidFill>
                  <a:srgbClr val="5B6778"/>
                </a:solidFill>
                <a:latin typeface="Calibri"/>
              </a:rPr>
              <a:t>BrokerVerse | Sales / Relationship Manager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2009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/>
            <a:r>
              <a:rPr sz="1000" b="0" i="0">
                <a:solidFill>
                  <a:srgbClr val="5B6778"/>
                </a:solidFill>
                <a:latin typeface="Calibri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7432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1" i="0">
                <a:solidFill>
                  <a:srgbClr val="1E88E5"/>
                </a:solidFill>
                <a:latin typeface="Calibri"/>
              </a:rPr>
              <a:t>WHAT YOU SEE AFTER SIGN-IN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"/>
            <a:ext cx="11247120" cy="5943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800" b="1" i="0">
                <a:solidFill>
                  <a:srgbClr val="0B4F9C"/>
                </a:solidFill>
                <a:latin typeface="Calibri"/>
              </a:rPr>
              <a:t>Menu map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1124712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00" b="0" i="1">
                <a:solidFill>
                  <a:srgbClr val="5B6778"/>
                </a:solidFill>
                <a:latin typeface="Calibri"/>
              </a:rPr>
              <a:t>Menus and screens granted to this role (menuPermissions); anything else is hidden and blocked by the route guard and the API.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45920"/>
            <a:ext cx="3636264" cy="3089148"/>
          </a:xfrm>
          <a:prstGeom prst="roundRect">
            <a:avLst>
              <a:gd name="adj" fmla="val 4000"/>
            </a:avLst>
          </a:prstGeom>
          <a:solidFill>
            <a:srgbClr val="F5F8FC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57200" y="1645920"/>
            <a:ext cx="3636264" cy="384048"/>
          </a:xfrm>
          <a:prstGeom prst="roundRect">
            <a:avLst>
              <a:gd name="adj" fmla="val 18000"/>
            </a:avLst>
          </a:prstGeom>
          <a:solidFill>
            <a:srgbClr val="0B4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645920"/>
            <a:ext cx="3361944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Dashboard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2121408"/>
            <a:ext cx="3435095" cy="2540508"/>
          </a:xfrm>
          <a:prstGeom prst="rect">
            <a:avLst/>
          </a:prstGeom>
          <a:noFill/>
        </p:spPr>
        <p:txBody>
          <a:bodyPr wrap="square" lIns="18288" rIns="18288" tIns="18288" bIns="18288"/>
          <a:lstStyle/>
          <a:p>
            <a:pPr marL="201168" indent="-182880">
              <a:spcAft>
                <a:spcPts val="200"/>
              </a:spcAft>
              <a:buClr>
                <a:srgbClr val="1E88E5"/>
              </a:buClr>
              <a:buFont typeface="Arial"/>
              <a:buChar char="•"/>
            </a:pPr>
            <a:r>
              <a:rPr sz="1300">
                <a:solidFill>
                  <a:srgbClr val="1F2937"/>
                </a:solidFill>
                <a:latin typeface="Calibri"/>
              </a:rPr>
              <a:t>Executive Dashboard</a:t>
            </a:r>
          </a:p>
          <a:p>
            <a:pPr marL="201168" indent="-182880">
              <a:spcAft>
                <a:spcPts val="200"/>
              </a:spcAft>
              <a:buClr>
                <a:srgbClr val="1E88E5"/>
              </a:buClr>
              <a:buFont typeface="Arial"/>
              <a:buChar char="•"/>
            </a:pPr>
            <a:r>
              <a:rPr sz="1300">
                <a:solidFill>
                  <a:srgbClr val="1F2937"/>
                </a:solidFill>
                <a:latin typeface="Calibri"/>
              </a:rPr>
              <a:t>Agent Dashboard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76344" y="1645920"/>
            <a:ext cx="3636264" cy="3089148"/>
          </a:xfrm>
          <a:prstGeom prst="roundRect">
            <a:avLst>
              <a:gd name="adj" fmla="val 4000"/>
            </a:avLst>
          </a:prstGeom>
          <a:solidFill>
            <a:srgbClr val="F5F8FC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276344" y="1645920"/>
            <a:ext cx="3636264" cy="384048"/>
          </a:xfrm>
          <a:prstGeom prst="roundRect">
            <a:avLst>
              <a:gd name="adj" fmla="val 18000"/>
            </a:avLst>
          </a:prstGeom>
          <a:solidFill>
            <a:srgbClr val="0B4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13504" y="1645920"/>
            <a:ext cx="3361944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Product Configurator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6072" y="2121408"/>
            <a:ext cx="3435095" cy="2540508"/>
          </a:xfrm>
          <a:prstGeom prst="rect">
            <a:avLst/>
          </a:prstGeom>
          <a:noFill/>
        </p:spPr>
        <p:txBody>
          <a:bodyPr wrap="square" lIns="18288" rIns="18288" tIns="18288" bIns="18288"/>
          <a:lstStyle/>
          <a:p>
            <a:pPr marL="201168" indent="-182880">
              <a:spcAft>
                <a:spcPts val="200"/>
              </a:spcAft>
              <a:buClr>
                <a:srgbClr val="1E88E5"/>
              </a:buClr>
              <a:buFont typeface="Arial"/>
              <a:buChar char="•"/>
            </a:pPr>
            <a:r>
              <a:rPr sz="1300">
                <a:solidFill>
                  <a:srgbClr val="1F2937"/>
                </a:solidFill>
                <a:latin typeface="Calibri"/>
              </a:rPr>
              <a:t>Dashboard</a:t>
            </a:r>
          </a:p>
          <a:p>
            <a:pPr marL="201168" indent="-182880">
              <a:spcAft>
                <a:spcPts val="200"/>
              </a:spcAft>
              <a:buClr>
                <a:srgbClr val="1E88E5"/>
              </a:buClr>
              <a:buFont typeface="Arial"/>
              <a:buChar char="•"/>
            </a:pPr>
            <a:r>
              <a:rPr sz="1300">
                <a:solidFill>
                  <a:srgbClr val="1F2937"/>
                </a:solidFill>
                <a:latin typeface="Calibri"/>
              </a:rPr>
              <a:t>Product Templates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95488" y="1645920"/>
            <a:ext cx="3636264" cy="3089148"/>
          </a:xfrm>
          <a:prstGeom prst="roundRect">
            <a:avLst>
              <a:gd name="adj" fmla="val 4000"/>
            </a:avLst>
          </a:prstGeom>
          <a:solidFill>
            <a:srgbClr val="F5F8FC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095488" y="1645920"/>
            <a:ext cx="3636264" cy="384048"/>
          </a:xfrm>
          <a:prstGeom prst="roundRect">
            <a:avLst>
              <a:gd name="adj" fmla="val 18000"/>
            </a:avLst>
          </a:prstGeom>
          <a:solidFill>
            <a:srgbClr val="0B4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32648" y="1645920"/>
            <a:ext cx="3361944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Operations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05215" y="2121408"/>
            <a:ext cx="3435095" cy="2540508"/>
          </a:xfrm>
          <a:prstGeom prst="rect">
            <a:avLst/>
          </a:prstGeom>
          <a:noFill/>
        </p:spPr>
        <p:txBody>
          <a:bodyPr wrap="square" lIns="18288" rIns="18288" tIns="18288" bIns="18288"/>
          <a:lstStyle/>
          <a:p>
            <a:pPr marL="201168" indent="-182880">
              <a:spcAft>
                <a:spcPts val="200"/>
              </a:spcAft>
              <a:buClr>
                <a:srgbClr val="1E88E5"/>
              </a:buClr>
              <a:buFont typeface="Arial"/>
              <a:buChar char="•"/>
            </a:pPr>
            <a:r>
              <a:rPr sz="1300">
                <a:solidFill>
                  <a:srgbClr val="1F2937"/>
                </a:solidFill>
                <a:latin typeface="Calibri"/>
              </a:rPr>
              <a:t>Home</a:t>
            </a:r>
          </a:p>
          <a:p>
            <a:pPr marL="201168" indent="-182880">
              <a:spcAft>
                <a:spcPts val="200"/>
              </a:spcAft>
              <a:buClr>
                <a:srgbClr val="1E88E5"/>
              </a:buClr>
              <a:buFont typeface="Arial"/>
              <a:buChar char="•"/>
            </a:pPr>
            <a:r>
              <a:rPr sz="1300">
                <a:solidFill>
                  <a:srgbClr val="1F2937"/>
                </a:solidFill>
                <a:latin typeface="Calibri"/>
              </a:rPr>
              <a:t>Leads/Prospects</a:t>
            </a:r>
          </a:p>
          <a:p>
            <a:pPr marL="201168" indent="-182880">
              <a:spcAft>
                <a:spcPts val="200"/>
              </a:spcAft>
              <a:buClr>
                <a:srgbClr val="1E88E5"/>
              </a:buClr>
              <a:buFont typeface="Arial"/>
              <a:buChar char="•"/>
            </a:pPr>
            <a:r>
              <a:rPr sz="1300">
                <a:solidFill>
                  <a:srgbClr val="1F2937"/>
                </a:solidFill>
                <a:latin typeface="Calibri"/>
              </a:rPr>
              <a:t>Clients</a:t>
            </a:r>
          </a:p>
          <a:p>
            <a:pPr marL="201168" indent="-182880">
              <a:spcAft>
                <a:spcPts val="200"/>
              </a:spcAft>
              <a:buClr>
                <a:srgbClr val="1E88E5"/>
              </a:buClr>
              <a:buFont typeface="Arial"/>
              <a:buChar char="•"/>
            </a:pPr>
            <a:r>
              <a:rPr sz="1300">
                <a:solidFill>
                  <a:srgbClr val="1F2937"/>
                </a:solidFill>
                <a:latin typeface="Calibri"/>
              </a:rPr>
              <a:t>Quotation</a:t>
            </a:r>
          </a:p>
          <a:p>
            <a:pPr marL="201168" indent="-182880">
              <a:spcAft>
                <a:spcPts val="200"/>
              </a:spcAft>
              <a:buClr>
                <a:srgbClr val="1E88E5"/>
              </a:buClr>
              <a:buFont typeface="Arial"/>
              <a:buChar char="•"/>
            </a:pPr>
            <a:r>
              <a:rPr sz="1300">
                <a:solidFill>
                  <a:srgbClr val="1F2937"/>
                </a:solidFill>
                <a:latin typeface="Calibri"/>
              </a:rPr>
              <a:t>Policy</a:t>
            </a:r>
          </a:p>
          <a:p>
            <a:pPr marL="201168" indent="-182880">
              <a:spcAft>
                <a:spcPts val="200"/>
              </a:spcAft>
              <a:buClr>
                <a:srgbClr val="1E88E5"/>
              </a:buClr>
              <a:buFont typeface="Arial"/>
              <a:buChar char="•"/>
            </a:pPr>
            <a:r>
              <a:rPr sz="1300">
                <a:solidFill>
                  <a:srgbClr val="1F2937"/>
                </a:solidFill>
                <a:latin typeface="Calibri"/>
              </a:rPr>
              <a:t>Claims</a:t>
            </a:r>
          </a:p>
          <a:p>
            <a:pPr marL="201168" indent="-182880">
              <a:spcAft>
                <a:spcPts val="200"/>
              </a:spcAft>
              <a:buClr>
                <a:srgbClr val="1E88E5"/>
              </a:buClr>
              <a:buFont typeface="Arial"/>
              <a:buChar char="•"/>
            </a:pPr>
            <a:r>
              <a:rPr sz="1300">
                <a:solidFill>
                  <a:srgbClr val="1F2937"/>
                </a:solidFill>
                <a:latin typeface="Calibri"/>
              </a:rPr>
              <a:t>Renewals: Renewal Policy, Batch, Queue, Retention Analytics, At-Risk, Negotiations, Lapse Mgmt, Performance</a:t>
            </a:r>
          </a:p>
          <a:p>
            <a:pPr marL="201168" indent="-182880">
              <a:spcAft>
                <a:spcPts val="200"/>
              </a:spcAft>
              <a:buClr>
                <a:srgbClr val="1E88E5"/>
              </a:buClr>
              <a:buFont typeface="Arial"/>
              <a:buChar char="•"/>
            </a:pPr>
            <a:r>
              <a:rPr sz="1300">
                <a:solidFill>
                  <a:srgbClr val="1F2937"/>
                </a:solidFill>
                <a:latin typeface="Calibri"/>
              </a:rPr>
              <a:t>Open Items</a:t>
            </a:r>
          </a:p>
          <a:p>
            <a:pPr marL="201168" indent="-182880">
              <a:spcAft>
                <a:spcPts val="200"/>
              </a:spcAft>
              <a:buClr>
                <a:srgbClr val="1E88E5"/>
              </a:buClr>
              <a:buFont typeface="Arial"/>
              <a:buChar char="•"/>
            </a:pPr>
            <a:r>
              <a:rPr sz="1300">
                <a:solidFill>
                  <a:srgbClr val="1F2937"/>
                </a:solidFill>
                <a:latin typeface="Calibri"/>
              </a:rPr>
              <a:t>Payments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4917948"/>
            <a:ext cx="3636264" cy="1299972"/>
          </a:xfrm>
          <a:prstGeom prst="roundRect">
            <a:avLst>
              <a:gd name="adj" fmla="val 4000"/>
            </a:avLst>
          </a:prstGeom>
          <a:solidFill>
            <a:srgbClr val="F5F8FC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57200" y="4917948"/>
            <a:ext cx="3636264" cy="384048"/>
          </a:xfrm>
          <a:prstGeom prst="roundRect">
            <a:avLst>
              <a:gd name="adj" fmla="val 18000"/>
            </a:avLst>
          </a:prstGeom>
          <a:solidFill>
            <a:srgbClr val="0B4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4917948"/>
            <a:ext cx="3361944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Commission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5393436"/>
            <a:ext cx="3435095" cy="751332"/>
          </a:xfrm>
          <a:prstGeom prst="rect">
            <a:avLst/>
          </a:prstGeom>
          <a:noFill/>
        </p:spPr>
        <p:txBody>
          <a:bodyPr wrap="square" lIns="18288" rIns="18288" tIns="18288" bIns="18288"/>
          <a:lstStyle/>
          <a:p>
            <a:pPr marL="201168" indent="-182880">
              <a:spcAft>
                <a:spcPts val="200"/>
              </a:spcAft>
              <a:buClr>
                <a:srgbClr val="1E88E5"/>
              </a:buClr>
              <a:buFont typeface="Arial"/>
              <a:buChar char="•"/>
            </a:pPr>
            <a:r>
              <a:rPr sz="1300">
                <a:solidFill>
                  <a:srgbClr val="1F2937"/>
                </a:solidFill>
                <a:latin typeface="Calibri"/>
              </a:rPr>
              <a:t>Commission Dashboard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276344" y="4917948"/>
            <a:ext cx="3636264" cy="1299972"/>
          </a:xfrm>
          <a:prstGeom prst="roundRect">
            <a:avLst>
              <a:gd name="adj" fmla="val 4000"/>
            </a:avLst>
          </a:prstGeom>
          <a:solidFill>
            <a:srgbClr val="F5F8FC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4276344" y="4917948"/>
            <a:ext cx="3636264" cy="384048"/>
          </a:xfrm>
          <a:prstGeom prst="roundRect">
            <a:avLst>
              <a:gd name="adj" fmla="val 18000"/>
            </a:avLst>
          </a:prstGeom>
          <a:solidFill>
            <a:srgbClr val="0B4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413504" y="4917948"/>
            <a:ext cx="3361944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Reports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6072" y="5393436"/>
            <a:ext cx="3435095" cy="751332"/>
          </a:xfrm>
          <a:prstGeom prst="rect">
            <a:avLst/>
          </a:prstGeom>
          <a:noFill/>
        </p:spPr>
        <p:txBody>
          <a:bodyPr wrap="square" lIns="18288" rIns="18288" tIns="18288" bIns="18288"/>
          <a:lstStyle/>
          <a:p>
            <a:pPr marL="201168" indent="-182880">
              <a:spcAft>
                <a:spcPts val="200"/>
              </a:spcAft>
              <a:buClr>
                <a:srgbClr val="1E88E5"/>
              </a:buClr>
              <a:buFont typeface="Arial"/>
              <a:buChar char="•"/>
            </a:pPr>
            <a:r>
              <a:rPr sz="1300">
                <a:solidFill>
                  <a:srgbClr val="1F2937"/>
                </a:solidFill>
                <a:latin typeface="Calibri"/>
              </a:rPr>
              <a:t>All Reports (12 reports)</a:t>
            </a:r>
          </a:p>
          <a:p>
            <a:pPr marL="201168" indent="-182880">
              <a:spcAft>
                <a:spcPts val="200"/>
              </a:spcAft>
              <a:buClr>
                <a:srgbClr val="1E88E5"/>
              </a:buClr>
              <a:buFont typeface="Arial"/>
              <a:buChar char="•"/>
            </a:pPr>
            <a:r>
              <a:rPr sz="1300">
                <a:solidFill>
                  <a:srgbClr val="1F2937"/>
                </a:solidFill>
                <a:latin typeface="Calibri"/>
              </a:rPr>
              <a:t>Operational Reports: Production, Claims, Renewal, Remittance, Broker Commission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B4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orta-techn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28232"/>
            <a:ext cx="930839" cy="274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70918" y="6437376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000" b="0" i="0">
                <a:solidFill>
                  <a:srgbClr val="5B6778"/>
                </a:solidFill>
                <a:latin typeface="Calibri"/>
              </a:rPr>
              <a:t>BrokerVerse | Sales / Relationship Manager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2009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/>
            <a:r>
              <a:rPr sz="1000" b="0" i="0">
                <a:solidFill>
                  <a:srgbClr val="5B6778"/>
                </a:solidFill>
                <a:latin typeface="Calibri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7432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1" i="0">
                <a:solidFill>
                  <a:srgbClr val="1E88E5"/>
                </a:solidFill>
                <a:latin typeface="Calibri"/>
              </a:rPr>
              <a:t>KEY FUNCTION 1 OF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"/>
            <a:ext cx="11247120" cy="5943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800" b="1" i="0">
                <a:solidFill>
                  <a:srgbClr val="0B4F9C"/>
                </a:solidFill>
                <a:latin typeface="Calibri"/>
              </a:rPr>
              <a:t>Executive dashboard</a:t>
            </a:r>
          </a:p>
        </p:txBody>
      </p:sp>
      <p:sp>
        <p:nvSpPr>
          <p:cNvPr id="8" name="Rectangle 7"/>
          <p:cNvSpPr/>
          <p:nvPr/>
        </p:nvSpPr>
        <p:spPr>
          <a:xfrm>
            <a:off x="420624" y="1243584"/>
            <a:ext cx="7315200" cy="4599432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280160"/>
            <a:ext cx="7242048" cy="4526280"/>
          </a:xfrm>
          <a:prstGeom prst="rect">
            <a:avLst/>
          </a:prstGeom>
          <a:ln w="6350">
            <a:solidFill>
              <a:srgbClr val="D5DEEA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457200" y="5897879"/>
            <a:ext cx="726948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00" b="0" i="1">
                <a:solidFill>
                  <a:srgbClr val="5B6778"/>
                </a:solidFill>
                <a:latin typeface="Calibri"/>
              </a:rPr>
              <a:t>Live screen — Dashboard &gt; Executive Dashboard — signed in as maria.sales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01000" y="1243584"/>
            <a:ext cx="3733495" cy="4965192"/>
          </a:xfrm>
          <a:prstGeom prst="roundRect">
            <a:avLst>
              <a:gd name="adj" fmla="val 4000"/>
            </a:avLst>
          </a:prstGeom>
          <a:solidFill>
            <a:srgbClr val="F5F8FC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1389888"/>
            <a:ext cx="3276295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1" i="0">
                <a:solidFill>
                  <a:srgbClr val="1E88E5"/>
                </a:solidFill>
                <a:latin typeface="Calibri"/>
              </a:rPr>
              <a:t>Dashboard &gt; Executive Dashboard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1783080"/>
            <a:ext cx="3322015" cy="4343400"/>
          </a:xfrm>
          <a:prstGeom prst="rect">
            <a:avLst/>
          </a:prstGeom>
          <a:noFill/>
        </p:spPr>
        <p:txBody>
          <a:bodyPr wrap="square" lIns="18288" rIns="18288" tIns="18288" bIns="18288"/>
          <a:lstStyle/>
          <a:p>
            <a:pPr marL="201168" indent="-182880">
              <a:spcAft>
                <a:spcPts val="1000"/>
              </a:spcAft>
              <a:buClr>
                <a:srgbClr val="1E88E5"/>
              </a:buClr>
              <a:buFont typeface="Arial"/>
              <a:buChar char="•"/>
            </a:pPr>
            <a:r>
              <a:rPr b="1" sz="1500">
                <a:solidFill>
                  <a:srgbClr val="0B4F9C"/>
                </a:solidFill>
                <a:latin typeface="Calibri"/>
              </a:rPr>
              <a:t>Purpose:  </a:t>
            </a:r>
            <a:r>
              <a:rPr sz="1500">
                <a:solidFill>
                  <a:srgbClr val="1F2937"/>
                </a:solidFill>
                <a:latin typeface="Calibri"/>
              </a:rPr>
              <a:t>revenue, active policies, new business and claims ratio against target.</a:t>
            </a:r>
          </a:p>
          <a:p>
            <a:pPr marL="201168" indent="-182880">
              <a:spcAft>
                <a:spcPts val="1000"/>
              </a:spcAft>
              <a:buClr>
                <a:srgbClr val="1E88E5"/>
              </a:buClr>
              <a:buFont typeface="Arial"/>
              <a:buChar char="•"/>
            </a:pPr>
            <a:r>
              <a:rPr b="1" sz="1500">
                <a:solidFill>
                  <a:srgbClr val="0B4F9C"/>
                </a:solidFill>
                <a:latin typeface="Calibri"/>
              </a:rPr>
              <a:t>Periods:  </a:t>
            </a:r>
            <a:r>
              <a:rPr sz="1500">
                <a:solidFill>
                  <a:srgbClr val="1F2937"/>
                </a:solidFill>
                <a:latin typeface="Calibri"/>
              </a:rPr>
              <a:t>This Month / Quarter / Year are calendar periods in Manila time.</a:t>
            </a:r>
          </a:p>
          <a:p>
            <a:pPr marL="201168" indent="-182880">
              <a:spcAft>
                <a:spcPts val="1000"/>
              </a:spcAft>
              <a:buClr>
                <a:srgbClr val="1E88E5"/>
              </a:buClr>
              <a:buFont typeface="Arial"/>
              <a:buChar char="•"/>
            </a:pPr>
            <a:r>
              <a:rPr b="1" sz="1500">
                <a:solidFill>
                  <a:srgbClr val="0B4F9C"/>
                </a:solidFill>
                <a:latin typeface="Calibri"/>
              </a:rPr>
              <a:t>Source:  </a:t>
            </a:r>
            <a:r>
              <a:rPr sz="1500">
                <a:solidFill>
                  <a:srgbClr val="1F2937"/>
                </a:solidFill>
                <a:latin typeface="Calibri"/>
              </a:rPr>
              <a:t>moves as soon as a policy is issued or a claim is registered.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B4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orta-techn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28232"/>
            <a:ext cx="930839" cy="274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70918" y="6437376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000" b="0" i="0">
                <a:solidFill>
                  <a:srgbClr val="5B6778"/>
                </a:solidFill>
                <a:latin typeface="Calibri"/>
              </a:rPr>
              <a:t>BrokerVerse | Sales / Relationship Manager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2009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/>
            <a:r>
              <a:rPr sz="1000" b="0" i="0">
                <a:solidFill>
                  <a:srgbClr val="5B6778"/>
                </a:solidFill>
                <a:latin typeface="Calibri"/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7432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1" i="0">
                <a:solidFill>
                  <a:srgbClr val="1E88E5"/>
                </a:solidFill>
                <a:latin typeface="Calibri"/>
              </a:rPr>
              <a:t>KEY FUNCTION 2 OF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"/>
            <a:ext cx="11247120" cy="5943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800" b="1" i="0">
                <a:solidFill>
                  <a:srgbClr val="0B4F9C"/>
                </a:solidFill>
                <a:latin typeface="Calibri"/>
              </a:rPr>
              <a:t>Leads / prospects</a:t>
            </a:r>
          </a:p>
        </p:txBody>
      </p:sp>
      <p:sp>
        <p:nvSpPr>
          <p:cNvPr id="8" name="Rectangle 7"/>
          <p:cNvSpPr/>
          <p:nvPr/>
        </p:nvSpPr>
        <p:spPr>
          <a:xfrm>
            <a:off x="420624" y="1243584"/>
            <a:ext cx="7315200" cy="4599432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280160"/>
            <a:ext cx="7242048" cy="4526280"/>
          </a:xfrm>
          <a:prstGeom prst="rect">
            <a:avLst/>
          </a:prstGeom>
          <a:ln w="6350">
            <a:solidFill>
              <a:srgbClr val="D5DEEA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457200" y="5897879"/>
            <a:ext cx="726948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00" b="0" i="1">
                <a:solidFill>
                  <a:srgbClr val="5B6778"/>
                </a:solidFill>
                <a:latin typeface="Calibri"/>
              </a:rPr>
              <a:t>Live screen — Operations &gt; Leads/Prospects — signed in as maria.sales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01000" y="1243584"/>
            <a:ext cx="3733495" cy="4965192"/>
          </a:xfrm>
          <a:prstGeom prst="roundRect">
            <a:avLst>
              <a:gd name="adj" fmla="val 4000"/>
            </a:avLst>
          </a:prstGeom>
          <a:solidFill>
            <a:srgbClr val="F5F8FC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1389888"/>
            <a:ext cx="3276295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1" i="0">
                <a:solidFill>
                  <a:srgbClr val="1E88E5"/>
                </a:solidFill>
                <a:latin typeface="Calibri"/>
              </a:rPr>
              <a:t>Operations &gt; Leads/Prospects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1783080"/>
            <a:ext cx="3322015" cy="4343400"/>
          </a:xfrm>
          <a:prstGeom prst="rect">
            <a:avLst/>
          </a:prstGeom>
          <a:noFill/>
        </p:spPr>
        <p:txBody>
          <a:bodyPr wrap="square" lIns="18288" rIns="18288" tIns="18288" bIns="18288"/>
          <a:lstStyle/>
          <a:p>
            <a:pPr marL="201168" indent="-182880">
              <a:spcAft>
                <a:spcPts val="1000"/>
              </a:spcAft>
              <a:buClr>
                <a:srgbClr val="1E88E5"/>
              </a:buClr>
              <a:buFont typeface="Arial"/>
              <a:buChar char="•"/>
            </a:pPr>
            <a:r>
              <a:rPr b="1" sz="1500">
                <a:solidFill>
                  <a:srgbClr val="0B4F9C"/>
                </a:solidFill>
                <a:latin typeface="Calibri"/>
              </a:rPr>
              <a:t>Purpose:  </a:t>
            </a:r>
            <a:r>
              <a:rPr sz="1500">
                <a:solidFill>
                  <a:srgbClr val="1F2937"/>
                </a:solidFill>
                <a:latin typeface="Calibri"/>
              </a:rPr>
              <a:t>every prospect by line (Motor, Fire and Allied Perils, Industrial All Risks).</a:t>
            </a:r>
          </a:p>
          <a:p>
            <a:pPr marL="201168" indent="-182880">
              <a:spcAft>
                <a:spcPts val="1000"/>
              </a:spcAft>
              <a:buClr>
                <a:srgbClr val="1E88E5"/>
              </a:buClr>
              <a:buFont typeface="Arial"/>
              <a:buChar char="•"/>
            </a:pPr>
            <a:r>
              <a:rPr b="1" sz="1500">
                <a:solidFill>
                  <a:srgbClr val="0B4F9C"/>
                </a:solidFill>
                <a:latin typeface="Calibri"/>
              </a:rPr>
              <a:t>Create Lead:  </a:t>
            </a:r>
            <a:r>
              <a:rPr sz="1500">
                <a:solidFill>
                  <a:srgbClr val="1F2937"/>
                </a:solidFill>
                <a:latin typeface="Calibri"/>
              </a:rPr>
              <a:t>name, category, date of birth, e-mail and mobile (0917 123 4567 or +63 917 123 4567) are validated.</a:t>
            </a:r>
          </a:p>
          <a:p>
            <a:pPr marL="201168" indent="-182880">
              <a:spcAft>
                <a:spcPts val="1000"/>
              </a:spcAft>
              <a:buClr>
                <a:srgbClr val="1E88E5"/>
              </a:buClr>
              <a:buFont typeface="Arial"/>
              <a:buChar char="•"/>
            </a:pPr>
            <a:r>
              <a:rPr b="1" sz="1500">
                <a:solidFill>
                  <a:srgbClr val="0B4F9C"/>
                </a:solidFill>
                <a:latin typeface="Calibri"/>
              </a:rPr>
              <a:t>KPIs:  </a:t>
            </a:r>
            <a:r>
              <a:rPr sz="1500">
                <a:solidFill>
                  <a:srgbClr val="1F2937"/>
                </a:solidFill>
                <a:latin typeface="Calibri"/>
              </a:rPr>
              <a:t>total, last 7 / 30 days, converted, conversion rate.</a:t>
            </a:r>
          </a:p>
          <a:p>
            <a:pPr marL="201168" indent="-182880">
              <a:spcAft>
                <a:spcPts val="1000"/>
              </a:spcAft>
              <a:buClr>
                <a:srgbClr val="1E88E5"/>
              </a:buClr>
              <a:buFont typeface="Arial"/>
              <a:buChar char="•"/>
            </a:pPr>
            <a:r>
              <a:rPr b="1" sz="1500">
                <a:solidFill>
                  <a:srgbClr val="0B4F9C"/>
                </a:solidFill>
                <a:latin typeface="Calibri"/>
              </a:rPr>
              <a:t>Next:  </a:t>
            </a:r>
            <a:r>
              <a:rPr sz="1500">
                <a:solidFill>
                  <a:srgbClr val="1F2937"/>
                </a:solidFill>
                <a:latin typeface="Calibri"/>
              </a:rPr>
              <a:t>Create Quote from Lead Details; Generate Report downloads the lead list.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B4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orta-techn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28232"/>
            <a:ext cx="930839" cy="274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70918" y="6437376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000" b="0" i="0">
                <a:solidFill>
                  <a:srgbClr val="5B6778"/>
                </a:solidFill>
                <a:latin typeface="Calibri"/>
              </a:rPr>
              <a:t>BrokerVerse | Sales / Relationship Manager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2009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/>
            <a:r>
              <a:rPr sz="1000" b="0" i="0">
                <a:solidFill>
                  <a:srgbClr val="5B6778"/>
                </a:solidFill>
                <a:latin typeface="Calibri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7432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1" i="0">
                <a:solidFill>
                  <a:srgbClr val="1E88E5"/>
                </a:solidFill>
                <a:latin typeface="Calibri"/>
              </a:rPr>
              <a:t>KEY FUNCTION 3 OF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"/>
            <a:ext cx="11247120" cy="5943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800" b="1" i="0">
                <a:solidFill>
                  <a:srgbClr val="0B4F9C"/>
                </a:solidFill>
                <a:latin typeface="Calibri"/>
              </a:rPr>
              <a:t>Quotation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420624" y="1243584"/>
            <a:ext cx="7315200" cy="4599432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280160"/>
            <a:ext cx="7242048" cy="4526280"/>
          </a:xfrm>
          <a:prstGeom prst="rect">
            <a:avLst/>
          </a:prstGeom>
          <a:ln w="6350">
            <a:solidFill>
              <a:srgbClr val="D5DEEA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457200" y="5897879"/>
            <a:ext cx="726948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00" b="0" i="1">
                <a:solidFill>
                  <a:srgbClr val="5B6778"/>
                </a:solidFill>
                <a:latin typeface="Calibri"/>
              </a:rPr>
              <a:t>Live screen — Operations &gt; Quotation — signed in as maria.sales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01000" y="1243584"/>
            <a:ext cx="3733495" cy="4965192"/>
          </a:xfrm>
          <a:prstGeom prst="roundRect">
            <a:avLst>
              <a:gd name="adj" fmla="val 4000"/>
            </a:avLst>
          </a:prstGeom>
          <a:solidFill>
            <a:srgbClr val="F5F8FC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1389888"/>
            <a:ext cx="3276295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1" i="0">
                <a:solidFill>
                  <a:srgbClr val="1E88E5"/>
                </a:solidFill>
                <a:latin typeface="Calibri"/>
              </a:rPr>
              <a:t>Operations &gt; Quotation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1783080"/>
            <a:ext cx="3322015" cy="4343400"/>
          </a:xfrm>
          <a:prstGeom prst="rect">
            <a:avLst/>
          </a:prstGeom>
          <a:noFill/>
        </p:spPr>
        <p:txBody>
          <a:bodyPr wrap="square" lIns="18288" rIns="18288" tIns="18288" bIns="18288"/>
          <a:lstStyle/>
          <a:p>
            <a:pPr marL="201168" indent="-182880">
              <a:spcAft>
                <a:spcPts val="1000"/>
              </a:spcAft>
              <a:buClr>
                <a:srgbClr val="1E88E5"/>
              </a:buClr>
              <a:buFont typeface="Arial"/>
              <a:buChar char="•"/>
            </a:pPr>
            <a:r>
              <a:rPr b="1" sz="1500">
                <a:solidFill>
                  <a:srgbClr val="0B4F9C"/>
                </a:solidFill>
                <a:latin typeface="Calibri"/>
              </a:rPr>
              <a:t>Purpose:  </a:t>
            </a:r>
            <a:r>
              <a:rPr sz="1500">
                <a:solidFill>
                  <a:srgbClr val="1F2937"/>
                </a:solidFill>
                <a:latin typeface="Calibri"/>
              </a:rPr>
              <a:t>all quotes with status: draft, sent for approval, approved, converted.</a:t>
            </a:r>
          </a:p>
          <a:p>
            <a:pPr marL="201168" indent="-182880">
              <a:spcAft>
                <a:spcPts val="1000"/>
              </a:spcAft>
              <a:buClr>
                <a:srgbClr val="1E88E5"/>
              </a:buClr>
              <a:buFont typeface="Arial"/>
              <a:buChar char="•"/>
            </a:pPr>
            <a:r>
              <a:rPr b="1" sz="1500">
                <a:solidFill>
                  <a:srgbClr val="0B4F9C"/>
                </a:solidFill>
                <a:latin typeface="Calibri"/>
              </a:rPr>
              <a:t>Pricing:  </a:t>
            </a:r>
            <a:r>
              <a:rPr sz="1500">
                <a:solidFill>
                  <a:srgbClr val="1F2937"/>
                </a:solidFill>
                <a:latin typeface="Calibri"/>
              </a:rPr>
              <a:t>server re-prices with the configured rates: VAT 12%, DST 12.5%, LGT 0.75%, CTPL tariff.</a:t>
            </a:r>
          </a:p>
          <a:p>
            <a:pPr marL="201168" indent="-182880">
              <a:spcAft>
                <a:spcPts val="1000"/>
              </a:spcAft>
              <a:buClr>
                <a:srgbClr val="1E88E5"/>
              </a:buClr>
              <a:buFont typeface="Arial"/>
              <a:buChar char="•"/>
            </a:pPr>
            <a:r>
              <a:rPr b="1" sz="1500">
                <a:solidFill>
                  <a:srgbClr val="0B4F9C"/>
                </a:solidFill>
                <a:latin typeface="Calibri"/>
              </a:rPr>
              <a:t>Approval:  </a:t>
            </a:r>
            <a:r>
              <a:rPr sz="1500">
                <a:solidFill>
                  <a:srgbClr val="1F2937"/>
                </a:solidFill>
                <a:latin typeface="Calibri"/>
              </a:rPr>
              <a:t>sent quotes notify the underwriter; the client accepts by e-mail link (valid 7 days).</a:t>
            </a:r>
          </a:p>
          <a:p>
            <a:pPr marL="201168" indent="-182880">
              <a:spcAft>
                <a:spcPts val="1000"/>
              </a:spcAft>
              <a:buClr>
                <a:srgbClr val="1E88E5"/>
              </a:buClr>
              <a:buFont typeface="Arial"/>
              <a:buChar char="•"/>
            </a:pPr>
            <a:r>
              <a:rPr b="1" sz="1500">
                <a:solidFill>
                  <a:srgbClr val="0B4F9C"/>
                </a:solidFill>
                <a:latin typeface="Calibri"/>
              </a:rPr>
              <a:t>Expiry:  </a:t>
            </a:r>
            <a:r>
              <a:rPr sz="1500">
                <a:solidFill>
                  <a:srgbClr val="1F2937"/>
                </a:solidFill>
                <a:latin typeface="Calibri"/>
              </a:rPr>
              <a:t>quotes past validity expire overnight.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B4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orta-techn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28232"/>
            <a:ext cx="930839" cy="274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70918" y="6437376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000" b="0" i="0">
                <a:solidFill>
                  <a:srgbClr val="5B6778"/>
                </a:solidFill>
                <a:latin typeface="Calibri"/>
              </a:rPr>
              <a:t>BrokerVerse | Sales / Relationship Manager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2009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/>
            <a:r>
              <a:rPr sz="1000" b="0" i="0">
                <a:solidFill>
                  <a:srgbClr val="5B6778"/>
                </a:solidFill>
                <a:latin typeface="Calibri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7432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1" i="0">
                <a:solidFill>
                  <a:srgbClr val="1E88E5"/>
                </a:solidFill>
                <a:latin typeface="Calibri"/>
              </a:rPr>
              <a:t>KEY FUNCTION 4 OF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"/>
            <a:ext cx="11247120" cy="5943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800" b="1" i="0">
                <a:solidFill>
                  <a:srgbClr val="0B4F9C"/>
                </a:solidFill>
                <a:latin typeface="Calibri"/>
              </a:rPr>
              <a:t>Policy</a:t>
            </a:r>
          </a:p>
        </p:txBody>
      </p:sp>
      <p:sp>
        <p:nvSpPr>
          <p:cNvPr id="8" name="Rectangle 7"/>
          <p:cNvSpPr/>
          <p:nvPr/>
        </p:nvSpPr>
        <p:spPr>
          <a:xfrm>
            <a:off x="420624" y="1243584"/>
            <a:ext cx="7315200" cy="4599432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280160"/>
            <a:ext cx="7242048" cy="4526280"/>
          </a:xfrm>
          <a:prstGeom prst="rect">
            <a:avLst/>
          </a:prstGeom>
          <a:ln w="6350">
            <a:solidFill>
              <a:srgbClr val="D5DEEA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457200" y="5897879"/>
            <a:ext cx="726948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00" b="0" i="1">
                <a:solidFill>
                  <a:srgbClr val="5B6778"/>
                </a:solidFill>
                <a:latin typeface="Calibri"/>
              </a:rPr>
              <a:t>Live screen — Operations &gt; Policy — signed in as maria.sales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01000" y="1243584"/>
            <a:ext cx="3733495" cy="4965192"/>
          </a:xfrm>
          <a:prstGeom prst="roundRect">
            <a:avLst>
              <a:gd name="adj" fmla="val 4000"/>
            </a:avLst>
          </a:prstGeom>
          <a:solidFill>
            <a:srgbClr val="F5F8FC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1389888"/>
            <a:ext cx="3276295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1" i="0">
                <a:solidFill>
                  <a:srgbClr val="1E88E5"/>
                </a:solidFill>
                <a:latin typeface="Calibri"/>
              </a:rPr>
              <a:t>Operations &gt; Policy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1783080"/>
            <a:ext cx="3322015" cy="4343400"/>
          </a:xfrm>
          <a:prstGeom prst="rect">
            <a:avLst/>
          </a:prstGeom>
          <a:noFill/>
        </p:spPr>
        <p:txBody>
          <a:bodyPr wrap="square" lIns="18288" rIns="18288" tIns="18288" bIns="18288"/>
          <a:lstStyle/>
          <a:p>
            <a:pPr marL="201168" indent="-182880">
              <a:spcAft>
                <a:spcPts val="1000"/>
              </a:spcAft>
              <a:buClr>
                <a:srgbClr val="1E88E5"/>
              </a:buClr>
              <a:buFont typeface="Arial"/>
              <a:buChar char="•"/>
            </a:pPr>
            <a:r>
              <a:rPr b="1" sz="1500">
                <a:solidFill>
                  <a:srgbClr val="0B4F9C"/>
                </a:solidFill>
                <a:latin typeface="Calibri"/>
              </a:rPr>
              <a:t>Purpose:  </a:t>
            </a:r>
            <a:r>
              <a:rPr sz="1500">
                <a:solidFill>
                  <a:srgbClr val="1F2937"/>
                </a:solidFill>
                <a:latin typeface="Calibri"/>
              </a:rPr>
              <a:t>policies with insurer, premium, dates and payment status.</a:t>
            </a:r>
          </a:p>
          <a:p>
            <a:pPr marL="201168" indent="-182880">
              <a:spcAft>
                <a:spcPts val="1000"/>
              </a:spcAft>
              <a:buClr>
                <a:srgbClr val="1E88E5"/>
              </a:buClr>
              <a:buFont typeface="Arial"/>
              <a:buChar char="•"/>
            </a:pPr>
            <a:r>
              <a:rPr b="1" sz="1500">
                <a:solidFill>
                  <a:srgbClr val="0B4F9C"/>
                </a:solidFill>
                <a:latin typeface="Calibri"/>
              </a:rPr>
              <a:t>Convert:  </a:t>
            </a:r>
            <a:r>
              <a:rPr sz="1500">
                <a:solidFill>
                  <a:srgbClr val="1F2937"/>
                </a:solidFill>
                <a:latin typeface="Calibri"/>
              </a:rPr>
              <a:t>KYC, vehicle photos, then broker or direct bill on Send to Insurance Company.</a:t>
            </a:r>
          </a:p>
          <a:p>
            <a:pPr marL="201168" indent="-182880">
              <a:spcAft>
                <a:spcPts val="1000"/>
              </a:spcAft>
              <a:buClr>
                <a:srgbClr val="1E88E5"/>
              </a:buClr>
              <a:buFont typeface="Arial"/>
              <a:buChar char="•"/>
            </a:pPr>
            <a:r>
              <a:rPr b="1" sz="1500">
                <a:solidFill>
                  <a:srgbClr val="0B4F9C"/>
                </a:solidFill>
                <a:latin typeface="Calibri"/>
              </a:rPr>
              <a:t>Downstream:  </a:t>
            </a:r>
            <a:r>
              <a:rPr sz="1500">
                <a:solidFill>
                  <a:srgbClr val="1F2937"/>
                </a:solidFill>
                <a:latin typeface="Calibri"/>
              </a:rPr>
              <a:t>bill INV + booking journal + collection item + commission accrual.</a:t>
            </a:r>
          </a:p>
          <a:p>
            <a:pPr marL="201168" indent="-182880">
              <a:spcAft>
                <a:spcPts val="1000"/>
              </a:spcAft>
              <a:buClr>
                <a:srgbClr val="1E88E5"/>
              </a:buClr>
              <a:buFont typeface="Arial"/>
              <a:buChar char="•"/>
            </a:pPr>
            <a:r>
              <a:rPr b="1" sz="1500">
                <a:solidFill>
                  <a:srgbClr val="0B4F9C"/>
                </a:solidFill>
                <a:latin typeface="Calibri"/>
              </a:rPr>
              <a:t>Actions:  </a:t>
            </a:r>
            <a:r>
              <a:rPr sz="1500">
                <a:solidFill>
                  <a:srgbClr val="1F2937"/>
                </a:solidFill>
                <a:latin typeface="Calibri"/>
              </a:rPr>
              <a:t>endorsement, claim, renewal from the row menu.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B4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orta-techn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28232"/>
            <a:ext cx="930839" cy="274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70918" y="6437376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000" b="0" i="0">
                <a:solidFill>
                  <a:srgbClr val="5B6778"/>
                </a:solidFill>
                <a:latin typeface="Calibri"/>
              </a:rPr>
              <a:t>BrokerVerse | Sales / Relationship Manager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2009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/>
            <a:r>
              <a:rPr sz="1000" b="0" i="0">
                <a:solidFill>
                  <a:srgbClr val="5B6778"/>
                </a:solidFill>
                <a:latin typeface="Calibri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7432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1" i="0">
                <a:solidFill>
                  <a:srgbClr val="1E88E5"/>
                </a:solidFill>
                <a:latin typeface="Calibri"/>
              </a:rPr>
              <a:t>KEY FUNCTION 5 OF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"/>
            <a:ext cx="11247120" cy="5943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800" b="1" i="0">
                <a:solidFill>
                  <a:srgbClr val="0B4F9C"/>
                </a:solidFill>
                <a:latin typeface="Calibri"/>
              </a:rPr>
              <a:t>Renewal queue</a:t>
            </a:r>
          </a:p>
        </p:txBody>
      </p:sp>
      <p:sp>
        <p:nvSpPr>
          <p:cNvPr id="8" name="Rectangle 7"/>
          <p:cNvSpPr/>
          <p:nvPr/>
        </p:nvSpPr>
        <p:spPr>
          <a:xfrm>
            <a:off x="420624" y="1243584"/>
            <a:ext cx="7315200" cy="4599432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280160"/>
            <a:ext cx="7242048" cy="4526280"/>
          </a:xfrm>
          <a:prstGeom prst="rect">
            <a:avLst/>
          </a:prstGeom>
          <a:ln w="6350">
            <a:solidFill>
              <a:srgbClr val="D5DEEA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457200" y="5897879"/>
            <a:ext cx="726948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00" b="0" i="1">
                <a:solidFill>
                  <a:srgbClr val="5B6778"/>
                </a:solidFill>
                <a:latin typeface="Calibri"/>
              </a:rPr>
              <a:t>Live screen — Operations &gt; Renewals &gt; Renewal Queue — signed in as maria.sales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01000" y="1243584"/>
            <a:ext cx="3733495" cy="4965192"/>
          </a:xfrm>
          <a:prstGeom prst="roundRect">
            <a:avLst>
              <a:gd name="adj" fmla="val 4000"/>
            </a:avLst>
          </a:prstGeom>
          <a:solidFill>
            <a:srgbClr val="F5F8FC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1389888"/>
            <a:ext cx="3276295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1" i="0">
                <a:solidFill>
                  <a:srgbClr val="1E88E5"/>
                </a:solidFill>
                <a:latin typeface="Calibri"/>
              </a:rPr>
              <a:t>Operations &gt; Renewals &gt; Renewal Queue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1783080"/>
            <a:ext cx="3322015" cy="4343400"/>
          </a:xfrm>
          <a:prstGeom prst="rect">
            <a:avLst/>
          </a:prstGeom>
          <a:noFill/>
        </p:spPr>
        <p:txBody>
          <a:bodyPr wrap="square" lIns="18288" rIns="18288" tIns="18288" bIns="18288"/>
          <a:lstStyle/>
          <a:p>
            <a:pPr marL="201168" indent="-182880">
              <a:spcAft>
                <a:spcPts val="1000"/>
              </a:spcAft>
              <a:buClr>
                <a:srgbClr val="1E88E5"/>
              </a:buClr>
              <a:buFont typeface="Arial"/>
              <a:buChar char="•"/>
            </a:pPr>
            <a:r>
              <a:rPr b="1" sz="1500">
                <a:solidFill>
                  <a:srgbClr val="0B4F9C"/>
                </a:solidFill>
                <a:latin typeface="Calibri"/>
              </a:rPr>
              <a:t>Purpose:  </a:t>
            </a:r>
            <a:r>
              <a:rPr sz="1500">
                <a:solidFill>
                  <a:srgbClr val="1F2937"/>
                </a:solidFill>
                <a:latin typeface="Calibri"/>
              </a:rPr>
              <a:t>policies due for renewal with days to expiry, risk level and assigned agent.</a:t>
            </a:r>
          </a:p>
          <a:p>
            <a:pPr marL="201168" indent="-182880">
              <a:spcAft>
                <a:spcPts val="1000"/>
              </a:spcAft>
              <a:buClr>
                <a:srgbClr val="1E88E5"/>
              </a:buClr>
              <a:buFont typeface="Arial"/>
              <a:buChar char="•"/>
            </a:pPr>
            <a:r>
              <a:rPr b="1" sz="1500">
                <a:solidFill>
                  <a:srgbClr val="0B4F9C"/>
                </a:solidFill>
                <a:latin typeface="Calibri"/>
              </a:rPr>
              <a:t>Timing:  </a:t>
            </a:r>
            <a:r>
              <a:rPr sz="1500">
                <a:solidFill>
                  <a:srgbClr val="1F2937"/>
                </a:solidFill>
                <a:latin typeface="Calibri"/>
              </a:rPr>
              <a:t>enrolled 90 days before expiry; notices at 60 / 30 / 15 days.</a:t>
            </a:r>
          </a:p>
          <a:p>
            <a:pPr marL="201168" indent="-182880">
              <a:spcAft>
                <a:spcPts val="1000"/>
              </a:spcAft>
              <a:buClr>
                <a:srgbClr val="1E88E5"/>
              </a:buClr>
              <a:buFont typeface="Arial"/>
              <a:buChar char="•"/>
            </a:pPr>
            <a:r>
              <a:rPr b="1" sz="1500">
                <a:solidFill>
                  <a:srgbClr val="0B4F9C"/>
                </a:solidFill>
                <a:latin typeface="Calibri"/>
              </a:rPr>
              <a:t>Rules:  </a:t>
            </a:r>
            <a:r>
              <a:rPr sz="1500">
                <a:solidFill>
                  <a:srgbClr val="1F2937"/>
                </a:solidFill>
                <a:latin typeface="Calibri"/>
              </a:rPr>
              <a:t>renewals are maker-checker; lapse after 30 days grace.</a:t>
            </a:r>
          </a:p>
          <a:p>
            <a:pPr marL="201168" indent="-182880">
              <a:spcAft>
                <a:spcPts val="1000"/>
              </a:spcAft>
              <a:buClr>
                <a:srgbClr val="1E88E5"/>
              </a:buClr>
              <a:buFont typeface="Arial"/>
              <a:buChar char="•"/>
            </a:pPr>
            <a:r>
              <a:rPr b="1" sz="1500">
                <a:solidFill>
                  <a:srgbClr val="0B4F9C"/>
                </a:solidFill>
                <a:latin typeface="Calibri"/>
              </a:rPr>
              <a:t>Related:  </a:t>
            </a:r>
            <a:r>
              <a:rPr sz="1500">
                <a:solidFill>
                  <a:srgbClr val="1F2937"/>
                </a:solidFill>
                <a:latin typeface="Calibri"/>
              </a:rPr>
              <a:t>At-Risk Policies, Negotiations, Retention Analytics.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B4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orta-techn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28232"/>
            <a:ext cx="930839" cy="274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70918" y="6437376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000" b="0" i="0">
                <a:solidFill>
                  <a:srgbClr val="5B6778"/>
                </a:solidFill>
                <a:latin typeface="Calibri"/>
              </a:rPr>
              <a:t>BrokerVerse | Sales / Relationship Manager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2009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/>
            <a:r>
              <a:rPr sz="1000" b="0" i="0">
                <a:solidFill>
                  <a:srgbClr val="5B6778"/>
                </a:solidFill>
                <a:latin typeface="Calibri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7432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1" i="0">
                <a:solidFill>
                  <a:srgbClr val="1E88E5"/>
                </a:solidFill>
                <a:latin typeface="Calibri"/>
              </a:rPr>
              <a:t>KEY FUNCTION 6 OF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"/>
            <a:ext cx="11247120" cy="5943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800" b="1" i="0">
                <a:solidFill>
                  <a:srgbClr val="0B4F9C"/>
                </a:solidFill>
                <a:latin typeface="Calibri"/>
              </a:rPr>
              <a:t>Commission dashboard</a:t>
            </a:r>
          </a:p>
        </p:txBody>
      </p:sp>
      <p:sp>
        <p:nvSpPr>
          <p:cNvPr id="8" name="Rectangle 7"/>
          <p:cNvSpPr/>
          <p:nvPr/>
        </p:nvSpPr>
        <p:spPr>
          <a:xfrm>
            <a:off x="420624" y="1243584"/>
            <a:ext cx="7315200" cy="4599432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280160"/>
            <a:ext cx="7242048" cy="4526280"/>
          </a:xfrm>
          <a:prstGeom prst="rect">
            <a:avLst/>
          </a:prstGeom>
          <a:ln w="6350">
            <a:solidFill>
              <a:srgbClr val="D5DEEA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457200" y="5897879"/>
            <a:ext cx="726948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00" b="0" i="1">
                <a:solidFill>
                  <a:srgbClr val="5B6778"/>
                </a:solidFill>
                <a:latin typeface="Calibri"/>
              </a:rPr>
              <a:t>Live screen — Commission &gt; Commission Dashboard — signed in as maria.sales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01000" y="1243584"/>
            <a:ext cx="3733495" cy="4965192"/>
          </a:xfrm>
          <a:prstGeom prst="roundRect">
            <a:avLst>
              <a:gd name="adj" fmla="val 4000"/>
            </a:avLst>
          </a:prstGeom>
          <a:solidFill>
            <a:srgbClr val="F5F8FC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1389888"/>
            <a:ext cx="3276295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1" i="0">
                <a:solidFill>
                  <a:srgbClr val="1E88E5"/>
                </a:solidFill>
                <a:latin typeface="Calibri"/>
              </a:rPr>
              <a:t>Commission &gt; Commission Dashboard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1783080"/>
            <a:ext cx="3322015" cy="4343400"/>
          </a:xfrm>
          <a:prstGeom prst="rect">
            <a:avLst/>
          </a:prstGeom>
          <a:noFill/>
        </p:spPr>
        <p:txBody>
          <a:bodyPr wrap="square" lIns="18288" rIns="18288" tIns="18288" bIns="18288"/>
          <a:lstStyle/>
          <a:p>
            <a:pPr marL="201168" indent="-182880">
              <a:spcAft>
                <a:spcPts val="1000"/>
              </a:spcAft>
              <a:buClr>
                <a:srgbClr val="1E88E5"/>
              </a:buClr>
              <a:buFont typeface="Arial"/>
              <a:buChar char="•"/>
            </a:pPr>
            <a:r>
              <a:rPr b="1" sz="1500">
                <a:solidFill>
                  <a:srgbClr val="0B4F9C"/>
                </a:solidFill>
                <a:latin typeface="Calibri"/>
              </a:rPr>
              <a:t>Purpose:  </a:t>
            </a:r>
            <a:r>
              <a:rPr sz="1500">
                <a:solidFill>
                  <a:srgbClr val="1F2937"/>
                </a:solidFill>
                <a:latin typeface="Calibri"/>
              </a:rPr>
              <a:t>brokerage income, comsub payable, net margin and outstanding payable.</a:t>
            </a:r>
          </a:p>
          <a:p>
            <a:pPr marL="201168" indent="-182880">
              <a:spcAft>
                <a:spcPts val="1000"/>
              </a:spcAft>
              <a:buClr>
                <a:srgbClr val="1E88E5"/>
              </a:buClr>
              <a:buFont typeface="Arial"/>
              <a:buChar char="•"/>
            </a:pPr>
            <a:r>
              <a:rPr b="1" sz="1500">
                <a:solidFill>
                  <a:srgbClr val="0B4F9C"/>
                </a:solidFill>
                <a:latin typeface="Calibri"/>
              </a:rPr>
              <a:t>Views:  </a:t>
            </a:r>
            <a:r>
              <a:rPr sz="1500">
                <a:solidFill>
                  <a:srgbClr val="1F2937"/>
                </a:solidFill>
                <a:latin typeface="Calibri"/>
              </a:rPr>
              <a:t>by referrer, by status, monthly trend, by product and by insurer.</a:t>
            </a:r>
          </a:p>
          <a:p>
            <a:pPr marL="201168" indent="-182880">
              <a:spcAft>
                <a:spcPts val="1000"/>
              </a:spcAft>
              <a:buClr>
                <a:srgbClr val="1E88E5"/>
              </a:buClr>
              <a:buFont typeface="Arial"/>
              <a:buChar char="•"/>
            </a:pPr>
            <a:r>
              <a:rPr b="1" sz="1500">
                <a:solidFill>
                  <a:srgbClr val="0B4F9C"/>
                </a:solidFill>
                <a:latin typeface="Calibri"/>
              </a:rPr>
              <a:t>Source:  </a:t>
            </a:r>
            <a:r>
              <a:rPr sz="1500">
                <a:solidFill>
                  <a:srgbClr val="1F2937"/>
                </a:solidFill>
                <a:latin typeface="Calibri"/>
              </a:rPr>
              <a:t>commission accrued at issuance and paid by Finance payouts.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B4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orta-techn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28232"/>
            <a:ext cx="930839" cy="274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70918" y="6437376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000" b="0" i="0">
                <a:solidFill>
                  <a:srgbClr val="5B6778"/>
                </a:solidFill>
                <a:latin typeface="Calibri"/>
              </a:rPr>
              <a:t>BrokerVerse | Sales / Relationship Manager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2009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/>
            <a:r>
              <a:rPr sz="1000" b="0" i="0">
                <a:solidFill>
                  <a:srgbClr val="5B6778"/>
                </a:solidFill>
                <a:latin typeface="Calibri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7432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1" i="0">
                <a:solidFill>
                  <a:srgbClr val="1E88E5"/>
                </a:solidFill>
                <a:latin typeface="Calibri"/>
              </a:rPr>
              <a:t>KEY FUNCTION 7 OF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"/>
            <a:ext cx="11247120" cy="5943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800" b="1" i="0">
                <a:solidFill>
                  <a:srgbClr val="0B4F9C"/>
                </a:solidFill>
                <a:latin typeface="Calibri"/>
              </a:rPr>
              <a:t>Reports</a:t>
            </a:r>
          </a:p>
        </p:txBody>
      </p:sp>
      <p:sp>
        <p:nvSpPr>
          <p:cNvPr id="8" name="Rectangle 7"/>
          <p:cNvSpPr/>
          <p:nvPr/>
        </p:nvSpPr>
        <p:spPr>
          <a:xfrm>
            <a:off x="420624" y="1243584"/>
            <a:ext cx="5641510" cy="4599432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280160"/>
            <a:ext cx="5568358" cy="4526280"/>
          </a:xfrm>
          <a:prstGeom prst="rect">
            <a:avLst/>
          </a:prstGeom>
          <a:ln w="6350">
            <a:solidFill>
              <a:srgbClr val="D5DEEA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457200" y="5897879"/>
            <a:ext cx="726948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00" b="0" i="1">
                <a:solidFill>
                  <a:srgbClr val="5B6778"/>
                </a:solidFill>
                <a:latin typeface="Calibri"/>
              </a:rPr>
              <a:t>Live screen — Production Register with Preview — signed in as maria.sales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01000" y="1243584"/>
            <a:ext cx="3733495" cy="4965192"/>
          </a:xfrm>
          <a:prstGeom prst="roundRect">
            <a:avLst>
              <a:gd name="adj" fmla="val 4000"/>
            </a:avLst>
          </a:prstGeom>
          <a:solidFill>
            <a:srgbClr val="F5F8FC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1389888"/>
            <a:ext cx="3276295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1" i="0">
                <a:solidFill>
                  <a:srgbClr val="1E88E5"/>
                </a:solidFill>
                <a:latin typeface="Calibri"/>
              </a:rPr>
              <a:t>Reports &gt; All Reports / Operational Reports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1783080"/>
            <a:ext cx="3322015" cy="4343400"/>
          </a:xfrm>
          <a:prstGeom prst="rect">
            <a:avLst/>
          </a:prstGeom>
          <a:noFill/>
        </p:spPr>
        <p:txBody>
          <a:bodyPr wrap="square" lIns="18288" rIns="18288" tIns="18288" bIns="18288"/>
          <a:lstStyle/>
          <a:p>
            <a:pPr marL="201168" indent="-182880">
              <a:spcAft>
                <a:spcPts val="1000"/>
              </a:spcAft>
              <a:buClr>
                <a:srgbClr val="1E88E5"/>
              </a:buClr>
              <a:buFont typeface="Arial"/>
              <a:buChar char="•"/>
            </a:pPr>
            <a:r>
              <a:rPr b="1" sz="1500">
                <a:solidFill>
                  <a:srgbClr val="0B4F9C"/>
                </a:solidFill>
                <a:latin typeface="Calibri"/>
              </a:rPr>
              <a:t>Catalogue:  </a:t>
            </a:r>
            <a:r>
              <a:rPr sz="1500">
                <a:solidFill>
                  <a:srgbClr val="1F2937"/>
                </a:solidFill>
                <a:latin typeface="Calibri"/>
              </a:rPr>
              <a:t>Reports &gt; All Reports lists your 12 reports, with search.</a:t>
            </a:r>
          </a:p>
          <a:p>
            <a:pPr marL="201168" indent="-182880">
              <a:spcAft>
                <a:spcPts val="1000"/>
              </a:spcAft>
              <a:buClr>
                <a:srgbClr val="1E88E5"/>
              </a:buClr>
              <a:buFont typeface="Arial"/>
              <a:buChar char="•"/>
            </a:pPr>
            <a:r>
              <a:rPr b="1" sz="1500">
                <a:solidFill>
                  <a:srgbClr val="0B4F9C"/>
                </a:solidFill>
                <a:latin typeface="Calibri"/>
              </a:rPr>
              <a:t>Criteria:  </a:t>
            </a:r>
            <a:r>
              <a:rPr sz="1500">
                <a:solidFill>
                  <a:srgbClr val="1F2937"/>
                </a:solidFill>
                <a:latin typeface="Calibri"/>
              </a:rPr>
              <a:t>report criteria, From / To date, agent, principal insurer, branch, client, product.</a:t>
            </a:r>
          </a:p>
          <a:p>
            <a:pPr marL="201168" indent="-182880">
              <a:spcAft>
                <a:spcPts val="1000"/>
              </a:spcAft>
              <a:buClr>
                <a:srgbClr val="1E88E5"/>
              </a:buClr>
              <a:buFont typeface="Arial"/>
              <a:buChar char="•"/>
            </a:pPr>
            <a:r>
              <a:rPr b="1" sz="1500">
                <a:solidFill>
                  <a:srgbClr val="0B4F9C"/>
                </a:solidFill>
                <a:latin typeface="Calibri"/>
              </a:rPr>
              <a:t>Preview:  </a:t>
            </a:r>
            <a:r>
              <a:rPr sz="1500">
                <a:solidFill>
                  <a:srgbClr val="1F2937"/>
                </a:solidFill>
                <a:latin typeface="Calibri"/>
              </a:rPr>
              <a:t>the first page on screen before you generate.</a:t>
            </a:r>
          </a:p>
          <a:p>
            <a:pPr marL="201168" indent="-182880">
              <a:spcAft>
                <a:spcPts val="1000"/>
              </a:spcAft>
              <a:buClr>
                <a:srgbClr val="1E88E5"/>
              </a:buClr>
              <a:buFont typeface="Arial"/>
              <a:buChar char="•"/>
            </a:pPr>
            <a:r>
              <a:rPr b="1" sz="1500">
                <a:solidFill>
                  <a:srgbClr val="0B4F9C"/>
                </a:solidFill>
                <a:latin typeface="Calibri"/>
              </a:rPr>
              <a:t>Formats:  </a:t>
            </a:r>
            <a:r>
              <a:rPr sz="1500">
                <a:solidFill>
                  <a:srgbClr val="1F2937"/>
                </a:solidFill>
                <a:latin typeface="Calibri"/>
              </a:rPr>
              <a:t>CSV, Excel (XLSX) or PDF.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B4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orta-techn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28232"/>
            <a:ext cx="930839" cy="274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70918" y="6437376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000" b="0" i="0">
                <a:solidFill>
                  <a:srgbClr val="5B6778"/>
                </a:solidFill>
                <a:latin typeface="Calibri"/>
              </a:rPr>
              <a:t>BrokerVerse | Sales / Relationship Manager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2009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/>
            <a:r>
              <a:rPr sz="1000" b="0" i="0">
                <a:solidFill>
                  <a:srgbClr val="5B6778"/>
                </a:solidFill>
                <a:latin typeface="Calibri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7432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1" i="0">
                <a:solidFill>
                  <a:srgbClr val="1E88E5"/>
                </a:solidFill>
                <a:latin typeface="Calibri"/>
              </a:rPr>
              <a:t>LEAD TO RENEWAL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"/>
            <a:ext cx="11247120" cy="5943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800" b="1" i="0">
                <a:solidFill>
                  <a:srgbClr val="0B4F9C"/>
                </a:solidFill>
                <a:latin typeface="Calibri"/>
              </a:rPr>
              <a:t>End-to-end flow: your part of the cycle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8931" y="1417320"/>
            <a:ext cx="1481328" cy="1024128"/>
          </a:xfrm>
          <a:prstGeom prst="roundRect">
            <a:avLst>
              <a:gd name="adj" fmla="val 12000"/>
            </a:avLst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2083" y="1490472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2083" y="1673352"/>
            <a:ext cx="1335024" cy="4114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Lead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2083" y="2075688"/>
            <a:ext cx="1335024" cy="31089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950" b="0" i="0">
                <a:solidFill>
                  <a:srgbClr val="FFFFFF"/>
                </a:solidFill>
                <a:latin typeface="Calibri"/>
              </a:rPr>
              <a:t>Agent / Sales / CS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2153411" y="1810512"/>
            <a:ext cx="274320" cy="237744"/>
          </a:xfrm>
          <a:prstGeom prst="rightArrow">
            <a:avLst/>
          </a:prstGeom>
          <a:solidFill>
            <a:srgbClr val="1E8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500883" y="1417320"/>
            <a:ext cx="1481328" cy="1024128"/>
          </a:xfrm>
          <a:prstGeom prst="roundRect">
            <a:avLst>
              <a:gd name="adj" fmla="val 12000"/>
            </a:avLst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574035" y="1490472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74035" y="1673352"/>
            <a:ext cx="1335024" cy="4114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Quote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74035" y="2075688"/>
            <a:ext cx="1335024" cy="31089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950" b="0" i="0">
                <a:solidFill>
                  <a:srgbClr val="FFFFFF"/>
                </a:solidFill>
                <a:latin typeface="Calibri"/>
              </a:rPr>
              <a:t>Agent / Sales / UW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4055363" y="1810512"/>
            <a:ext cx="274320" cy="237744"/>
          </a:xfrm>
          <a:prstGeom prst="rightArrow">
            <a:avLst/>
          </a:prstGeom>
          <a:solidFill>
            <a:srgbClr val="1E8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402836" y="1417320"/>
            <a:ext cx="1481328" cy="1024128"/>
          </a:xfrm>
          <a:prstGeom prst="roundRect">
            <a:avLst>
              <a:gd name="adj" fmla="val 12000"/>
            </a:avLst>
          </a:prstGeom>
          <a:solidFill>
            <a:srgbClr val="F5F8FC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75988" y="1490472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00" b="1" i="0">
                <a:solidFill>
                  <a:srgbClr val="1E88E5"/>
                </a:solidFill>
                <a:latin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75988" y="1673352"/>
            <a:ext cx="1335024" cy="4114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300" b="1" i="0">
                <a:solidFill>
                  <a:srgbClr val="0B4F9C"/>
                </a:solidFill>
                <a:latin typeface="Calibri"/>
              </a:rPr>
              <a:t>Customer approval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75988" y="2075688"/>
            <a:ext cx="1335024" cy="31089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950" b="0" i="0">
                <a:solidFill>
                  <a:srgbClr val="5B6778"/>
                </a:solidFill>
                <a:latin typeface="Calibri"/>
              </a:rPr>
              <a:t>Client (e-mail link)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5957316" y="1810512"/>
            <a:ext cx="274320" cy="237744"/>
          </a:xfrm>
          <a:prstGeom prst="rightArrow">
            <a:avLst/>
          </a:prstGeom>
          <a:solidFill>
            <a:srgbClr val="1E8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304788" y="1417320"/>
            <a:ext cx="1481328" cy="1024128"/>
          </a:xfrm>
          <a:prstGeom prst="roundRect">
            <a:avLst>
              <a:gd name="adj" fmla="val 12000"/>
            </a:avLst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77940" y="1490472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77940" y="1673352"/>
            <a:ext cx="1335024" cy="4114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Policy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77940" y="2075688"/>
            <a:ext cx="1335024" cy="31089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950" b="0" i="0">
                <a:solidFill>
                  <a:srgbClr val="FFFFFF"/>
                </a:solidFill>
                <a:latin typeface="Calibri"/>
              </a:rPr>
              <a:t>Agent / Sales / UW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7859268" y="1810512"/>
            <a:ext cx="274320" cy="237744"/>
          </a:xfrm>
          <a:prstGeom prst="rightArrow">
            <a:avLst/>
          </a:prstGeom>
          <a:solidFill>
            <a:srgbClr val="1E8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206740" y="1417320"/>
            <a:ext cx="1481328" cy="1024128"/>
          </a:xfrm>
          <a:prstGeom prst="roundRect">
            <a:avLst>
              <a:gd name="adj" fmla="val 12000"/>
            </a:avLst>
          </a:prstGeom>
          <a:solidFill>
            <a:srgbClr val="F5F8FC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79892" y="1490472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00" b="1" i="0">
                <a:solidFill>
                  <a:srgbClr val="1E88E5"/>
                </a:solidFill>
                <a:latin typeface="Calibri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79892" y="1673352"/>
            <a:ext cx="1335024" cy="4114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300" b="1" i="0">
                <a:solidFill>
                  <a:srgbClr val="0B4F9C"/>
                </a:solidFill>
                <a:latin typeface="Calibri"/>
              </a:rPr>
              <a:t>Billing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79892" y="2075688"/>
            <a:ext cx="1335024" cy="31089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950" b="0" i="0">
                <a:solidFill>
                  <a:srgbClr val="5B6778"/>
                </a:solidFill>
                <a:latin typeface="Calibri"/>
              </a:rPr>
              <a:t>System at issuance</a:t>
            </a:r>
          </a:p>
        </p:txBody>
      </p:sp>
      <p:sp>
        <p:nvSpPr>
          <p:cNvPr id="32" name="Right Arrow 31"/>
          <p:cNvSpPr/>
          <p:nvPr/>
        </p:nvSpPr>
        <p:spPr>
          <a:xfrm>
            <a:off x="9761219" y="1810512"/>
            <a:ext cx="274320" cy="237744"/>
          </a:xfrm>
          <a:prstGeom prst="rightArrow">
            <a:avLst/>
          </a:prstGeom>
          <a:solidFill>
            <a:srgbClr val="1E8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10108692" y="1417320"/>
            <a:ext cx="1481328" cy="1024128"/>
          </a:xfrm>
          <a:prstGeom prst="roundRect">
            <a:avLst>
              <a:gd name="adj" fmla="val 12000"/>
            </a:avLst>
          </a:prstGeom>
          <a:solidFill>
            <a:srgbClr val="F5F8FC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181844" y="1490472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00" b="1" i="0">
                <a:solidFill>
                  <a:srgbClr val="1E88E5"/>
                </a:solidFill>
                <a:latin typeface="Calibri"/>
              </a:rP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81844" y="1673352"/>
            <a:ext cx="1335024" cy="4114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300" b="1" i="0">
                <a:solidFill>
                  <a:srgbClr val="0B4F9C"/>
                </a:solidFill>
                <a:latin typeface="Calibri"/>
              </a:rPr>
              <a:t>Receipt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181844" y="2075688"/>
            <a:ext cx="1335024" cy="31089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950" b="0" i="0">
                <a:solidFill>
                  <a:srgbClr val="5B6778"/>
                </a:solidFill>
                <a:latin typeface="Calibri"/>
              </a:rPr>
              <a:t>Finance</a:t>
            </a:r>
          </a:p>
        </p:txBody>
      </p:sp>
      <p:sp>
        <p:nvSpPr>
          <p:cNvPr id="37" name="Down Arrow 36"/>
          <p:cNvSpPr/>
          <p:nvPr/>
        </p:nvSpPr>
        <p:spPr>
          <a:xfrm>
            <a:off x="10712196" y="2551176"/>
            <a:ext cx="274320" cy="402335"/>
          </a:xfrm>
          <a:prstGeom prst="downArrow">
            <a:avLst/>
          </a:prstGeom>
          <a:solidFill>
            <a:srgbClr val="1E8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10108692" y="3063240"/>
            <a:ext cx="1481328" cy="1024128"/>
          </a:xfrm>
          <a:prstGeom prst="roundRect">
            <a:avLst>
              <a:gd name="adj" fmla="val 12000"/>
            </a:avLst>
          </a:prstGeom>
          <a:solidFill>
            <a:srgbClr val="F5F8FC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181844" y="3136392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00" b="1" i="0">
                <a:solidFill>
                  <a:srgbClr val="1E88E5"/>
                </a:solidFill>
                <a:latin typeface="Calibri"/>
              </a:rPr>
              <a:t>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181844" y="3319272"/>
            <a:ext cx="1335024" cy="4114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300" b="1" i="0">
                <a:solidFill>
                  <a:srgbClr val="0B4F9C"/>
                </a:solidFill>
                <a:latin typeface="Calibri"/>
              </a:rPr>
              <a:t>Commission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81844" y="3721608"/>
            <a:ext cx="1335024" cy="31089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950" b="0" i="0">
                <a:solidFill>
                  <a:srgbClr val="5B6778"/>
                </a:solidFill>
                <a:latin typeface="Calibri"/>
              </a:rPr>
              <a:t>Finance maker + checker</a:t>
            </a:r>
          </a:p>
        </p:txBody>
      </p:sp>
      <p:sp>
        <p:nvSpPr>
          <p:cNvPr id="42" name="Left Arrow 41"/>
          <p:cNvSpPr/>
          <p:nvPr/>
        </p:nvSpPr>
        <p:spPr>
          <a:xfrm>
            <a:off x="9761219" y="3456432"/>
            <a:ext cx="274320" cy="237744"/>
          </a:xfrm>
          <a:prstGeom prst="leftArrow">
            <a:avLst/>
          </a:prstGeom>
          <a:solidFill>
            <a:srgbClr val="1E8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8206740" y="3063240"/>
            <a:ext cx="1481328" cy="1024128"/>
          </a:xfrm>
          <a:prstGeom prst="roundRect">
            <a:avLst>
              <a:gd name="adj" fmla="val 12000"/>
            </a:avLst>
          </a:prstGeom>
          <a:solidFill>
            <a:srgbClr val="F5F8FC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279892" y="3136392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00" b="1" i="0">
                <a:solidFill>
                  <a:srgbClr val="1E88E5"/>
                </a:solidFill>
                <a:latin typeface="Calibri"/>
              </a:rPr>
              <a:t>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279892" y="3319272"/>
            <a:ext cx="1335024" cy="4114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300" b="1" i="0">
                <a:solidFill>
                  <a:srgbClr val="0B4F9C"/>
                </a:solidFill>
                <a:latin typeface="Calibri"/>
              </a:rPr>
              <a:t>Remittance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279892" y="3721608"/>
            <a:ext cx="1335024" cy="31089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950" b="0" i="0">
                <a:solidFill>
                  <a:srgbClr val="5B6778"/>
                </a:solidFill>
                <a:latin typeface="Calibri"/>
              </a:rPr>
              <a:t>Finance maker + checker</a:t>
            </a:r>
          </a:p>
        </p:txBody>
      </p:sp>
      <p:sp>
        <p:nvSpPr>
          <p:cNvPr id="47" name="Left Arrow 46"/>
          <p:cNvSpPr/>
          <p:nvPr/>
        </p:nvSpPr>
        <p:spPr>
          <a:xfrm>
            <a:off x="7859268" y="3456432"/>
            <a:ext cx="274320" cy="237744"/>
          </a:xfrm>
          <a:prstGeom prst="leftArrow">
            <a:avLst/>
          </a:prstGeom>
          <a:solidFill>
            <a:srgbClr val="1E8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6304788" y="3063240"/>
            <a:ext cx="1481328" cy="1024128"/>
          </a:xfrm>
          <a:prstGeom prst="roundRect">
            <a:avLst>
              <a:gd name="adj" fmla="val 12000"/>
            </a:avLst>
          </a:prstGeom>
          <a:solidFill>
            <a:srgbClr val="F5F8FC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377940" y="3136392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00" b="1" i="0">
                <a:solidFill>
                  <a:srgbClr val="1E88E5"/>
                </a:solidFill>
                <a:latin typeface="Calibri"/>
              </a:rPr>
              <a:t>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377940" y="3319272"/>
            <a:ext cx="1335024" cy="4114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300" b="1" i="0">
                <a:solidFill>
                  <a:srgbClr val="0B4F9C"/>
                </a:solidFill>
                <a:latin typeface="Calibri"/>
              </a:rPr>
              <a:t>Endorsement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77940" y="3721608"/>
            <a:ext cx="1335024" cy="31089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950" b="0" i="0">
                <a:solidFill>
                  <a:srgbClr val="5B6778"/>
                </a:solidFill>
                <a:latin typeface="Calibri"/>
              </a:rPr>
              <a:t>Customer Services</a:t>
            </a:r>
          </a:p>
        </p:txBody>
      </p:sp>
      <p:sp>
        <p:nvSpPr>
          <p:cNvPr id="52" name="Left Arrow 51"/>
          <p:cNvSpPr/>
          <p:nvPr/>
        </p:nvSpPr>
        <p:spPr>
          <a:xfrm>
            <a:off x="5957316" y="3456432"/>
            <a:ext cx="274320" cy="237744"/>
          </a:xfrm>
          <a:prstGeom prst="leftArrow">
            <a:avLst/>
          </a:prstGeom>
          <a:solidFill>
            <a:srgbClr val="1E8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4402836" y="3063240"/>
            <a:ext cx="1481328" cy="1024128"/>
          </a:xfrm>
          <a:prstGeom prst="roundRect">
            <a:avLst>
              <a:gd name="adj" fmla="val 12000"/>
            </a:avLst>
          </a:prstGeom>
          <a:solidFill>
            <a:srgbClr val="F5F8FC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475988" y="3136392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00" b="1" i="0">
                <a:solidFill>
                  <a:srgbClr val="1E88E5"/>
                </a:solidFill>
                <a:latin typeface="Calibri"/>
              </a:rPr>
              <a:t>10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475988" y="3319272"/>
            <a:ext cx="1335024" cy="4114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300" b="1" i="0">
                <a:solidFill>
                  <a:srgbClr val="0B4F9C"/>
                </a:solidFill>
                <a:latin typeface="Calibri"/>
              </a:rPr>
              <a:t>Claim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475988" y="3721608"/>
            <a:ext cx="1335024" cy="31089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950" b="0" i="0">
                <a:solidFill>
                  <a:srgbClr val="5B6778"/>
                </a:solidFill>
                <a:latin typeface="Calibri"/>
              </a:rPr>
              <a:t>Claims maker + checker</a:t>
            </a:r>
          </a:p>
        </p:txBody>
      </p:sp>
      <p:sp>
        <p:nvSpPr>
          <p:cNvPr id="57" name="Left Arrow 56"/>
          <p:cNvSpPr/>
          <p:nvPr/>
        </p:nvSpPr>
        <p:spPr>
          <a:xfrm>
            <a:off x="4055363" y="3456432"/>
            <a:ext cx="274320" cy="237744"/>
          </a:xfrm>
          <a:prstGeom prst="leftArrow">
            <a:avLst/>
          </a:prstGeom>
          <a:solidFill>
            <a:srgbClr val="1E8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2500883" y="3063240"/>
            <a:ext cx="1481328" cy="1024128"/>
          </a:xfrm>
          <a:prstGeom prst="roundRect">
            <a:avLst>
              <a:gd name="adj" fmla="val 12000"/>
            </a:avLst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574035" y="3136392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11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574035" y="3319272"/>
            <a:ext cx="1335024" cy="4114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Renewal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574035" y="3721608"/>
            <a:ext cx="1335024" cy="31089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950" b="0" i="0">
                <a:solidFill>
                  <a:srgbClr val="FFFFFF"/>
                </a:solidFill>
                <a:latin typeface="Calibri"/>
              </a:rPr>
              <a:t>UW / Sales + schedules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457200" y="4361688"/>
            <a:ext cx="256032" cy="182880"/>
          </a:xfrm>
          <a:prstGeom prst="roundRect">
            <a:avLst>
              <a:gd name="adj" fmla="val 30000"/>
            </a:avLst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77240" y="4315968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Your steps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2011680" y="4361688"/>
            <a:ext cx="256032" cy="182880"/>
          </a:xfrm>
          <a:prstGeom prst="roundRect">
            <a:avLst>
              <a:gd name="adj" fmla="val 30000"/>
            </a:avLst>
          </a:prstGeom>
          <a:solidFill>
            <a:srgbClr val="F5F8FC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2331720" y="4315968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Done by other personas or by the system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400800" y="4315968"/>
            <a:ext cx="5330952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/>
            <a:r>
              <a:rPr sz="1100" b="0" i="1">
                <a:solidFill>
                  <a:srgbClr val="5B6778"/>
                </a:solidFill>
                <a:latin typeface="Calibri"/>
              </a:rPr>
              <a:t>Your renewal starts the next cycle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457200" y="4709160"/>
            <a:ext cx="11274552" cy="1508760"/>
          </a:xfrm>
          <a:prstGeom prst="roundRect">
            <a:avLst>
              <a:gd name="adj" fmla="val 4000"/>
            </a:avLst>
          </a:prstGeom>
          <a:solidFill>
            <a:srgbClr val="E6F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85800" y="4846320"/>
            <a:ext cx="5349240" cy="1325880"/>
          </a:xfrm>
          <a:prstGeom prst="rect">
            <a:avLst/>
          </a:prstGeom>
          <a:noFill/>
        </p:spPr>
        <p:txBody>
          <a:bodyPr wrap="square" lIns="18288" rIns="18288" tIns="18288" bIns="18288"/>
          <a:lstStyle/>
          <a:p>
            <a:pPr marL="201168" indent="-182880">
              <a:spcAft>
                <a:spcPts val="500"/>
              </a:spcAft>
              <a:buClr>
                <a:srgbClr val="43A047"/>
              </a:buClr>
              <a:buFont typeface="Arial"/>
              <a:buChar char="•"/>
            </a:pPr>
            <a:r>
              <a:rPr sz="1500">
                <a:solidFill>
                  <a:srgbClr val="1F2937"/>
                </a:solidFill>
                <a:latin typeface="Calibri"/>
              </a:rPr>
              <a:t>1 Lead: capture and qualify.</a:t>
            </a:r>
          </a:p>
          <a:p>
            <a:pPr marL="201168" indent="-182880">
              <a:spcAft>
                <a:spcPts val="500"/>
              </a:spcAft>
              <a:buClr>
                <a:srgbClr val="43A047"/>
              </a:buClr>
              <a:buFont typeface="Arial"/>
              <a:buChar char="•"/>
            </a:pPr>
            <a:r>
              <a:rPr sz="1500">
                <a:solidFill>
                  <a:srgbClr val="1F2937"/>
                </a:solidFill>
                <a:latin typeface="Calibri"/>
              </a:rPr>
              <a:t>2 Quote: price, send for approval and to the client.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172200" y="4846320"/>
            <a:ext cx="5394960" cy="1325880"/>
          </a:xfrm>
          <a:prstGeom prst="rect">
            <a:avLst/>
          </a:prstGeom>
          <a:noFill/>
        </p:spPr>
        <p:txBody>
          <a:bodyPr wrap="square" lIns="18288" rIns="18288" tIns="18288" bIns="18288"/>
          <a:lstStyle/>
          <a:p>
            <a:pPr marL="201168" indent="-182880">
              <a:spcAft>
                <a:spcPts val="500"/>
              </a:spcAft>
              <a:buClr>
                <a:srgbClr val="43A047"/>
              </a:buClr>
              <a:buFont typeface="Arial"/>
              <a:buChar char="•"/>
            </a:pPr>
            <a:r>
              <a:rPr sz="1500">
                <a:solidFill>
                  <a:srgbClr val="1F2937"/>
                </a:solidFill>
                <a:latin typeface="Calibri"/>
              </a:rPr>
              <a:t>4 Policy: convert the accepted quote, upload documents.</a:t>
            </a:r>
          </a:p>
          <a:p>
            <a:pPr marL="201168" indent="-182880">
              <a:spcAft>
                <a:spcPts val="500"/>
              </a:spcAft>
              <a:buClr>
                <a:srgbClr val="43A047"/>
              </a:buClr>
              <a:buFont typeface="Arial"/>
              <a:buChar char="•"/>
            </a:pPr>
            <a:r>
              <a:rPr sz="1500">
                <a:solidFill>
                  <a:srgbClr val="1F2937"/>
                </a:solidFill>
                <a:latin typeface="Calibri"/>
              </a:rPr>
              <a:t>11 Renewal: work the queue and retain.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B4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orta-techn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28232"/>
            <a:ext cx="930839" cy="274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70918" y="6437376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000" b="0" i="0">
                <a:solidFill>
                  <a:srgbClr val="5B6778"/>
                </a:solidFill>
                <a:latin typeface="Calibri"/>
              </a:rPr>
              <a:t>BrokerVerse | Sales / Relationship Manager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2009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/>
            <a:r>
              <a:rPr sz="1000" b="0" i="0">
                <a:solidFill>
                  <a:srgbClr val="5B6778"/>
                </a:solidFill>
                <a:latin typeface="Calibri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7432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1" i="0">
                <a:solidFill>
                  <a:srgbClr val="1E88E5"/>
                </a:solidFill>
                <a:latin typeface="Calibri"/>
              </a:rPr>
              <a:t>REPORTS &gt; ALL REPORTS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"/>
            <a:ext cx="11247120" cy="5943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800" b="1" i="0">
                <a:solidFill>
                  <a:srgbClr val="0B4F9C"/>
                </a:solidFill>
                <a:latin typeface="Calibri"/>
              </a:rPr>
              <a:t>Reports you use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216152"/>
            <a:ext cx="1463040" cy="2926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100" b="1" i="0">
                <a:solidFill>
                  <a:srgbClr val="5B6778"/>
                </a:solidFill>
                <a:latin typeface="Calibri"/>
              </a:rPr>
              <a:t>Output formats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874519" y="1216152"/>
            <a:ext cx="548640" cy="274320"/>
          </a:xfrm>
          <a:prstGeom prst="roundRect">
            <a:avLst>
              <a:gd name="adj" fmla="val 50000"/>
            </a:avLst>
          </a:prstGeom>
          <a:solidFill>
            <a:srgbClr val="E3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874519" y="121615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000" b="1" i="0">
                <a:solidFill>
                  <a:srgbClr val="0B4F9C"/>
                </a:solidFill>
                <a:latin typeface="Calibri"/>
              </a:rPr>
              <a:t>CSV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514600" y="1216152"/>
            <a:ext cx="614476" cy="274320"/>
          </a:xfrm>
          <a:prstGeom prst="roundRect">
            <a:avLst>
              <a:gd name="adj" fmla="val 50000"/>
            </a:avLst>
          </a:prstGeom>
          <a:solidFill>
            <a:srgbClr val="E3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14600" y="1216152"/>
            <a:ext cx="614476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000" b="1" i="0">
                <a:solidFill>
                  <a:srgbClr val="0B4F9C"/>
                </a:solidFill>
                <a:latin typeface="Calibri"/>
              </a:rPr>
              <a:t>XLSX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20516" y="1216152"/>
            <a:ext cx="548640" cy="274320"/>
          </a:xfrm>
          <a:prstGeom prst="roundRect">
            <a:avLst>
              <a:gd name="adj" fmla="val 50000"/>
            </a:avLst>
          </a:prstGeom>
          <a:solidFill>
            <a:srgbClr val="E3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20516" y="121615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000" b="1" i="0">
                <a:solidFill>
                  <a:srgbClr val="0B4F9C"/>
                </a:solidFill>
                <a:latin typeface="Calibri"/>
              </a:rPr>
              <a:t>PDF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860596" y="1216152"/>
            <a:ext cx="971092" cy="274320"/>
          </a:xfrm>
          <a:prstGeom prst="roundRect">
            <a:avLst>
              <a:gd name="adj" fmla="val 50000"/>
            </a:avLst>
          </a:prstGeom>
          <a:solidFill>
            <a:srgbClr val="E3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860596" y="1216152"/>
            <a:ext cx="971092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000" b="1" i="0">
                <a:solidFill>
                  <a:srgbClr val="0B4F9C"/>
                </a:solidFill>
                <a:latin typeface="Calibri"/>
              </a:rPr>
              <a:t>On screen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23129" y="1216152"/>
            <a:ext cx="1470355" cy="274320"/>
          </a:xfrm>
          <a:prstGeom prst="roundRect">
            <a:avLst>
              <a:gd name="adj" fmla="val 50000"/>
            </a:avLst>
          </a:prstGeom>
          <a:solidFill>
            <a:srgbClr val="E6F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23129" y="1216152"/>
            <a:ext cx="1470355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000" b="1" i="0">
                <a:solidFill>
                  <a:srgbClr val="43A047"/>
                </a:solidFill>
                <a:latin typeface="Calibri"/>
              </a:rPr>
              <a:t>Scheduled e-mail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67804" y="1216152"/>
            <a:ext cx="5066690" cy="2926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100" b="0" i="1">
                <a:solidFill>
                  <a:srgbClr val="5B6778"/>
                </a:solidFill>
                <a:latin typeface="Calibri"/>
              </a:rPr>
              <a:t>Twelve reports in Reports &gt; All Reports.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457200" y="1783080"/>
          <a:ext cx="5541262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39"/>
                <a:gridCol w="3621023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Operational report</a:t>
                      </a:r>
                    </a:p>
                  </a:txBody>
                  <a:tcPr marL="73152" marR="73152" marT="27432" marB="27432" anchor="ctr">
                    <a:solidFill>
                      <a:srgbClr val="0B4F9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What it shows</a:t>
                      </a:r>
                    </a:p>
                  </a:txBody>
                  <a:tcPr marL="73152" marR="73152" marT="27432" marB="27432" anchor="ctr">
                    <a:solidFill>
                      <a:srgbClr val="0B4F9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0B4F9C"/>
                          </a:solidFill>
                          <a:latin typeface="Calibri"/>
                        </a:rPr>
                        <a:t>Production Register</a:t>
                      </a:r>
                    </a:p>
                  </a:txBody>
                  <a:tcPr marL="73152" marR="73152" marT="27432" marB="27432" anchor="ctr">
                    <a:solidFill>
                      <a:srgbClr val="F5F8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>
                          <a:solidFill>
                            <a:srgbClr val="1F2937"/>
                          </a:solidFill>
                          <a:latin typeface="Calibri"/>
                        </a:rPr>
                        <a:t>Policies incepted in the period: premium, commission, new or renewal; by agent, insurer or branch</a:t>
                      </a:r>
                    </a:p>
                  </a:txBody>
                  <a:tcPr marL="73152" marR="73152" marT="27432" marB="27432" anchor="ctr">
                    <a:solidFill>
                      <a:srgbClr val="F5F8F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0B4F9C"/>
                          </a:solidFill>
                          <a:latin typeface="Calibri"/>
                        </a:rPr>
                        <a:t>Claims Position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>
                          <a:solidFill>
                            <a:srgbClr val="1F2937"/>
                          </a:solidFill>
                          <a:latin typeface="Calibri"/>
                        </a:rPr>
                        <a:t>Claims reported: estimate, approved, settled, age; criteria All / Open / Settled / Rejected / Aging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0B4F9C"/>
                          </a:solidFill>
                          <a:latin typeface="Calibri"/>
                        </a:rPr>
                        <a:t>Renewal Retention</a:t>
                      </a:r>
                    </a:p>
                  </a:txBody>
                  <a:tcPr marL="73152" marR="73152" marT="27432" marB="27432" anchor="ctr">
                    <a:solidFill>
                      <a:srgbClr val="F5F8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>
                          <a:solidFill>
                            <a:srgbClr val="1F2937"/>
                          </a:solidFill>
                          <a:latin typeface="Calibri"/>
                        </a:rPr>
                        <a:t>Renewals due: retained, lost or pending, old vs new premium, retention rate</a:t>
                      </a:r>
                    </a:p>
                  </a:txBody>
                  <a:tcPr marL="73152" marR="73152" marT="27432" marB="27432" anchor="ctr">
                    <a:solidFill>
                      <a:srgbClr val="F5F8F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0B4F9C"/>
                          </a:solidFill>
                          <a:latin typeface="Calibri"/>
                        </a:rPr>
                        <a:t>Remittance Summary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>
                          <a:solidFill>
                            <a:srgbClr val="1F2937"/>
                          </a:solidFill>
                          <a:latin typeface="Calibri"/>
                        </a:rPr>
                        <a:t>Remittances to insurers: gross premium, commission retained, net due, status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0B4F9C"/>
                          </a:solidFill>
                          <a:latin typeface="Calibri"/>
                        </a:rPr>
                        <a:t>Broker Commission Statement</a:t>
                      </a:r>
                    </a:p>
                  </a:txBody>
                  <a:tcPr marL="73152" marR="73152" marT="27432" marB="27432" anchor="ctr">
                    <a:solidFill>
                      <a:srgbClr val="F5F8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>
                          <a:solidFill>
                            <a:srgbClr val="1F2937"/>
                          </a:solidFill>
                          <a:latin typeface="Calibri"/>
                        </a:rPr>
                        <a:t>Commission per agent and policy: basis, rate, gross, WHT, net, paid status</a:t>
                      </a:r>
                    </a:p>
                  </a:txBody>
                  <a:tcPr marL="73152" marR="73152" marT="27432" marB="27432" anchor="ctr">
                    <a:solidFill>
                      <a:srgbClr val="F5F8F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0B4F9C"/>
                          </a:solidFill>
                          <a:latin typeface="Calibri"/>
                        </a:rPr>
                        <a:t>Premium by Product / Month / Insurer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>
                          <a:solidFill>
                            <a:srgbClr val="1F2937"/>
                          </a:solidFill>
                          <a:latin typeface="Calibri"/>
                        </a:rPr>
                        <a:t>Policy count, sum insured, premium and commission by month, product or insurer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0B4F9C"/>
                          </a:solidFill>
                          <a:latin typeface="Calibri"/>
                        </a:rPr>
                        <a:t>New Business vs Renewals</a:t>
                      </a:r>
                    </a:p>
                  </a:txBody>
                  <a:tcPr marL="73152" marR="73152" marT="27432" marB="27432" anchor="ctr">
                    <a:solidFill>
                      <a:srgbClr val="F5F8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>
                          <a:solidFill>
                            <a:srgbClr val="1F2937"/>
                          </a:solidFill>
                          <a:latin typeface="Calibri"/>
                        </a:rPr>
                        <a:t>Policies and premium split into new business and renewals per month</a:t>
                      </a:r>
                    </a:p>
                  </a:txBody>
                  <a:tcPr marL="73152" marR="73152" marT="27432" marB="27432" anchor="ctr">
                    <a:solidFill>
                      <a:srgbClr val="F5F8F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0B4F9C"/>
                          </a:solidFill>
                          <a:latin typeface="Calibri"/>
                        </a:rPr>
                        <a:t>Claims Ageing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>
                          <a:solidFill>
                            <a:srgbClr val="1F2937"/>
                          </a:solidFill>
                          <a:latin typeface="Calibri"/>
                        </a:rPr>
                        <a:t>Open claims by ageing bucket (30/60/90/180 days) with estimate and approved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0B4F9C"/>
                          </a:solidFill>
                          <a:latin typeface="Calibri"/>
                        </a:rPr>
                        <a:t>Lead Conversion Funnel</a:t>
                      </a:r>
                    </a:p>
                  </a:txBody>
                  <a:tcPr marL="73152" marR="73152" marT="27432" marB="27432" anchor="ctr">
                    <a:solidFill>
                      <a:srgbClr val="F5F8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>
                          <a:solidFill>
                            <a:srgbClr val="1F2937"/>
                          </a:solidFill>
                          <a:latin typeface="Calibri"/>
                        </a:rPr>
                        <a:t>Leads by stage (new to converted / lost) with share and conversion rate</a:t>
                      </a:r>
                    </a:p>
                  </a:txBody>
                  <a:tcPr marL="73152" marR="73152" marT="27432" marB="27432" anchor="ctr">
                    <a:solidFill>
                      <a:srgbClr val="F5F8F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6190488" y="1783080"/>
          <a:ext cx="5541262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39"/>
                <a:gridCol w="3621023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Financial report</a:t>
                      </a:r>
                    </a:p>
                  </a:txBody>
                  <a:tcPr marL="73152" marR="73152" marT="27432" marB="27432" anchor="ctr">
                    <a:solidFill>
                      <a:srgbClr val="0B4F9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What it shows</a:t>
                      </a:r>
                    </a:p>
                  </a:txBody>
                  <a:tcPr marL="73152" marR="73152" marT="27432" marB="27432" anchor="ctr">
                    <a:solidFill>
                      <a:srgbClr val="0B4F9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0B4F9C"/>
                          </a:solidFill>
                          <a:latin typeface="Calibri"/>
                        </a:rPr>
                        <a:t>SOA / Premium Receivable</a:t>
                      </a:r>
                    </a:p>
                  </a:txBody>
                  <a:tcPr marL="73152" marR="73152" marT="27432" marB="27432" anchor="ctr">
                    <a:solidFill>
                      <a:srgbClr val="F5F8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>
                          <a:solidFill>
                            <a:srgbClr val="1F2937"/>
                          </a:solidFill>
                          <a:latin typeface="Calibri"/>
                        </a:rPr>
                        <a:t>Bills issued: amount, paid, balance, age and ageing bucket as of To Date</a:t>
                      </a:r>
                    </a:p>
                  </a:txBody>
                  <a:tcPr marL="73152" marR="73152" marT="27432" marB="27432" anchor="ctr">
                    <a:solidFill>
                      <a:srgbClr val="F5F8F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0B4F9C"/>
                          </a:solidFill>
                          <a:latin typeface="Calibri"/>
                        </a:rPr>
                        <a:t>Receivables Ageing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>
                          <a:solidFill>
                            <a:srgbClr val="1F2937"/>
                          </a:solidFill>
                          <a:latin typeface="Calibri"/>
                        </a:rPr>
                        <a:t>Outstanding receivables by bucket (30/60/90/120 days)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0B4F9C"/>
                          </a:solidFill>
                          <a:latin typeface="Calibri"/>
                        </a:rPr>
                        <a:t>Incentive Results</a:t>
                      </a:r>
                    </a:p>
                  </a:txBody>
                  <a:tcPr marL="73152" marR="73152" marT="27432" marB="27432" anchor="ctr">
                    <a:solidFill>
                      <a:srgbClr val="F5F8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>
                          <a:solidFill>
                            <a:srgbClr val="1F2937"/>
                          </a:solidFill>
                          <a:latin typeface="Calibri"/>
                        </a:rPr>
                        <a:t>Programme target, achieved, achievement % and payout per agent</a:t>
                      </a:r>
                    </a:p>
                  </a:txBody>
                  <a:tcPr marL="73152" marR="73152" marT="27432" marB="27432" anchor="ctr">
                    <a:solidFill>
                      <a:srgbClr val="F5F8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B4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orta-techn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28232"/>
            <a:ext cx="930839" cy="274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70918" y="6437376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000" b="0" i="0">
                <a:solidFill>
                  <a:srgbClr val="5B6778"/>
                </a:solidFill>
                <a:latin typeface="Calibri"/>
              </a:rPr>
              <a:t>BrokerVerse | Sales / Relationship Manager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2009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/>
            <a:r>
              <a:rPr sz="1000" b="0" i="0">
                <a:solidFill>
                  <a:srgbClr val="5B6778"/>
                </a:solidFill>
                <a:latin typeface="Calibri"/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7432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1" i="0">
                <a:solidFill>
                  <a:srgbClr val="1E88E5"/>
                </a:solidFill>
                <a:latin typeface="Calibri"/>
              </a:rPr>
              <a:t>MASTER &gt; CONFIGURATION &gt; SCHEDULES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"/>
            <a:ext cx="11247120" cy="5943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800" b="1" i="0">
                <a:solidFill>
                  <a:srgbClr val="0B4F9C"/>
                </a:solidFill>
                <a:latin typeface="Calibri"/>
              </a:rPr>
              <a:t>Schedules and automations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325880"/>
          <a:ext cx="1127455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9912"/>
                <a:gridCol w="2016586"/>
                <a:gridCol w="7058052"/>
              </a:tblGrid>
              <a:tr h="50292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Job</a:t>
                      </a:r>
                    </a:p>
                  </a:txBody>
                  <a:tcPr marL="73152" marR="73152" marT="27432" marB="27432" anchor="ctr">
                    <a:solidFill>
                      <a:srgbClr val="0B4F9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When it runs</a:t>
                      </a:r>
                    </a:p>
                  </a:txBody>
                  <a:tcPr marL="73152" marR="73152" marT="27432" marB="27432" anchor="ctr">
                    <a:solidFill>
                      <a:srgbClr val="0B4F9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What it means for you</a:t>
                      </a:r>
                    </a:p>
                  </a:txBody>
                  <a:tcPr marL="73152" marR="73152" marT="27432" marB="27432" anchor="ctr">
                    <a:solidFill>
                      <a:srgbClr val="0B4F9C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B4F9C"/>
                          </a:solidFill>
                          <a:latin typeface="Calibri"/>
                        </a:rPr>
                        <a:t>Quotation expiry</a:t>
                      </a:r>
                    </a:p>
                  </a:txBody>
                  <a:tcPr marL="73152" marR="73152" marT="27432" marB="27432" anchor="ctr">
                    <a:solidFill>
                      <a:srgbClr val="F5F8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Every day, 00:30</a:t>
                      </a:r>
                    </a:p>
                  </a:txBody>
                  <a:tcPr marL="73152" marR="73152" marT="27432" marB="27432" anchor="ctr">
                    <a:solidFill>
                      <a:srgbClr val="F5F8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Your quotes past validity become expired</a:t>
                      </a:r>
                    </a:p>
                  </a:txBody>
                  <a:tcPr marL="73152" marR="73152" marT="27432" marB="27432" anchor="ctr">
                    <a:solidFill>
                      <a:srgbClr val="F5F8FC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B4F9C"/>
                          </a:solidFill>
                          <a:latin typeface="Calibri"/>
                        </a:rPr>
                        <a:t>Renewal pipeline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Every day, 05:30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Your policies enter the renewal queue 90 days out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B4F9C"/>
                          </a:solidFill>
                          <a:latin typeface="Calibri"/>
                        </a:rPr>
                        <a:t>Renewal notices</a:t>
                      </a:r>
                    </a:p>
                  </a:txBody>
                  <a:tcPr marL="73152" marR="73152" marT="27432" marB="27432" anchor="ctr">
                    <a:solidFill>
                      <a:srgbClr val="F5F8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Every day, 06:00</a:t>
                      </a:r>
                    </a:p>
                  </a:txBody>
                  <a:tcPr marL="73152" marR="73152" marT="27432" marB="27432" anchor="ctr">
                    <a:solidFill>
                      <a:srgbClr val="F5F8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Clients get notices; you get a reminder per notice</a:t>
                      </a:r>
                    </a:p>
                  </a:txBody>
                  <a:tcPr marL="73152" marR="73152" marT="27432" marB="27432" anchor="ctr">
                    <a:solidFill>
                      <a:srgbClr val="F5F8FC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B4F9C"/>
                          </a:solidFill>
                          <a:latin typeface="Calibri"/>
                        </a:rPr>
                        <a:t>Collection reminders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Every day, 08:00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Clients reminded before premium is due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B4F9C"/>
                          </a:solidFill>
                          <a:latin typeface="Calibri"/>
                        </a:rPr>
                        <a:t>Daily reports</a:t>
                      </a:r>
                    </a:p>
                  </a:txBody>
                  <a:tcPr marL="73152" marR="73152" marT="27432" marB="27432" anchor="ctr">
                    <a:solidFill>
                      <a:srgbClr val="F5F8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Every day, 05:00</a:t>
                      </a:r>
                    </a:p>
                  </a:txBody>
                  <a:tcPr marL="73152" marR="73152" marT="27432" marB="27432" anchor="ctr">
                    <a:solidFill>
                      <a:srgbClr val="F5F8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Production register ready each morning</a:t>
                      </a:r>
                    </a:p>
                  </a:txBody>
                  <a:tcPr marL="73152" marR="73152" marT="27432" marB="27432" anchor="ctr">
                    <a:solidFill>
                      <a:srgbClr val="F5F8FC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4663440"/>
            <a:ext cx="11274552" cy="4114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0" i="1">
                <a:solidFill>
                  <a:srgbClr val="5B6778"/>
                </a:solidFill>
                <a:latin typeface="Calibri"/>
              </a:rPr>
              <a:t>Times are server time (Philippine time in production). The IT administrator can change a timetable, switch a job off or press Run now; every run is recorded.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B4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orta-techn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28232"/>
            <a:ext cx="930839" cy="274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70918" y="6437376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000" b="0" i="0">
                <a:solidFill>
                  <a:srgbClr val="5B6778"/>
                </a:solidFill>
                <a:latin typeface="Calibri"/>
              </a:rPr>
              <a:t>BrokerVerse | Sales / Relationship Manager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2009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/>
            <a:r>
              <a:rPr sz="1000" b="0" i="0">
                <a:solidFill>
                  <a:srgbClr val="5B6778"/>
                </a:solidFill>
                <a:latin typeface="Calibri"/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7432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1" i="0">
                <a:solidFill>
                  <a:srgbClr val="1E88E5"/>
                </a:solidFill>
                <a:latin typeface="Calibri"/>
              </a:rPr>
              <a:t>BELL ICON, TOP RIGHT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"/>
            <a:ext cx="11247120" cy="5943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800" b="1" i="0">
                <a:solidFill>
                  <a:srgbClr val="0B4F9C"/>
                </a:solidFill>
                <a:latin typeface="Calibri"/>
              </a:rPr>
              <a:t>Notifications and approvals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325880"/>
            <a:ext cx="5500116" cy="960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21792" y="1490472"/>
            <a:ext cx="1005840" cy="274320"/>
          </a:xfrm>
          <a:prstGeom prst="roundRect">
            <a:avLst>
              <a:gd name="adj" fmla="val 50000"/>
            </a:avLst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490472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000" b="1" i="0">
                <a:solidFill>
                  <a:srgbClr val="1E88E5"/>
                </a:solidFill>
                <a:latin typeface="Calibri"/>
              </a:rPr>
              <a:t>Info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83080" y="1435607"/>
            <a:ext cx="4037075" cy="32918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250" b="1" i="0">
                <a:solidFill>
                  <a:srgbClr val="0B4F9C"/>
                </a:solidFill>
                <a:latin typeface="Calibri"/>
              </a:rPr>
              <a:t>Quotation approved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83080" y="1746504"/>
            <a:ext cx="4037075" cy="5029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The underwriter approved your quote; you can convert it.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423160"/>
            <a:ext cx="5500116" cy="960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21792" y="2587752"/>
            <a:ext cx="1005840" cy="274320"/>
          </a:xfrm>
          <a:prstGeom prst="roundRect">
            <a:avLst>
              <a:gd name="adj" fmla="val 50000"/>
            </a:avLst>
          </a:prstGeom>
          <a:solidFill>
            <a:srgbClr val="E3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" y="2587752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000" b="1" i="0">
                <a:solidFill>
                  <a:srgbClr val="0B4F9C"/>
                </a:solidFill>
                <a:latin typeface="Calibri"/>
              </a:rPr>
              <a:t>Task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83080" y="2532888"/>
            <a:ext cx="4037075" cy="32918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250" b="1" i="0">
                <a:solidFill>
                  <a:srgbClr val="0B4F9C"/>
                </a:solidFill>
                <a:latin typeface="Calibri"/>
              </a:rPr>
              <a:t>Customer accepted quotation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83080" y="2843784"/>
            <a:ext cx="4037075" cy="5029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The client accepted by e-mail link: proceed to policy.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520439"/>
            <a:ext cx="5500116" cy="960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21792" y="3685031"/>
            <a:ext cx="1005840" cy="274320"/>
          </a:xfrm>
          <a:prstGeom prst="roundRect">
            <a:avLst>
              <a:gd name="adj" fmla="val 50000"/>
            </a:avLst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1792" y="368503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000" b="1" i="0">
                <a:solidFill>
                  <a:srgbClr val="1E88E5"/>
                </a:solidFill>
                <a:latin typeface="Calibri"/>
              </a:rPr>
              <a:t>Info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83080" y="3630168"/>
            <a:ext cx="4037075" cy="32918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250" b="1" i="0">
                <a:solidFill>
                  <a:srgbClr val="0B4F9C"/>
                </a:solidFill>
                <a:latin typeface="Calibri"/>
              </a:rPr>
              <a:t>Policy issued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783080" y="3941063"/>
            <a:ext cx="4037075" cy="5029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Policy number and first bill number.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31636" y="1325880"/>
            <a:ext cx="5500116" cy="960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396227" y="1490472"/>
            <a:ext cx="1005840" cy="274320"/>
          </a:xfrm>
          <a:prstGeom prst="roundRect">
            <a:avLst>
              <a:gd name="adj" fmla="val 50000"/>
            </a:avLst>
          </a:prstGeom>
          <a:solidFill>
            <a:srgbClr val="E3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96227" y="1490472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000" b="1" i="0">
                <a:solidFill>
                  <a:srgbClr val="1E88E5"/>
                </a:solidFill>
                <a:latin typeface="Calibri"/>
              </a:rPr>
              <a:t>Reminder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57515" y="1435607"/>
            <a:ext cx="4037075" cy="32918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250" b="1" i="0">
                <a:solidFill>
                  <a:srgbClr val="0B4F9C"/>
                </a:solidFill>
                <a:latin typeface="Calibri"/>
              </a:rPr>
              <a:t>Renewal notice sent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57515" y="1746504"/>
            <a:ext cx="4037075" cy="5029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First, second or final notice sent for your policy.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31636" y="2423160"/>
            <a:ext cx="5500116" cy="960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396227" y="2587752"/>
            <a:ext cx="1005840" cy="274320"/>
          </a:xfrm>
          <a:prstGeom prst="roundRect">
            <a:avLst>
              <a:gd name="adj" fmla="val 50000"/>
            </a:avLst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96227" y="2587752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000" b="1" i="0">
                <a:solidFill>
                  <a:srgbClr val="1E88E5"/>
                </a:solidFill>
                <a:latin typeface="Calibri"/>
              </a:rPr>
              <a:t>Info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557515" y="2532888"/>
            <a:ext cx="4037075" cy="32918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250" b="1" i="0">
                <a:solidFill>
                  <a:srgbClr val="0B4F9C"/>
                </a:solidFill>
                <a:latin typeface="Calibri"/>
              </a:rPr>
              <a:t>Renewal approved / returned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557515" y="2843784"/>
            <a:ext cx="4037075" cy="5029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Result of the renewal checker.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231636" y="3520439"/>
            <a:ext cx="5500116" cy="960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6396227" y="3685031"/>
            <a:ext cx="1005840" cy="274320"/>
          </a:xfrm>
          <a:prstGeom prst="roundRect">
            <a:avLst>
              <a:gd name="adj" fmla="val 50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96227" y="368503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000" b="1" i="0">
                <a:solidFill>
                  <a:srgbClr val="C62828"/>
                </a:solidFill>
                <a:latin typeface="Calibri"/>
              </a:rPr>
              <a:t>Alert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557515" y="3630168"/>
            <a:ext cx="4037075" cy="32918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250" b="1" i="0">
                <a:solidFill>
                  <a:srgbClr val="0B4F9C"/>
                </a:solidFill>
                <a:latin typeface="Calibri"/>
              </a:rPr>
              <a:t>Policy lapsed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557515" y="3941063"/>
            <a:ext cx="4037075" cy="5029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Grace period passed with no renewal.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B4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orta-techn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28232"/>
            <a:ext cx="930839" cy="274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70918" y="6437376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000" b="0" i="0">
                <a:solidFill>
                  <a:srgbClr val="5B6778"/>
                </a:solidFill>
                <a:latin typeface="Calibri"/>
              </a:rPr>
              <a:t>BrokerVerse | Sales / Relationship Manager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2009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/>
            <a:r>
              <a:rPr sz="1000" b="0" i="0">
                <a:solidFill>
                  <a:srgbClr val="5B6778"/>
                </a:solidFill>
                <a:latin typeface="Calibri"/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7432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1" i="0">
                <a:solidFill>
                  <a:srgbClr val="1E88E5"/>
                </a:solidFill>
                <a:latin typeface="Calibri"/>
              </a:rPr>
              <a:t>GOOD TO KNOW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"/>
            <a:ext cx="11247120" cy="5943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800" b="1" i="0">
                <a:solidFill>
                  <a:srgbClr val="0B4F9C"/>
                </a:solidFill>
                <a:latin typeface="Calibri"/>
              </a:rPr>
              <a:t>Known limitations and tips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325880"/>
            <a:ext cx="5532120" cy="4846320"/>
          </a:xfrm>
          <a:prstGeom prst="roundRect">
            <a:avLst>
              <a:gd name="adj" fmla="val 4000"/>
            </a:avLst>
          </a:prstGeom>
          <a:solidFill>
            <a:srgbClr val="F5F8FC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46304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500" b="1" i="0">
                <a:solidFill>
                  <a:srgbClr val="0B4F9C"/>
                </a:solidFill>
                <a:latin typeface="Calibri"/>
              </a:rPr>
              <a:t>Open items that affect you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874519"/>
            <a:ext cx="5074920" cy="4206240"/>
          </a:xfrm>
          <a:prstGeom prst="rect">
            <a:avLst/>
          </a:prstGeom>
          <a:noFill/>
        </p:spPr>
        <p:txBody>
          <a:bodyPr wrap="square" lIns="18288" rIns="18288" tIns="18288" bIns="18288"/>
          <a:lstStyle/>
          <a:p>
            <a:pPr marL="201168" indent="-182880">
              <a:spcAft>
                <a:spcPts val="800"/>
              </a:spcAft>
              <a:buClr>
                <a:srgbClr val="5B6778"/>
              </a:buClr>
              <a:buFont typeface="Arial"/>
              <a:buChar char="•"/>
            </a:pPr>
            <a:r>
              <a:rPr sz="1500">
                <a:solidFill>
                  <a:srgbClr val="1F2937"/>
                </a:solidFill>
                <a:latin typeface="Calibri"/>
              </a:rPr>
              <a:t>Your session is kept in the browser’s local storage: sign out on shared computers and keep the browser up to date.</a:t>
            </a:r>
          </a:p>
          <a:p>
            <a:pPr marL="201168" indent="-182880">
              <a:spcAft>
                <a:spcPts val="800"/>
              </a:spcAft>
              <a:buClr>
                <a:srgbClr val="5B6778"/>
              </a:buClr>
              <a:buFont typeface="Arial"/>
              <a:buChar char="•"/>
            </a:pPr>
            <a:r>
              <a:rPr sz="1500">
                <a:solidFill>
                  <a:srgbClr val="1F2937"/>
                </a:solidFill>
                <a:latin typeface="Calibri"/>
              </a:rPr>
              <a:t>Two-factor set-up shows a setup key and an app link, but no QR code: type the key into the authenticator app.</a:t>
            </a:r>
          </a:p>
          <a:p>
            <a:pPr marL="201168" indent="-182880">
              <a:spcAft>
                <a:spcPts val="800"/>
              </a:spcAft>
              <a:buClr>
                <a:srgbClr val="5B6778"/>
              </a:buClr>
              <a:buFont typeface="Arial"/>
              <a:buChar char="•"/>
            </a:pPr>
            <a:r>
              <a:rPr sz="1500">
                <a:solidFill>
                  <a:srgbClr val="1F2937"/>
                </a:solidFill>
                <a:latin typeface="Calibri"/>
              </a:rPr>
              <a:t>Screens are in English or Thai; Filipino is configured but has no translation yet.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99632" y="1325880"/>
            <a:ext cx="5532120" cy="4846320"/>
          </a:xfrm>
          <a:prstGeom prst="roundRect">
            <a:avLst>
              <a:gd name="adj" fmla="val 4000"/>
            </a:avLst>
          </a:prstGeom>
          <a:solidFill>
            <a:srgbClr val="E6F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73952" y="146304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500" b="1" i="0">
                <a:solidFill>
                  <a:srgbClr val="43A047"/>
                </a:solidFill>
                <a:latin typeface="Calibri"/>
              </a:rPr>
              <a:t>Tips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73952" y="1874519"/>
            <a:ext cx="5074920" cy="4206240"/>
          </a:xfrm>
          <a:prstGeom prst="rect">
            <a:avLst/>
          </a:prstGeom>
          <a:noFill/>
        </p:spPr>
        <p:txBody>
          <a:bodyPr wrap="square" lIns="18288" rIns="18288" tIns="18288" bIns="18288"/>
          <a:lstStyle/>
          <a:p>
            <a:pPr marL="201168" indent="-182880">
              <a:spcAft>
                <a:spcPts val="800"/>
              </a:spcAft>
              <a:buClr>
                <a:srgbClr val="43A047"/>
              </a:buClr>
              <a:buFont typeface="Arial"/>
              <a:buChar char="•"/>
            </a:pPr>
            <a:r>
              <a:rPr sz="1500">
                <a:solidFill>
                  <a:srgbClr val="1F2937"/>
                </a:solidFill>
                <a:latin typeface="Calibri"/>
              </a:rPr>
              <a:t>Create the quote from Lead Details.</a:t>
            </a:r>
          </a:p>
          <a:p>
            <a:pPr marL="201168" indent="-182880">
              <a:spcAft>
                <a:spcPts val="800"/>
              </a:spcAft>
              <a:buClr>
                <a:srgbClr val="43A047"/>
              </a:buClr>
              <a:buFont typeface="Arial"/>
              <a:buChar char="•"/>
            </a:pPr>
            <a:r>
              <a:rPr sz="1500">
                <a:solidFill>
                  <a:srgbClr val="1F2937"/>
                </a:solidFill>
                <a:latin typeface="Calibri"/>
              </a:rPr>
              <a:t>Choose broker or direct bill on Send to Insurance Company.</a:t>
            </a:r>
          </a:p>
          <a:p>
            <a:pPr marL="201168" indent="-182880">
              <a:spcAft>
                <a:spcPts val="800"/>
              </a:spcAft>
              <a:buClr>
                <a:srgbClr val="43A047"/>
              </a:buClr>
              <a:buFont typeface="Arial"/>
              <a:buChar char="•"/>
            </a:pPr>
            <a:r>
              <a:rPr sz="1500">
                <a:solidFill>
                  <a:srgbClr val="1F2937"/>
                </a:solidFill>
                <a:latin typeface="Calibri"/>
              </a:rPr>
              <a:t>Watch the At-Risk Policies view weekly.</a:t>
            </a:r>
          </a:p>
          <a:p>
            <a:pPr marL="201168" indent="-182880">
              <a:spcAft>
                <a:spcPts val="800"/>
              </a:spcAft>
              <a:buClr>
                <a:srgbClr val="43A047"/>
              </a:buClr>
              <a:buFont typeface="Arial"/>
              <a:buChar char="•"/>
            </a:pPr>
            <a:r>
              <a:rPr sz="1500">
                <a:solidFill>
                  <a:srgbClr val="1F2937"/>
                </a:solidFill>
                <a:latin typeface="Calibri"/>
              </a:rPr>
              <a:t>Use the Agent Dashboard for your own numbers.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4F9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822960"/>
            <a:ext cx="384048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orta-techn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1051560"/>
            <a:ext cx="3102796" cy="9144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2651760"/>
            <a:ext cx="10058400" cy="7315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4000" b="1" i="0">
                <a:solidFill>
                  <a:srgbClr val="FFFFFF"/>
                </a:solidFill>
                <a:latin typeface="Calibri"/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38328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800" b="0" i="0">
                <a:solidFill>
                  <a:srgbClr val="BFD9F5"/>
                </a:solidFill>
                <a:latin typeface="Calibri"/>
              </a:rPr>
              <a:t>BrokerVerse — Sales / Relationship Manager guide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4160520"/>
            <a:ext cx="10698480" cy="1874519"/>
          </a:xfrm>
          <a:prstGeom prst="roundRect">
            <a:avLst>
              <a:gd name="adj" fmla="val 6000"/>
            </a:avLst>
          </a:prstGeom>
          <a:solidFill>
            <a:srgbClr val="0E5C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429768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1" i="0">
                <a:solidFill>
                  <a:srgbClr val="9FC8F2"/>
                </a:solidFill>
                <a:latin typeface="Calibri"/>
              </a:rPr>
              <a:t>SUPPORT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4617720"/>
            <a:ext cx="2194560" cy="30175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Service desk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0" y="4617720"/>
            <a:ext cx="8046720" cy="30175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&lt;service desk to be confirmed&gt;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946904"/>
            <a:ext cx="2194560" cy="30175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E-mail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0" y="4946904"/>
            <a:ext cx="8046720" cy="30175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&lt;support mailbox to be confirmed&gt;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5276088"/>
            <a:ext cx="2194560" cy="30175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Hours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0400" y="5276088"/>
            <a:ext cx="8046720" cy="30175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&lt;business hours, Manila time, to be confirmed&gt;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605272"/>
            <a:ext cx="2194560" cy="30175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Access requests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0400" y="5605272"/>
            <a:ext cx="8046720" cy="30175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Your User Access Administrator (Master &gt; User Management)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630936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00" b="0" i="0">
                <a:solidFill>
                  <a:srgbClr val="BFD9F5"/>
                </a:solidFill>
                <a:latin typeface="Calibri"/>
              </a:rPr>
              <a:t>iorta TechNXT · BrokerVerse insurance-broking platform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