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898294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89829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Leads and quotations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6974" y="4983480"/>
            <a:ext cx="956828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6974" y="4983480"/>
            <a:ext cx="95682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Renewals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0962" y="4983480"/>
            <a:ext cx="1427561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0962" y="4983480"/>
            <a:ext cx="1427561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Own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Sales &amp;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Sales &amp; Marketing (Account Executive)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07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4553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maria.sales (and the account executives agent.*)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039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416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714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7091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Finds business:  </a:t>
            </a:r>
            <a:r>
              <a:rPr sz="1600">
                <a:solidFill>
                  <a:srgbClr val="1F2937"/>
                </a:solidFill>
                <a:latin typeface="Calibri"/>
              </a:rPr>
              <a:t>records prospects and leads, alone or in bulk from a spreadsheet.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Quotes:  </a:t>
            </a:r>
            <a:r>
              <a:rPr sz="1600">
                <a:solidFill>
                  <a:srgbClr val="1F2937"/>
                </a:solidFill>
                <a:latin typeface="Calibri"/>
              </a:rPr>
              <a:t>prices motor risks in the quotation wizard and sends them to the client for online acceptance.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Hands over commercial risks:  </a:t>
            </a:r>
            <a:r>
              <a:rPr sz="1600">
                <a:solidFill>
                  <a:srgbClr val="1F2937"/>
                </a:solidFill>
                <a:latin typeface="Calibri"/>
              </a:rPr>
              <a:t>agrees the risk details; the Processing Team markets them on a Broker Slip.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the book:  </a:t>
            </a:r>
            <a:r>
              <a:rPr sz="1600">
                <a:solidFill>
                  <a:srgbClr val="1F2937"/>
                </a:solidFill>
                <a:latin typeface="Calibri"/>
              </a:rPr>
              <a:t>works the renewal queue, at-risk policies and negotiations.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Watches results:  </a:t>
            </a:r>
            <a:r>
              <a:rPr sz="1600">
                <a:solidFill>
                  <a:srgbClr val="1F2937"/>
                </a:solidFill>
                <a:latin typeface="Calibri"/>
              </a:rPr>
              <a:t>Sales Dashboard, commission and incentive results for your own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maria.sales. Lands on the Executive Dashboard. Your own figures are on Dashboard &gt; Sales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Processing Team (Broker Slips, placement, policy issue, renewal terms), the client (accepts by e-mail link), Accounting (verifies payments you record).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Your quotation is approved by another user, and renewal terms by the Processing Team. You never post receipts: you record the payment and Accounting confirms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sales in menuPermissions.js; anything else is hidden, refused by the route guard and by the API. The role walk opened 29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311454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5659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Executive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Sales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311454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5659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Product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311454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56590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Broker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Placement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Renewals (8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43348"/>
            <a:ext cx="3636264" cy="1274571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943348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43348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418836"/>
            <a:ext cx="3435095" cy="725931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Commission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6344" y="4943348"/>
            <a:ext cx="3636264" cy="1274571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6344" y="4943348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3504" y="4943348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5418836"/>
            <a:ext cx="3435095" cy="725931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All Reports (15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3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Sales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Dashboard &gt; Sales Dashboard.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Sales Dashboard (also Operations &gt; Home)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Counts:  </a:t>
            </a:r>
            <a:r>
              <a:rPr sz="1500">
                <a:solidFill>
                  <a:srgbClr val="1F2937"/>
                </a:solidFill>
                <a:latin typeface="Calibri"/>
              </a:rPr>
              <a:t>your leads, clients and policies.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Money:  </a:t>
            </a:r>
            <a:r>
              <a:rPr sz="1500">
                <a:solidFill>
                  <a:srgbClr val="1F2937"/>
                </a:solidFill>
                <a:latin typeface="Calibri"/>
              </a:rPr>
              <a:t>earned commission and premium billed on your policies: collected, still due, total.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Direct bill:  </a:t>
            </a:r>
            <a:r>
              <a:rPr sz="1500">
                <a:solidFill>
                  <a:srgbClr val="1F2937"/>
                </a:solidFill>
                <a:latin typeface="Calibri"/>
              </a:rPr>
              <a:t>left out of premium figures, because the client pays the 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Shortcut:  </a:t>
            </a:r>
            <a:r>
              <a:rPr sz="1500">
                <a:solidFill>
                  <a:srgbClr val="1F2937"/>
                </a:solidFill>
                <a:latin typeface="Calibri"/>
              </a:rPr>
              <a:t>Create Quote, and upcoming follow-ups from the activity monitor.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Leads and prospects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Leads/Prospects &gt; Create Lead, motor prospect.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Leads/Prospects &gt; Create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Line first:  </a:t>
            </a:r>
            <a:r>
              <a:rPr sz="1500">
                <a:solidFill>
                  <a:srgbClr val="1F2937"/>
                </a:solidFill>
                <a:latin typeface="Calibri"/>
              </a:rPr>
              <a:t>Motor, Fire and Allied Perils, Industrial All Risks or Employee Benefit; then Retail or Corporate.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Checks:  </a:t>
            </a:r>
            <a:r>
              <a:rPr sz="1500">
                <a:solidFill>
                  <a:srgbClr val="1F2937"/>
                </a:solidFill>
                <a:latin typeface="Calibri"/>
              </a:rPr>
              <a:t>age 18 to 100, valid e-mail, mobile 0917 123 4567 or +63 917 123 4567, 4-digit ZIP.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Corporate:  </a:t>
            </a:r>
            <a:r>
              <a:rPr sz="1500">
                <a:solidFill>
                  <a:srgbClr val="1F2937"/>
                </a:solidFill>
                <a:latin typeface="Calibri"/>
              </a:rPr>
              <a:t>company name and TIN are required.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Bulk Upload:  </a:t>
            </a:r>
            <a:r>
              <a:rPr sz="1500">
                <a:solidFill>
                  <a:srgbClr val="1F2937"/>
                </a:solidFill>
                <a:latin typeface="Calibri"/>
              </a:rPr>
              <a:t>up to 1,000 rows from Leads_Upload_Template.xlsx; failed rows listed with the reason.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Motor quotation: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Create Quote, step 3 after Calculate.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Details &gt; Create Quote (5 steps)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Own damage:  </a:t>
            </a:r>
            <a:r>
              <a:rPr sz="1500">
                <a:solidFill>
                  <a:srgbClr val="1F2937"/>
                </a:solidFill>
                <a:latin typeface="Calibri"/>
              </a:rPr>
              <a:t>rate from the motor tariff, 2% for private cars.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CTPL and Auto Passenger PA:  </a:t>
            </a:r>
            <a:r>
              <a:rPr sz="1500">
                <a:solidFill>
                  <a:srgbClr val="1F2937"/>
                </a:solidFill>
                <a:latin typeface="Calibri"/>
              </a:rPr>
              <a:t>always priced by the system from template MOT-003-2025.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Co-Insurance:  </a:t>
            </a:r>
            <a:r>
              <a:rPr sz="1500">
                <a:solidFill>
                  <a:srgbClr val="1F2937"/>
                </a:solidFill>
                <a:latin typeface="Calibri"/>
              </a:rPr>
              <a:t>tick it on step 1 when several insurers share the risk; shares total 100% with one lead.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Calculate:  </a:t>
            </a:r>
            <a:r>
              <a:rPr sz="1500">
                <a:solidFill>
                  <a:srgbClr val="1F2937"/>
                </a:solidFill>
                <a:latin typeface="Calibri"/>
              </a:rPr>
              <a:t>after every change. Nothing is saved until Completed Quote.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Order summary, discount and referrer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Create Quote, step 5.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Create Quote &gt; Order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Taxes:  </a:t>
            </a:r>
            <a:r>
              <a:rPr sz="1500">
                <a:solidFill>
                  <a:srgbClr val="1F2937"/>
                </a:solidFill>
                <a:latin typeface="Calibri"/>
              </a:rPr>
              <a:t>VAT 12%, DST 12.5%, LGT 0.75% of the net premium; CTPL is not taxed again.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Discount:  </a:t>
            </a:r>
            <a:r>
              <a:rPr sz="1500">
                <a:solidFill>
                  <a:srgbClr val="1F2937"/>
                </a:solidFill>
                <a:latin typeface="Calibri"/>
              </a:rPr>
              <a:t>0% to 30%, taken from the broker’s commission, not the referrer’s share.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Referrer:  </a:t>
            </a:r>
            <a:r>
              <a:rPr sz="1500">
                <a:solidFill>
                  <a:srgbClr val="1F2937"/>
                </a:solidFill>
                <a:latin typeface="Calibri"/>
              </a:rPr>
              <a:t>choose the referrer or Direct; comsub fills in from the rule (L1 8%, L2 5%).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Server check:  </a:t>
            </a:r>
            <a:r>
              <a:rPr sz="1500">
                <a:solidFill>
                  <a:srgbClr val="1F2937"/>
                </a:solidFill>
                <a:latin typeface="Calibri"/>
              </a:rPr>
              <a:t>the saved premium is recalculated from the configured rates; typed amounts are refused.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Send the quotation to the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Quotation detail, Draft.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Quotation &gt; eye 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 for Customer Approval:  </a:t>
            </a:r>
            <a:r>
              <a:rPr sz="1500">
                <a:solidFill>
                  <a:srgbClr val="1F2937"/>
                </a:solidFill>
                <a:latin typeface="Calibri"/>
              </a:rPr>
              <a:t>e-mails a signed link valid 7 days; status Pending Customer.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Client:  </a:t>
            </a:r>
            <a:r>
              <a:rPr sz="1500">
                <a:solidFill>
                  <a:srgbClr val="1F2937"/>
                </a:solidFill>
                <a:latin typeface="Calibri"/>
              </a:rPr>
              <a:t>opens the link, no sign-in needed, and selects Approve Quote.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You:  </a:t>
            </a:r>
            <a:r>
              <a:rPr sz="1500">
                <a:solidFill>
                  <a:srgbClr val="1F2937"/>
                </a:solidFill>
                <a:latin typeface="Calibri"/>
              </a:rPr>
              <a:t>are told Customer accepted quotation; the Processing Team is notified.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Share:  </a:t>
            </a:r>
            <a:r>
              <a:rPr sz="1500">
                <a:solidFill>
                  <a:srgbClr val="1F2937"/>
                </a:solidFill>
                <a:latin typeface="Calibri"/>
              </a:rPr>
              <a:t>Download, Email, WhatsApp, Send to Insurer or Copy Link. Quotations expire after 30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Follow a commercial placement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707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63474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00634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Broker Slips.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Broker Slips, Placement Slips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Who does it:  </a:t>
            </a:r>
            <a:r>
              <a:rPr sz="1500">
                <a:solidFill>
                  <a:srgbClr val="1F2937"/>
                </a:solidFill>
                <a:latin typeface="Calibri"/>
              </a:rPr>
              <a:t>the Processing Team markets fire, IAR, marine and other commercial risks.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You see:  </a:t>
            </a:r>
            <a:r>
              <a:rPr sz="1500">
                <a:solidFill>
                  <a:srgbClr val="1F2937"/>
                </a:solidFill>
                <a:latin typeface="Calibri"/>
              </a:rPr>
              <a:t>offers received, declines, best gross offer, response due date and status.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the chosen terms become a Quotation Slip for the client, or a Placement Slip.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Reports:  </a:t>
            </a:r>
            <a:r>
              <a:rPr sz="1500">
                <a:solidFill>
                  <a:srgbClr val="1F2937"/>
                </a:solidFill>
                <a:latin typeface="Calibri"/>
              </a:rPr>
              <a:t>Placement Pipeline and Market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Record the client’s payment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&gt; Proceed to Payment. Signed in as Operations (ana.cs).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Policy &gt; Proceed to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Choose:  </a:t>
            </a:r>
            <a:r>
              <a:rPr sz="1500">
                <a:solidFill>
                  <a:srgbClr val="1F2937"/>
                </a:solidFill>
                <a:latin typeface="Calibri"/>
              </a:rPr>
              <a:t>Pay later, Bank transfer, Cheque, Online payment or Cash.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Enter:  </a:t>
            </a:r>
            <a:r>
              <a:rPr sz="1500">
                <a:solidFill>
                  <a:srgbClr val="1F2937"/>
                </a:solidFill>
                <a:latin typeface="Calibri"/>
              </a:rPr>
              <a:t>reference, amount, payment date and proof of payment if you have it.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Then:  </a:t>
            </a:r>
            <a:r>
              <a:rPr sz="1500">
                <a:solidFill>
                  <a:srgbClr val="1F2937"/>
                </a:solidFill>
                <a:latin typeface="Calibri"/>
              </a:rPr>
              <a:t>payment status Reviewing; Accounting gets Premium payment to verify.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Only Accounting:  </a:t>
            </a:r>
            <a:r>
              <a:rPr sz="1500">
                <a:solidFill>
                  <a:srgbClr val="1F2937"/>
                </a:solidFill>
                <a:latin typeface="Calibri"/>
              </a:rPr>
              <a:t>posts the official receipt (Confirm) or rejects it with a reason.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Renewals: queue and at-risk policies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Renewals &gt; At-Risk Policies. Signed in as Sales &amp; Marketing (maria.sales).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Renewals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Timetable:  </a:t>
            </a:r>
            <a:r>
              <a:rPr sz="1500">
                <a:solidFill>
                  <a:srgbClr val="1F2937"/>
                </a:solidFill>
                <a:latin typeface="Calibri"/>
              </a:rPr>
              <a:t>pipeline 90 days before expiry; notices at 60, 30 and 15 days; lapse 30 days after expiry.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Risk score:  </a:t>
            </a:r>
            <a:r>
              <a:rPr sz="1500">
                <a:solidFill>
                  <a:srgbClr val="1F2937"/>
                </a:solidFill>
                <a:latin typeface="Calibri"/>
              </a:rPr>
              <a:t>claims in the term, unpaid premium, expiry within 30 days, premium increase, no contact, first renewal.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Negotiations:  </a:t>
            </a:r>
            <a:r>
              <a:rPr sz="1500">
                <a:solidFill>
                  <a:srgbClr val="1F2937"/>
                </a:solidFill>
                <a:latin typeface="Calibri"/>
              </a:rPr>
              <a:t>Add Update for each call; Request Approval sends terms to the Processing Team.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Commission:  </a:t>
            </a:r>
            <a:r>
              <a:rPr sz="1500">
                <a:solidFill>
                  <a:srgbClr val="1F2937"/>
                </a:solidFill>
                <a:latin typeface="Calibri"/>
              </a:rPr>
              <a:t>the renewal accrues to the original referrer.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Commission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Commission &gt; Commission Dashboard. Signed in as Accounting (liza.finance).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Commission &gt; Commission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Shows:  </a:t>
            </a:r>
            <a:r>
              <a:rPr sz="1500">
                <a:solidFill>
                  <a:srgbClr val="1F2937"/>
                </a:solidFill>
                <a:latin typeface="Calibri"/>
              </a:rPr>
              <a:t>brokerage income, comsub, net margin, outstanding payable and withholding tax.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Breakdowns:  </a:t>
            </a:r>
            <a:r>
              <a:rPr sz="1500">
                <a:solidFill>
                  <a:srgbClr val="1F2937"/>
                </a:solidFill>
                <a:latin typeface="Calibri"/>
              </a:rPr>
              <a:t>by referrer, status, month, product and insurer.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Who earns:  </a:t>
            </a:r>
            <a:r>
              <a:rPr sz="1500">
                <a:solidFill>
                  <a:srgbClr val="1F2937"/>
                </a:solidFill>
                <a:latin typeface="Calibri"/>
              </a:rPr>
              <a:t>only Sales &amp; Marketing users earn commission on their production (commission.eligible_roles).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Payable:  </a:t>
            </a:r>
            <a:r>
              <a:rPr sz="1500">
                <a:solidFill>
                  <a:srgbClr val="1F2937"/>
                </a:solidFill>
                <a:latin typeface="Calibri"/>
              </a:rPr>
              <a:t>when the premium is fully collected and the referrer has a bank account on 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Sales, Operations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2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1226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Broker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29584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Quotation Slip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Sales, Processing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84648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22392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Placement Slip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9712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77456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Policy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Processing Team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94776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Payment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4984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8758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Official receipt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0922507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758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10149840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8494776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77456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Endorsement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Processing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6839712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22392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544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Claims, two users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5184648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67328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67" name="Left Arrow 66"/>
          <p:cNvSpPr/>
          <p:nvPr/>
        </p:nvSpPr>
        <p:spPr>
          <a:xfrm>
            <a:off x="3529584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11226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541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Month-end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Acct. Manager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Your renewals start the next cycle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 Lead: record and qualify the prospect.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3 Quotation Slip: price the motor risk and send the link.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6 Payment capture: record how the client paid.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12 Renewal: work the queue and at-risk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Fifteen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37360"/>
          <a:ext cx="11274551" cy="443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216"/>
                <a:gridCol w="8341335"/>
              </a:tblGrid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renewal, billing mode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New business and renewals by month or agent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Leads by stage with the conversion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Placement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Broker Slips and Placement Slips of the period with status, lead insurer, premium and age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Market 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Insurers approached: offers, declines, pending, response days and hit ratio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Co-insurance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Co-insured policies with each participant's share,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 and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and the retention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commission, net due,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Incentive Results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Programme target, achieved and payout per person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SOA / Premium Receivable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Bills issued: amount, paid, balance and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7717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B4F9C"/>
                          </a:solidFill>
                          <a:latin typeface="Calibri"/>
                        </a:rPr>
                        <a:t>Receivables Ageing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Outstanding receivables by bucket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quotations expire after 30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Your policies enter the renewal queue 90 days before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get notices at 60, 30 and 15 days; you get a reminder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Collection reminders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08:00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Clients reminded 7 days before premium is due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Production Register ready at 05:00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Manila time (general.timezone). The System Administrator changes a timetable, switches a job on or off, or runs it now; every run is recorded.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Customer accepted quotation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client approved through the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Quotation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Another user approved your quotation.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issued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Policy number, for policies you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Reminder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notice reminders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For each 60, 30 and 15-day notice on your policies.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approved / returned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Processing Team’s decision on your terms.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Calibri"/>
              </a:rP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lapsed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 renewal within 30 days after expiry.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Sales &amp;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sign-in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Filipino is configured as a language but has no screen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lead needs an e-mail address before a quotation can be sent for approval.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A quotation converted to a policy cannot be edited: raise an endorsement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Start quotations from Lead Details, not from the quotation list.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Choose the referrer on step 5; the commission follows that choice.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Record declines and offers with the Processing Team: Market Response uses both.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Look at At-Risk Policies every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Sales &amp; Marketing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