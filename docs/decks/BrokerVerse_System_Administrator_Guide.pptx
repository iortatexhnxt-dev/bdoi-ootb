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402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guide for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Functions, flows, reports and schedules of your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113739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11373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Every menu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2419" y="4983480"/>
            <a:ext cx="1662927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2419" y="4983480"/>
            <a:ext cx="1662927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Users and masters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82507" y="4983480"/>
            <a:ext cx="2055205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2507" y="4983480"/>
            <a:ext cx="2055205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Settings and schedules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51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325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System Administrator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8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942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System Administrator (Super Admin Access)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0779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4553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bea.admin (and the delivered BrokerVerse user)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80390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0416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system-admin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47141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7091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Executive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Runs the platform:  </a:t>
            </a:r>
            <a:r>
              <a:rPr sz="1600">
                <a:solidFill>
                  <a:srgbClr val="1F2937"/>
                </a:solidFill>
                <a:latin typeface="Calibri"/>
              </a:rPr>
              <a:t>users, roles, system settings, configuration and the scheduled jobs.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Keeps the reference data:  </a:t>
            </a:r>
            <a:r>
              <a:rPr sz="1600">
                <a:solidFill>
                  <a:srgbClr val="1F2937"/>
                </a:solidFill>
                <a:latin typeface="Calibri"/>
              </a:rPr>
              <a:t>company and letterhead, insurers and credit terms, products, locations, commission sharing.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Owns the accounting set-up:  </a:t>
            </a:r>
            <a:r>
              <a:rPr sz="1600">
                <a:solidFill>
                  <a:srgbClr val="1F2937"/>
                </a:solidFill>
                <a:latin typeface="Calibri"/>
              </a:rPr>
              <a:t>document numbering, commission rate matrix, posting rules and account determination, agreed with the Accounting Manager.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Supports every team:  </a:t>
            </a:r>
            <a:r>
              <a:rPr sz="1600">
                <a:solidFill>
                  <a:srgbClr val="1F2937"/>
                </a:solidFill>
                <a:latin typeface="Calibri"/>
              </a:rPr>
              <a:t>sees all 158 screens, so it can reproduce a problem on any of them.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Reviews access:  </a:t>
            </a:r>
            <a:r>
              <a:rPr sz="1600">
                <a:solidFill>
                  <a:srgbClr val="1F2937"/>
                </a:solidFill>
                <a:latin typeface="Calibri"/>
              </a:rPr>
              <a:t>audit trail, sign-in history, password resets and unlocking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bea.admin. Lands on the Executive Dashboard. Idle sessions end after 30 minutes; a role change or password reset ends the user’s other sessions.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Processing Team (products and tariff in use), Accounting and the Accounting Manager (GL accounts, posting rules, numbering), every team for user requests.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The role passes every permission check, but maker-checker still applies: you cannot approve a voucher, settlement, close run or reconciliation you prepared yourself.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system-admin has every menu (all: true) and every permission, including approve:period-end and approve:bank-reconciliation. The role walk opened 158 screens with no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681478" cy="22692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2480310" cy="172059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Executive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Sales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Processing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Claims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1558" y="1645920"/>
            <a:ext cx="2681478" cy="22692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1558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8718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 Configurator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1286" y="2121408"/>
            <a:ext cx="2480310" cy="172059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Dashboard, Product Templates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Coverage Builder, Rating Engine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Acceptance Rules, Document Manager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Approval Workflows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Market Mapping, Risk Mapping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Product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645920"/>
            <a:ext cx="2681478" cy="22692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5916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644" y="2121408"/>
            <a:ext cx="2480310" cy="172059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System Settings, Configuration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Document Numbering, Schedules, Audit Trail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Generals: company, branch, insurers, lines, products, covers, signatories, vehicles, locations, commission sharing, employees, users and roles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Finance: account determination, posting rules, commission rate matrix, chart of accounts, currency, bank, taxation, close checklist, bank formats and types, petty cash, remittance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Incentive Programs, Reinsurance Treaty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645920"/>
            <a:ext cx="2681478" cy="22692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0274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7434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0002" y="2121408"/>
            <a:ext cx="2480310" cy="172059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Leads/Prospects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Quotation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Broker Slips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Placement Slips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Claims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Renewals (8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98036"/>
            <a:ext cx="2681478" cy="211988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098036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098036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573524"/>
            <a:ext cx="2480310" cy="157124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Receipts, Collections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Accounting Query, All Clients Accounting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Open Entry Matching / Un-Matching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Disbursement, Petty Cash (5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Journal Voucher, Correction JV, Reversal JV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Period End (5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Bank Reconciliation (7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Tax (6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Remittance (16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Incentive (4 screens)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1558" y="4098036"/>
            <a:ext cx="2681478" cy="211988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21558" y="4098036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8718" y="4098036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1286" y="4573524"/>
            <a:ext cx="2480310" cy="157124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Commission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Agents/Referrer Accounts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5916" y="4098036"/>
            <a:ext cx="2681478" cy="211988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85916" y="4098036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3076" y="4098036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Reinsurance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5644" y="4573524"/>
            <a:ext cx="2480310" cy="157124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Treaty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Cession Tracking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Claims Recovery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Reconciliation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Analytics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0274" y="4098036"/>
            <a:ext cx="2681478" cy="211988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50274" y="4098036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7434" y="4098036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0002" y="4573524"/>
            <a:ext cx="2480310" cy="157124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All Reports (39 reports)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Operational Reports: Production, Claims, Renewal, Remittance, Broker Commission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800">
                <a:solidFill>
                  <a:srgbClr val="1F2937"/>
                </a:solidFill>
                <a:latin typeface="Calibri"/>
              </a:rPr>
              <a:t>Financial Reports (15 shortcuts)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Users and account 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2063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4133218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504818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Generals &gt; User Management &gt; User, account actions.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Generals &gt; User Management &gt;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Add:  </a:t>
            </a:r>
            <a:r>
              <a:rPr sz="1500">
                <a:solidFill>
                  <a:srgbClr val="1F2937"/>
                </a:solidFill>
                <a:latin typeface="Calibri"/>
              </a:rPr>
              <a:t>user name, e-mail, display name and one role. Leave the password empty: a temporary password is shown once.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First sign-in:  </a:t>
            </a:r>
            <a:r>
              <a:rPr sz="1500">
                <a:solidFill>
                  <a:srgbClr val="1F2937"/>
                </a:solidFill>
                <a:latin typeface="Calibri"/>
              </a:rPr>
              <a:t>the user must choose a new password before anything else.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Row actions:  </a:t>
            </a:r>
            <a:r>
              <a:rPr sz="1500">
                <a:solidFill>
                  <a:srgbClr val="1F2937"/>
                </a:solidFill>
                <a:latin typeface="Calibri"/>
              </a:rPr>
              <a:t>Unlock, Reset password, Turn off two-step verification, Sign-in history.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Leavers:  </a:t>
            </a:r>
            <a:r>
              <a:rPr sz="1500">
                <a:solidFill>
                  <a:srgbClr val="1F2937"/>
                </a:solidFill>
                <a:latin typeface="Calibri"/>
              </a:rPr>
              <a:t>switch Status off. History is kept and open sessions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The seven roles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Generals &gt; User Management &gt; Role.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Generals &gt; User Management &gt;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Fixed roles:  </a:t>
            </a:r>
            <a:r>
              <a:rPr sz="1500">
                <a:solidFill>
                  <a:srgbClr val="1F2937"/>
                </a:solidFill>
                <a:latin typeface="Calibri"/>
              </a:rPr>
              <a:t>system-admin, sales, processing, operations, claims, accounting, accounting-manager.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Inheritance:  </a:t>
            </a:r>
            <a:r>
              <a:rPr sz="1500">
                <a:solidFill>
                  <a:srgbClr val="1F2937"/>
                </a:solidFill>
                <a:latin typeface="Calibri"/>
              </a:rPr>
              <a:t>accounting-manager includes accounting and adds approve:period-end and approve:bank-reconciliation.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Retired:  </a:t>
            </a:r>
            <a:r>
              <a:rPr sz="1500">
                <a:solidFill>
                  <a:srgbClr val="1F2937"/>
                </a:solidFill>
                <a:latin typeface="Calibri"/>
              </a:rPr>
              <a:t>the IT, Business and User Access administrator roles are merged into this one; the Agent login is withdrawn.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Referrers:  </a:t>
            </a:r>
            <a:r>
              <a:rPr sz="1500">
                <a:solidFill>
                  <a:srgbClr val="1F2937"/>
                </a:solidFill>
                <a:latin typeface="Calibri"/>
              </a:rPr>
              <a:t>do not sign in. Sales enters their business and they are paid from the referrer master.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Company and letterhead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5261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453003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4824602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Generals &gt; Organization &gt; Company, edit.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Generals &gt; Organization &gt;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Letterhead:  </a:t>
            </a:r>
            <a:r>
              <a:rPr sz="1500">
                <a:solidFill>
                  <a:srgbClr val="1F2937"/>
                </a:solidFill>
                <a:latin typeface="Calibri"/>
              </a:rPr>
              <a:t>every PDF (slips, policy schedule, OR, PV, debit note, claim letters, BIR forms, reports) uses the letterhead company.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Fill in:  </a:t>
            </a:r>
            <a:r>
              <a:rPr sz="1500">
                <a:solidFill>
                  <a:srgbClr val="1F2937"/>
                </a:solidFill>
                <a:latin typeface="Calibri"/>
              </a:rPr>
              <a:t>company name, Insurance Commission licence, TIN, logo, address, phone and e-mail.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One company:  </a:t>
            </a:r>
            <a:r>
              <a:rPr sz="1500">
                <a:solidFill>
                  <a:srgbClr val="1F2937"/>
                </a:solidFill>
                <a:latin typeface="Calibri"/>
              </a:rPr>
              <a:t>only one company can hold Letterhead company.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Check:  </a:t>
            </a:r>
            <a:r>
              <a:rPr sz="1500">
                <a:solidFill>
                  <a:srgbClr val="1F2937"/>
                </a:solidFill>
                <a:latin typeface="Calibri"/>
              </a:rPr>
              <a:t>print any billing statement as PDF after you save.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Insurers and credit terms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Insurance Company, edit.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Generals &gt; Insurance Management &gt; Insurance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E-mail:  </a:t>
            </a:r>
            <a:r>
              <a:rPr sz="1500">
                <a:solidFill>
                  <a:srgbClr val="1F2937"/>
                </a:solidFill>
                <a:latin typeface="Calibri"/>
              </a:rPr>
              <a:t>requests for quotation, firm orders, loss advices and remittance advices go to the insurer’s e-mail.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Premium payment warranty:  </a:t>
            </a:r>
            <a:r>
              <a:rPr sz="1500">
                <a:solidFill>
                  <a:srgbClr val="1F2937"/>
                </a:solidFill>
                <a:latin typeface="Calibri"/>
              </a:rPr>
              <a:t>days the client has to pay; else collections.default_credit_days (30).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Remittance terms:  </a:t>
            </a:r>
            <a:r>
              <a:rPr sz="1500">
                <a:solidFill>
                  <a:srgbClr val="1F2937"/>
                </a:solidFill>
                <a:latin typeface="Calibri"/>
              </a:rPr>
              <a:t>days after collection to remit; else remittance.default_due_days (30).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Default billing mode:  </a:t>
            </a:r>
            <a:r>
              <a:rPr sz="1500">
                <a:solidFill>
                  <a:srgbClr val="1F2937"/>
                </a:solidFill>
                <a:latin typeface="Calibri"/>
              </a:rPr>
              <a:t>broker billed or direct bill for the insurer’s new policies.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Document numbering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Document Numbering.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Document Numbering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Series:  </a:t>
            </a:r>
            <a:r>
              <a:rPr sz="1500">
                <a:solidFill>
                  <a:srgbClr val="1F2937"/>
                </a:solidFill>
                <a:latin typeface="Calibri"/>
              </a:rPr>
              <a:t>52 series in 11 modules: POL, QT, BS, PS, OR, INV, PV, JV, CLM, END, DN, MEC, BRC, CWT and more.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Format:  </a:t>
            </a:r>
            <a:r>
              <a:rPr sz="1500">
                <a:solidFill>
                  <a:srgbClr val="1F2937"/>
                </a:solidFill>
                <a:latin typeface="Calibri"/>
              </a:rPr>
              <a:t>tokens {PREFIX}, {YYYY}, {YY}, {MM}, {FY}, {BRANCH}, {LOB}, {SEQ}; delivered as POL-2026-00001.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Reset:  </a:t>
            </a:r>
            <a:r>
              <a:rPr sz="1500">
                <a:solidFill>
                  <a:srgbClr val="1F2937"/>
                </a:solidFill>
                <a:latin typeface="Calibri"/>
              </a:rPr>
              <a:t>every calendar year, fiscal year, month or never.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Go-live:  </a:t>
            </a:r>
            <a:r>
              <a:rPr sz="1500">
                <a:solidFill>
                  <a:srgbClr val="1F2937"/>
                </a:solidFill>
                <a:latin typeface="Calibri"/>
              </a:rPr>
              <a:t>Set next number continues the old system’s series. The OR series must match the Authority to Print.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Commission Rate Matrix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Finance &gt; Commission Rate Matrix.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Finance &gt; Commission Rate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Holds:  </a:t>
            </a:r>
            <a:r>
              <a:rPr sz="1500">
                <a:solidFill>
                  <a:srgbClr val="1F2937"/>
                </a:solidFill>
                <a:latin typeface="Calibri"/>
              </a:rPr>
              <a:t>the brokerage the broker earns by insurer, product, line and policy type, with effective dates.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Order:  </a:t>
            </a:r>
            <a:r>
              <a:rPr sz="1500">
                <a:solidFill>
                  <a:srgbClr val="1F2937"/>
                </a:solidFill>
                <a:latin typeface="Calibri"/>
              </a:rPr>
              <a:t>most specific rate first, then the insurer’s default rate, then commission.default_rate (15%).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Test rate:  </a:t>
            </a:r>
            <a:r>
              <a:rPr sz="1500">
                <a:solidFill>
                  <a:srgbClr val="1F2937"/>
                </a:solidFill>
                <a:latin typeface="Calibri"/>
              </a:rPr>
              <a:t>shows the rate a placement would get and where it came from.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Not the same as:  </a:t>
            </a:r>
            <a:r>
              <a:rPr sz="1500">
                <a:solidFill>
                  <a:srgbClr val="1F2937"/>
                </a:solidFill>
                <a:latin typeface="Calibri"/>
              </a:rPr>
              <a:t>Master &gt; Generals &gt; Commission, which holds the sharing with referrers.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Posting rules: from operations to the ledger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384697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311545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Finance &gt; Posting Rules, Policy issued (broker billed).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Finance &gt; Posting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Events:  </a:t>
            </a:r>
            <a:r>
              <a:rPr sz="1500">
                <a:solidFill>
                  <a:srgbClr val="1F2937"/>
                </a:solidFill>
                <a:latin typeface="Calibri"/>
              </a:rPr>
              <a:t>policy issued, endorsement, renewal, cancellation, receipt, comsub, voucher, remittance, claim funds, cessions and more.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Each line:  </a:t>
            </a:r>
            <a:r>
              <a:rPr sz="1500">
                <a:solidFill>
                  <a:srgbClr val="1F2937"/>
                </a:solidFill>
                <a:latin typeface="Calibri"/>
              </a:rPr>
              <a:t>debit or credit, account role or GL account, amount, narration, split per co-insurer.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Simulate:  </a:t>
            </a:r>
            <a:r>
              <a:rPr sz="1500">
                <a:solidFill>
                  <a:srgbClr val="1F2937"/>
                </a:solidFill>
                <a:latin typeface="Calibri"/>
              </a:rPr>
              <a:t>builds the journal with sample amounts, including a co-insured sample, and checks it balances.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Change:  </a:t>
            </a:r>
            <a:r>
              <a:rPr sz="1500">
                <a:solidFill>
                  <a:srgbClr val="1F2937"/>
                </a:solidFill>
                <a:latin typeface="Calibri"/>
              </a:rPr>
              <a:t>New version from a date, only with the Accounting Manager. Older journals keep the old version.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8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Account determination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Finance &gt; Account Determination.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Finance &gt; Account Determination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Account roles:  </a:t>
            </a:r>
            <a:r>
              <a:rPr sz="1500">
                <a:solidFill>
                  <a:srgbClr val="1F2937"/>
                </a:solidFill>
                <a:latin typeface="Calibri"/>
              </a:rPr>
              <a:t>the GL account behind each role, e.g. brokerage income 3201001, premium payable 2201001.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Payee and payment mode:  </a:t>
            </a:r>
            <a:r>
              <a:rPr sz="1500">
                <a:solidFill>
                  <a:srgbClr val="1F2937"/>
                </a:solidFill>
                <a:latin typeface="Calibri"/>
              </a:rPr>
              <a:t>payable account per payee type and cash account per payment mode.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Write-off reasons:  </a:t>
            </a:r>
            <a:r>
              <a:rPr sz="1500">
                <a:solidFill>
                  <a:srgbClr val="1F2937"/>
                </a:solidFill>
                <a:latin typeface="Calibri"/>
              </a:rPr>
              <a:t>code, GL account and maximum amount for Open Entry Matching.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Effect:  </a:t>
            </a:r>
            <a:r>
              <a:rPr sz="1500">
                <a:solidFill>
                  <a:srgbClr val="1F2937"/>
                </a:solidFill>
                <a:latin typeface="Calibri"/>
              </a:rPr>
              <a:t>applies to postings from the moment you save.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9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Configuration: placement journey and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Configuration, Placement tab.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Tabs:  </a:t>
            </a:r>
            <a:r>
              <a:rPr sz="1500">
                <a:solidFill>
                  <a:srgbClr val="1F2937"/>
                </a:solidFill>
                <a:latin typeface="Calibri"/>
              </a:rPr>
              <a:t>Accounting, BIR, Claims, Collections, Commission, Direct bill, Placement, Quotations, Renewals, Security, Taxes and more.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placement.journey:  </a:t>
            </a:r>
            <a:r>
              <a:rPr sz="1500">
                <a:solidFill>
                  <a:srgbClr val="1F2937"/>
                </a:solidFill>
                <a:latin typeface="Calibri"/>
              </a:rPr>
              <a:t>which steps each line must, may or does not use (fire and IAR require a Placement Slip).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Security:  </a:t>
            </a:r>
            <a:r>
              <a:rPr sz="1500">
                <a:solidFill>
                  <a:srgbClr val="1F2937"/>
                </a:solidFill>
                <a:latin typeface="Calibri"/>
              </a:rPr>
              <a:t>password rules, lockout, 2FA roles (none required when delivered; recommended for admin and accounting).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Audit:  </a:t>
            </a:r>
            <a:r>
              <a:rPr sz="1500">
                <a:solidFill>
                  <a:srgbClr val="1F2937"/>
                </a:solidFill>
                <a:latin typeface="Calibri"/>
              </a:rPr>
              <a:t>every change applies at once and is recorded with old and new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10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Schedules.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Jobs:  </a:t>
            </a:r>
            <a:r>
              <a:rPr sz="1500">
                <a:solidFill>
                  <a:srgbClr val="1F2937"/>
                </a:solidFill>
                <a:latin typeface="Calibri"/>
              </a:rPr>
              <a:t>15 jobs in Manila time. Six accounting jobs are delivered switched off.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Run now:  </a:t>
            </a:r>
            <a:r>
              <a:rPr sz="1500">
                <a:solidFill>
                  <a:srgbClr val="1F2937"/>
                </a:solidFill>
                <a:latin typeface="Calibri"/>
              </a:rPr>
              <a:t>runs a job at once and shows the result, for example Updated: 5.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Pencil:  </a:t>
            </a:r>
            <a:r>
              <a:rPr sz="1500">
                <a:solidFill>
                  <a:srgbClr val="1F2937"/>
                </a:solidFill>
                <a:latin typeface="Calibri"/>
              </a:rPr>
              <a:t>change the timetable, the job parameters, or switch it on or off.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History:  </a:t>
            </a:r>
            <a:r>
              <a:rPr sz="1500">
                <a:solidFill>
                  <a:srgbClr val="1F2937"/>
                </a:solidFill>
                <a:latin typeface="Calibri"/>
              </a:rPr>
              <a:t>past runs with results. With several servers each run happens once.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11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Audit trail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Audit Trail.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Contents:  </a:t>
            </a:r>
            <a:r>
              <a:rPr sz="1500">
                <a:solidFill>
                  <a:srgbClr val="1F2937"/>
                </a:solidFill>
                <a:latin typeface="Calibri"/>
              </a:rPr>
              <a:t>every create, update, approval, report run and sign-in, newest first.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Search:  </a:t>
            </a:r>
            <a:r>
              <a:rPr sz="1500">
                <a:solidFill>
                  <a:srgbClr val="1F2937"/>
                </a:solidFill>
                <a:latin typeface="Calibri"/>
              </a:rPr>
              <a:t>record type (session, policy, receipt, placement, period-close-run), record ID, user, dates.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Use:  </a:t>
            </a:r>
            <a:r>
              <a:rPr sz="1500">
                <a:solidFill>
                  <a:srgbClr val="1F2937"/>
                </a:solidFill>
                <a:latin typeface="Calibri"/>
              </a:rPr>
              <a:t>investigations, access reviews, proof that maker and checker were different people.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Kept:  </a:t>
            </a:r>
            <a:r>
              <a:rPr sz="1500">
                <a:solidFill>
                  <a:srgbClr val="1F2937"/>
                </a:solidFill>
                <a:latin typeface="Calibri"/>
              </a:rPr>
              <a:t>for good (housekeeping.audit_log_days is 0).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12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Master uploads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Location &gt; City Master, Upload.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Upload button on each 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Template:  </a:t>
            </a:r>
            <a:r>
              <a:rPr sz="1500">
                <a:solidFill>
                  <a:srgbClr val="1F2937"/>
                </a:solidFill>
                <a:latin typeface="Calibri"/>
              </a:rPr>
              <a:t>Download template gives a Data sheet with sample rows, a Columns sheet and Instructions.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Result:  </a:t>
            </a:r>
            <a:r>
              <a:rPr sz="1500">
                <a:solidFill>
                  <a:srgbClr val="1F2937"/>
                </a:solidFill>
                <a:latin typeface="Calibri"/>
              </a:rPr>
              <a:t>rows created or updated, and each failed row with its problem.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Existing code:  </a:t>
            </a:r>
            <a:r>
              <a:rPr sz="1500">
                <a:solidFill>
                  <a:srgbClr val="1F2937"/>
                </a:solidFill>
                <a:latin typeface="Calibri"/>
              </a:rPr>
              <a:t>an upload with an existing code updates the record.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Templates:  </a:t>
            </a:r>
            <a:r>
              <a:rPr sz="1500">
                <a:solidFill>
                  <a:srgbClr val="1F2937"/>
                </a:solidFill>
                <a:latin typeface="Calibri"/>
              </a:rPr>
              <a:t>also delivered in docs/templates.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BACKEND/DOCS/API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API and Postman collection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681478" cy="1234440"/>
          </a:xfrm>
          <a:prstGeom prst="roundRect">
            <a:avLst>
              <a:gd name="adj" fmla="val 4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89888"/>
            <a:ext cx="231571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0B4F9C"/>
                </a:solidFill>
                <a:latin typeface="Calibri"/>
              </a:rPr>
              <a:t>717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31571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endpoints (GET 331, POST 277, PUT 74, DELETE 28, PATCH 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1558" y="1325880"/>
            <a:ext cx="2681478" cy="1234440"/>
          </a:xfrm>
          <a:prstGeom prst="roundRect">
            <a:avLst>
              <a:gd name="adj" fmla="val 4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4438" y="1389888"/>
            <a:ext cx="231571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0B4F9C"/>
                </a:solidFill>
                <a:latin typeface="Calibri"/>
              </a:rPr>
              <a:t>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4438" y="2011680"/>
            <a:ext cx="231571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folders in the Postman collection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5916" y="1325880"/>
            <a:ext cx="2681478" cy="1234440"/>
          </a:xfrm>
          <a:prstGeom prst="roundRect">
            <a:avLst>
              <a:gd name="adj" fmla="val 4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8796" y="1389888"/>
            <a:ext cx="231571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0B4F9C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2011680"/>
            <a:ext cx="231571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OpenAPI file, generated from the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0274" y="1325880"/>
            <a:ext cx="2681478" cy="1234440"/>
          </a:xfrm>
          <a:prstGeom prst="roundRect">
            <a:avLst>
              <a:gd name="adj" fmla="val 4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3154" y="1389888"/>
            <a:ext cx="231571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0B4F9C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3154" y="2011680"/>
            <a:ext cx="231571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touchpoints workbook: endpoint, screen, permission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5532120" cy="34290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529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0B4F9C"/>
                </a:solidFill>
                <a:latin typeface="Calibri"/>
              </a:rPr>
              <a:t>What you 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18688"/>
            <a:ext cx="5120640" cy="29260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BrokerVerse.postman_collection.json and its environment (set the base URL and token)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openapi.json with every path and its examples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BrokerVerse_API_Touchpoints.xlsx / .csv: endpoint, the screen that calls it, permission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Generated from the code, so it matches what is deployed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743200"/>
            <a:ext cx="5532120" cy="34290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28529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0B4F9C"/>
                </a:solidFill>
                <a:latin typeface="Calibri"/>
              </a:rPr>
              <a:t>How to use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218688"/>
            <a:ext cx="5120640" cy="29260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POST /api/auth/login returns an access token; send it as Authorization: Bearer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Every endpoint checks read:, write: or approve: permissions; a wrong role gets 403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Masters without an Upload button are loaded through the route on their template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Share the collection with integration partners, never a password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BEFORE THE FIRST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Go-live set-up: your part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1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3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3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Company, letterhead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411" y="1755648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0883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4035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4035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Users and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5747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5363" y="1755648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988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988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Insurers, credit terms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699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7316" y="1755648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4788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7940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Master uploads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9651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59268" y="1755648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6740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89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892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Document numbering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1604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1219" y="1755648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8692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1844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844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Commission 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3556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712196" y="2532888"/>
            <a:ext cx="274320" cy="237744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8692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1844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Posting 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3556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 + Acct. Manager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9761219" y="3310128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06740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892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9892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1604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7859268" y="3310128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7940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7940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Schedules, e-mail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9651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5957316" y="3310128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02836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5988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5988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Opening balances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57699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4055363" y="3310128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00883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74035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74035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Open items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55747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62" name="Left Arrow 61"/>
          <p:cNvSpPr/>
          <p:nvPr/>
        </p:nvSpPr>
        <p:spPr>
          <a:xfrm>
            <a:off x="2153411" y="3310128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98931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2083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083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Go-live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5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Everyone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" y="4206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01168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3172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420624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After go-live: users, rates and settings as the business changes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57200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" y="4709160"/>
            <a:ext cx="534924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Set the SMTP mailbox (Office 365) and switch on e-mail before go-live.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Match the official receipt series to the BIR Authority to Print.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72200" y="4709160"/>
            <a:ext cx="539496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Agree GL accounts, posting rules and maker-checker switches with the Accounting Manager.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Decide which roles must use two-factor authentication (security.require_2fa_roles).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ALL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 (39)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82844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82844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0483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0483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158" y="1216152"/>
            <a:ext cx="5209336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Every report in the catalogue.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737360"/>
            <a:ext cx="2695194" cy="2301849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1737360"/>
            <a:ext cx="2695194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737360"/>
            <a:ext cx="2475737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Production and 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139696"/>
            <a:ext cx="2530601" cy="184464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Production Register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Premium by Product / Month / Insurer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New Business vs Renewals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Lead Conversion Funnel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Placement Pipeline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Market Response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Co-insurance Register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Reinsurance Cession Register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6986" y="1737360"/>
            <a:ext cx="2695194" cy="2301849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16986" y="1737360"/>
            <a:ext cx="2695194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6714" y="1737360"/>
            <a:ext cx="2475737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Claims and renewals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8426" y="2139696"/>
            <a:ext cx="2530601" cy="184464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Claims Position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Claims Ageing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Renewal Retention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6772" y="1737360"/>
            <a:ext cx="2695194" cy="2301849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6772" y="1737360"/>
            <a:ext cx="2695194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6500" y="1737360"/>
            <a:ext cx="2475737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Insurers and commission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8212" y="2139696"/>
            <a:ext cx="2530601" cy="184464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Remittance Summary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Broker Commission Statement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Commission Receivable (Direct Bill)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Due to Insurers by Co-insurer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Aged Payables to Insurers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Incentive Results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36558" y="1737360"/>
            <a:ext cx="2695194" cy="2301849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36558" y="1737360"/>
            <a:ext cx="2695194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6286" y="1737360"/>
            <a:ext cx="2475737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Receivables and cash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7998" y="2139696"/>
            <a:ext cx="2530601" cy="184464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SOA / Premium Receivable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Receivables Ageing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Collection Report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Receipts Register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Payables / Disbursement Register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203801"/>
            <a:ext cx="2695194" cy="201411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4203801"/>
            <a:ext cx="2695194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203801"/>
            <a:ext cx="2475737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Ledger and period 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606137"/>
            <a:ext cx="2530601" cy="155691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Journal Register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Trial Balance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Trial Balance (Opening / Movement / Closing)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General Ledger Detail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Income Statement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Balance Sheet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Month-End Close Status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16986" y="4203801"/>
            <a:ext cx="2695194" cy="201411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316986" y="4203801"/>
            <a:ext cx="2695194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6714" y="4203801"/>
            <a:ext cx="2475737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BIR tax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08426" y="4606137"/>
            <a:ext cx="2530601" cy="155691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VAT Summary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SAWT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QAP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SLSP Sales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SLSP Purchases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6772" y="4203801"/>
            <a:ext cx="2695194" cy="201411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76772" y="4203801"/>
            <a:ext cx="2695194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6500" y="4203801"/>
            <a:ext cx="2475737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Bank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8212" y="4606137"/>
            <a:ext cx="2530601" cy="155691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Bank Reconciliation Statement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Outstanding Cheques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Deposits in Transit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Unmatched Bank Lines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Bank Book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Policy expiry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00:15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past expiry become Expired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Quotation expiry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00:30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Quotations past validity (30 days) expire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Housekeeping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02:45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Old tokens, job runs, read notices and sent e-mails deleted; audit trail kept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Daily reports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05:00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Production Register, Collection Report and Claims Position each morning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Renewal pipeline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05:30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within 90 days enrolled; lapse after 30 days grace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E-mail outbox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Every 5 minutes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Queued e-mails sent through the configured mailbox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Bank reconciliation auto-match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05:45 (off when delivered)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Switch on when Accounting asks; same for the other accounting jobs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6928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Manila time (general.timezone). The System Administrator changes a timetable, switches a job on or off, or runs it now; every run is recorded.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Treaty awaiting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 new reinsurance treaty needs a second user (reinsurance.treaty_requires_approval).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Approvals of every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The role holds every permission, so it can receive approval requests addressed to a permission.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Reminder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Premium overdue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Collection reminders for policies you own.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Settlement cash on Accounting’s instruction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Record funds received and payment to claimant on the claim screen.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E-mail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Outbox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Customer e-mails wait in the outbox until the mailbox is set and e-mail is switched 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1636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6227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6227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7515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Master uploads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7515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Each upload reports created, updated and failed rows.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Sign-in and request limits are counted per application server; with several servers, add a limit at the load balancer.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Some database queries use the database’s own date: the database time zone must be Asia/Manila.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Several masters have no Upload button yet (Company, Branch, Line of Business, Product, Cover, Signatories, Commission and others): load their templates through the API route on the template.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The Settlement cash panel of a claim paid through the broker sits on the claim screens, which are not in the Accounting menu: the System Administrator records the funds received and the payment to the claimant on Accounting’s instruction.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The Company master list opens with one empty row: type in the search box to list the companies.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Two-factor set-up shows a setup key and an app link but no QR code: type the key into the authenticator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Keep this role for administration; do business work with a business role.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Give each person one role, and this role to as few people as possible.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Simulate a posting rule before you save a new version.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Use Run now after changing a job’s settings, then read its history.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Review the audit trail for sign-ins and approvals every week.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guide for System Administrator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416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First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key user of your team: how-to questions, checking that a role or setting is not the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7258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Second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67258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Administrator: users, roles, passwords, two-step resets, settings and master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0176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Third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00176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iorta TechNXT production support, raised by the System Administrator through the support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3095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3095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You: Master &gt; Generals &gt; User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78424"/>
            <a:ext cx="1024128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BFD9F5"/>
                </a:solidFill>
                <a:latin typeface="Calibri"/>
              </a:rPr>
              <a:t>When you report a problem, give the menu path, the record number, the time, your user ID, the message and its request ID. Never send a password or a two-step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 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