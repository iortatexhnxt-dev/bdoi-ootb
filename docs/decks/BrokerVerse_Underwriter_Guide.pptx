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257935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31720"/>
            <a:ext cx="7223760" cy="13716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3800" b="1" i="0">
                <a:solidFill>
                  <a:srgbClr val="0B4F9C"/>
                </a:solidFill>
                <a:latin typeface="Calibri"/>
              </a:rPr>
              <a:t>BrokerVerse — Underwriter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Out-of-the-box functions, flows, reports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</a:rPr>
              <a:t>BrokerVerse OOTB · insurance broking · Philippines · 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427561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427561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Quote approval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96241" y="4983480"/>
            <a:ext cx="1584472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96241" y="4983480"/>
            <a:ext cx="158447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Rules and rating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17873" y="4983480"/>
            <a:ext cx="1192194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17873" y="4983480"/>
            <a:ext cx="1192194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Reinsurance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82296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097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BFD9F5"/>
                </a:solidFill>
                <a:latin typeface="Calibri"/>
              </a:rPr>
              <a:t>THIS GUIDE IS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41732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Underwriter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1460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77063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jose.uw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5204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ROLE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7647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underwriting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262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LANDS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8231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Executive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Prepared by iorta TechNXT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WHO YOU ARE IN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 at a glance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6751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B4F9C"/>
                </a:solidFill>
                <a:latin typeface="Calibri"/>
              </a:rPr>
              <a:t>What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621792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Approves risk:  </a:t>
            </a:r>
            <a:r>
              <a:rPr sz="1600">
                <a:solidFill>
                  <a:srgbClr val="1F2937"/>
                </a:solidFill>
                <a:latin typeface="Calibri"/>
              </a:rPr>
              <a:t>reviews quotations sent for approval and referred cases.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Maintains rules:  </a:t>
            </a:r>
            <a:r>
              <a:rPr sz="1600">
                <a:solidFill>
                  <a:srgbClr val="1F2937"/>
                </a:solidFill>
                <a:latin typeface="Calibri"/>
              </a:rPr>
              <a:t>coverages, rating factors, underwriting rules, documents and workflows.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Renews:  </a:t>
            </a:r>
            <a:r>
              <a:rPr sz="1600">
                <a:solidFill>
                  <a:srgbClr val="1F2937"/>
                </a:solidFill>
                <a:latin typeface="Calibri"/>
              </a:rPr>
              <a:t>prices renewal quotations and works the renewal queue.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Reinsures:  </a:t>
            </a:r>
            <a:r>
              <a:rPr sz="1600">
                <a:solidFill>
                  <a:srgbClr val="1F2937"/>
                </a:solidFill>
                <a:latin typeface="Calibri"/>
              </a:rPr>
              <a:t>treaty dashboard, cession tracking, claims recovery, reconciliation.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25880"/>
            <a:ext cx="4325112" cy="146304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46303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Sign-in and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8308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name jose.uw. Lands on the Executive Dashboard; the Underwriting Dashboard is in the Dashboard menu.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88036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You hand work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33756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Sales and agents (approved quotes), client (acceptance), Finance (remittance of reinsurance), Claims (recoveries).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57200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91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Maker-checker partners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292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You are the checker for quotations (quotations.approval_notify_roles = underwriting) and a checker for renewals.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WHAT YOU SEE AFTER SIGN-IN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Menu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Menus and screens granted to this role (menuPermissions); anything else is hidden and blocked by the route guard and the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3636264" cy="275666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3435095" cy="2208022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Underwriting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Executive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6344" y="1645920"/>
            <a:ext cx="3636264" cy="275666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76344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3504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Product Configurator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6072" y="2121408"/>
            <a:ext cx="3435095" cy="2208022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Product Templates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Coverage Builder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Rating Engine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Underwriting Rules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Document Manager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Approval Workflows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Market / Risk Mapping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Product Analytics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645920"/>
            <a:ext cx="3636264" cy="275666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95488" y="1645920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2648" y="1645920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5215" y="2121408"/>
            <a:ext cx="3435095" cy="2208022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Home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Leads/Prospects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Clients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Quotation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Policy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Claims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Renewals: Renewal Policy, Batch, Queue, Retention Analytics, At-Risk, Negotiations, Lapse Mgmt, Performance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Open Items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Payments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85462"/>
            <a:ext cx="3636264" cy="163245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585462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585462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060950"/>
            <a:ext cx="3435095" cy="108381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Treaty Dashboard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Cession Tracking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Claims Recovery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Reconciliation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Analytics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6344" y="4585462"/>
            <a:ext cx="3636264" cy="163245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76344" y="4585462"/>
            <a:ext cx="3636264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3504" y="4585462"/>
            <a:ext cx="33619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6072" y="5060950"/>
            <a:ext cx="3435095" cy="1083818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All Reports (10 reports)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100">
                <a:solidFill>
                  <a:srgbClr val="1F2937"/>
                </a:solidFill>
                <a:latin typeface="Calibri"/>
              </a:rPr>
              <a:t>Operational Reports: Production, Claims, Renewal, Remittance, Broker Commission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Underwriting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Dashboard &gt; Underwriting Dashboard — signed in as jose.uw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Dashboard &gt; Underwriting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submissions waiting, referred cases, average turnaround and open alerts.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Workload:  </a:t>
            </a:r>
            <a:r>
              <a:rPr sz="1500">
                <a:solidFill>
                  <a:srgbClr val="1F2937"/>
                </a:solidFill>
                <a:latin typeface="Calibri"/>
              </a:rPr>
              <a:t>assignment groups and workload by underwriter.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Action:  </a:t>
            </a:r>
            <a:r>
              <a:rPr sz="1500">
                <a:solidFill>
                  <a:srgbClr val="1F2937"/>
                </a:solidFill>
                <a:latin typeface="Calibri"/>
              </a:rPr>
              <a:t>New Submission and drill-down into each case.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Quotation approval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Quotation — signed in as jose.uw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Quotation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quotes by status: draft, sent for approval, approved, converted, expired.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Notified:  </a:t>
            </a:r>
            <a:r>
              <a:rPr sz="1500">
                <a:solidFill>
                  <a:srgbClr val="1F2937"/>
                </a:solidFill>
                <a:latin typeface="Calibri"/>
              </a:rPr>
              <a:t>“Quotation sent for approval” with client and gross premium.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Checks:  </a:t>
            </a:r>
            <a:r>
              <a:rPr sz="1500">
                <a:solidFill>
                  <a:srgbClr val="1F2937"/>
                </a:solidFill>
                <a:latin typeface="Calibri"/>
              </a:rPr>
              <a:t>risk, sum insured, rating and taxes (server-priced).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approval lets the maker convert; the client accepts by e-mail.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Underwriting rules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Product Configurator &gt; Underwriting Rules — signed in as jose.uw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Product Configurator &gt; Underwriting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acceptance, validation and loading rules per product.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Effect:  </a:t>
            </a:r>
            <a:r>
              <a:rPr sz="1500">
                <a:solidFill>
                  <a:srgbClr val="1F2937"/>
                </a:solidFill>
                <a:latin typeface="Calibri"/>
              </a:rPr>
              <a:t>rules refer, decline or load a quote automatically.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Change:  </a:t>
            </a:r>
            <a:r>
              <a:rPr sz="1500">
                <a:solidFill>
                  <a:srgbClr val="1F2937"/>
                </a:solidFill>
                <a:latin typeface="Calibri"/>
              </a:rPr>
              <a:t>Add Rule; publishing follows the approval workflow.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Rating engine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Product Configurator &gt; Rating Engine — signed in as jose.uw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Product Configurator &gt; Rating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rating factors with multipliers and discounts.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Test Calculation:  </a:t>
            </a:r>
            <a:r>
              <a:rPr sz="1500">
                <a:solidFill>
                  <a:srgbClr val="1F2937"/>
                </a:solidFill>
                <a:latin typeface="Calibri"/>
              </a:rPr>
              <a:t>try a premium before activating.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server-side pricing of every new and renewal quote.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Coverage builder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Product Configurator &gt; Coverage Builder — signed in as jose.uw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Product Configurator &gt; Coverage 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coverages (own damage, theft, CTPL, acts of nature, AOG, PA…) with type and deductible.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Types:  </a:t>
            </a:r>
            <a:r>
              <a:rPr sz="1500">
                <a:solidFill>
                  <a:srgbClr val="1F2937"/>
                </a:solidFill>
                <a:latin typeface="Calibri"/>
              </a:rPr>
              <a:t>mandatory or optional; premium impact per coverage.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what the quote and endorsement coverage pages offer.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Renewal queue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Renewals &gt; Renewal Queue — signed in as jose.uw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Renewals &gt; Renewal 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policies due, days to expiry, risk level, premium and agent.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Rules:  </a:t>
            </a:r>
            <a:r>
              <a:rPr sz="1500">
                <a:solidFill>
                  <a:srgbClr val="1F2937"/>
                </a:solidFill>
                <a:latin typeface="Calibri"/>
              </a:rPr>
              <a:t>renewal maker-checker; notices in order (first, second, final).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Lapse:  </a:t>
            </a:r>
            <a:r>
              <a:rPr sz="1500">
                <a:solidFill>
                  <a:srgbClr val="1F2937"/>
                </a:solidFill>
                <a:latin typeface="Calibri"/>
              </a:rPr>
              <a:t>30 days after expiry without renewal.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Renewal pricing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Row actions on an expired policy: Claim, Renewal, Reminder — signed in as jose.uw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Renewals &gt; Renewal Policy &gt; … &gt; Renewal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renewal quote priced from the expiring policy; own damage rate from the motor tariff.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Taxes:  </a:t>
            </a:r>
            <a:r>
              <a:rPr sz="1500">
                <a:solidFill>
                  <a:srgbClr val="1F2937"/>
                </a:solidFill>
                <a:latin typeface="Calibri"/>
              </a:rPr>
              <a:t>VAT 12%, DST 12.5%, LGT 0.75%; discount 0-30% comes out of brokerage.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Commission:  </a:t>
            </a:r>
            <a:r>
              <a:rPr sz="1500">
                <a:solidFill>
                  <a:srgbClr val="1F2937"/>
                </a:solidFill>
                <a:latin typeface="Calibri"/>
              </a:rPr>
              <a:t>brokerage, comsub, discount and margin shown before sending.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accepted renewal becomes the new policy term.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Cession tracking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Reinsurance &gt; Cession Tracking — signed in as jose.uw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Reinsurance &gt; Cession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policies ceded per treaty: ceded sum, ceded premium, commission earned.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Actions:  </a:t>
            </a:r>
            <a:r>
              <a:rPr sz="1500">
                <a:solidFill>
                  <a:srgbClr val="1F2937"/>
                </a:solidFill>
                <a:latin typeface="Calibri"/>
              </a:rPr>
              <a:t>Process Cession, Generate Bordereaux.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Downstream:  </a:t>
            </a:r>
            <a:r>
              <a:rPr sz="1500">
                <a:solidFill>
                  <a:srgbClr val="1F2937"/>
                </a:solidFill>
                <a:latin typeface="Calibri"/>
              </a:rPr>
              <a:t>Reinsurance Cession Register report and reconciliation.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LEAD TO RENEWAL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End-to-end flow: your part of the 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1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3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3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3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Agent / Sales / 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53411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00883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4035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4035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Quote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4035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5363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2836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988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988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Customer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988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Client (e-mail link)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7316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4788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Agent / Sales / UW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59268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06740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892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892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9892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System at issuance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61219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08692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1844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1844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Receipt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1844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712196" y="2551176"/>
            <a:ext cx="274320" cy="402335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8692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1844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1844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Commission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1844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2" name="Left Arrow 41"/>
          <p:cNvSpPr/>
          <p:nvPr/>
        </p:nvSpPr>
        <p:spPr>
          <a:xfrm>
            <a:off x="9761219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06740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9892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892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Remittance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9892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7859268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04788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7940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7940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Endorsement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7940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Customer Services</a:t>
            </a:r>
          </a:p>
        </p:txBody>
      </p:sp>
      <p:sp>
        <p:nvSpPr>
          <p:cNvPr id="52" name="Left Arrow 51"/>
          <p:cNvSpPr/>
          <p:nvPr/>
        </p:nvSpPr>
        <p:spPr>
          <a:xfrm>
            <a:off x="5957316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2836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5988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5988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Claim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5988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Claims maker + checker</a:t>
            </a:r>
          </a:p>
        </p:txBody>
      </p:sp>
      <p:sp>
        <p:nvSpPr>
          <p:cNvPr id="57" name="Left Arrow 56"/>
          <p:cNvSpPr/>
          <p:nvPr/>
        </p:nvSpPr>
        <p:spPr>
          <a:xfrm>
            <a:off x="4055363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00883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74035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74035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Renewal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4035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UW / Sales + schedules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Your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1168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31720" y="4315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Done by other personas or by the system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431596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100" b="0" i="1">
                <a:solidFill>
                  <a:srgbClr val="5B6778"/>
                </a:solidFill>
                <a:latin typeface="Calibri"/>
              </a:rPr>
              <a:t>Renewal pricing feeds the next cycle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709160"/>
            <a:ext cx="11274552" cy="150876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4846320"/>
            <a:ext cx="534924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2 Quote: approve quotes sent for approval.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4 Policy: rules and rating behind every policy.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72200" y="4846320"/>
            <a:ext cx="539496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11 Renewal: price and approve renewals.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Reinsurance: cessions and recoveries on large risks.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ALL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 you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1615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5B6778"/>
                </a:solidFill>
                <a:latin typeface="Calibri"/>
              </a:rPr>
              <a:t>Output formats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216152"/>
            <a:ext cx="614476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216152"/>
            <a:ext cx="6144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0516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20516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PDF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0596" y="1216152"/>
            <a:ext cx="971092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0596" y="1216152"/>
            <a:ext cx="97109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On screen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23129" y="1216152"/>
            <a:ext cx="1470355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3129" y="1216152"/>
            <a:ext cx="14703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Scheduled e-mail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804" y="1216152"/>
            <a:ext cx="506669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Ten reports in Reports &gt; All Reports.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1783080"/>
          <a:ext cx="11274550" cy="411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238"/>
                <a:gridCol w="6049759"/>
                <a:gridCol w="2841553"/>
              </a:tblGrid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Production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Policies incepted in the period: premium, commission, new or renewal; by agent, insurer or branch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All Reports; Operational &gt; Production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Claims Position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Claims reported: estimate, approved, settled, age; criteria All / Open / Settled / Rejected / Aging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All Reports; Operational &gt; Claims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Renewal Retention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Renewals due: retained, lost or pending, old vs new premium, retention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All Reports; Operational &gt; Renewal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Remittance Summary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Remittances to insurers: gross premium, commission retained, net due, 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All Reports; Operational &gt; Remittance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Broker Commission Statement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Commission per agent and policy: basis, rate, gross, WHT, net, paid status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All Reports; Operational &gt; Broker Commission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Premium by Product / Month /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Policy count, sum insured, premium and commission by month, product or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All Reports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New Business vs Renewals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Policies and premium split into new business and renewals per month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All Reports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Claims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Open claims by ageing bucket (30/60/90/180 days) with estimate and approved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All Reports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Lead Conversion Funnel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Leads by stage (new to converted / lost) with share and conversion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All Reports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Reinsurance Cession 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Cessions per treaty and policy: sum insured, ceded sum and premium, share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All Reports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 and automations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745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2016586"/>
                <a:gridCol w="70580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Quotation expiry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00:30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Unapproved quotes expire after the validity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Renewal pipeline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05:30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Policies 90 days from expiry reach your queue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Renewal notices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06:00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Notices at 60 / 30 / 15 days, in order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Policy expiry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00:15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Expired policies drop out of in-force figures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Daily reports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05:00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Production register each morning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Times are server time (Philippine time in production). The IT administrator can change a timetable, switch a job off or press Run now; every run is recorded.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BELL ICON, TOP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Notifications and approvals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Quotation sent for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Client, quote number and gross premium.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Renewal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 renewal awaits your decision.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6227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6227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7515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Renewal approved / returned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7515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Sent to the maker with your note.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96227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6227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7515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Treaty awaiting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5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When treaty approval is switched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Underwriter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GOOD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Known limitations and tips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Open items that affect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Your session is kept in the browser’s local storage: sign out on shared computers and keep the browser up to date.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Two-factor set-up shows a setup key and an app link, but no QR code: type the key into the authenticator app.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Screens are in English or Thai; Filipino is configured but has no translation yet.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Treaties are added by administrators (Master &gt; Reinsurance Treaty); Add Treaty is shown only to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43A047"/>
                </a:solidFill>
                <a:latin typeface="Calibri"/>
              </a:rPr>
              <a:t>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Use Test Calculation after every rating change.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Keep quotes moving: they expire overnight.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Review at-risk renewals weekly with Sales.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310279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BFD9F5"/>
                </a:solidFill>
                <a:latin typeface="Calibri"/>
              </a:rPr>
              <a:t>BrokerVerse — Underwriter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10698480" cy="1874519"/>
          </a:xfrm>
          <a:prstGeom prst="roundRect">
            <a:avLst>
              <a:gd name="adj" fmla="val 6000"/>
            </a:avLst>
          </a:prstGeom>
          <a:solidFill>
            <a:srgbClr val="0E5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9FC8F2"/>
                </a:solidFill>
                <a:latin typeface="Calibri"/>
              </a:rP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617720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&lt;service desk to be confirmed&gt;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4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46904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&lt;support mailbox to be confirmed&gt;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76088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76088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&lt;business hours, Manila time, to be confirmed&gt;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05272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605272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Your User Access Administrator (Master &gt; User Management)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BFD9F5"/>
                </a:solidFill>
                <a:latin typeface="Calibri"/>
              </a:rPr>
              <a:t>iorta TechNXT · BrokerVerse insurance-broking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