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822960"/>
            <a:ext cx="3257935" cy="960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2331720"/>
            <a:ext cx="7223760" cy="137160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/>
            <a:r>
              <a:rPr sz="3800" b="1" i="0">
                <a:solidFill>
                  <a:srgbClr val="0B4F9C"/>
                </a:solidFill>
                <a:latin typeface="Calibri"/>
              </a:rPr>
              <a:t>BrokerVerse — Underwriter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794760"/>
            <a:ext cx="722376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000" b="0" i="0">
                <a:solidFill>
                  <a:srgbClr val="1F2937"/>
                </a:solidFill>
                <a:latin typeface="Calibri"/>
              </a:rPr>
              <a:t>Out-of-the-box functions, flows, reports and schedules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43400"/>
            <a:ext cx="72237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5B6778"/>
                </a:solidFill>
                <a:latin typeface="Calibri"/>
              </a:rPr>
              <a:t>BDO Insure (BDOI) insurance broking · Philippines · PHP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983480"/>
            <a:ext cx="1427561" cy="292608"/>
          </a:xfrm>
          <a:prstGeom prst="roundRect">
            <a:avLst>
              <a:gd name="adj" fmla="val 50000"/>
            </a:avLst>
          </a:prstGeom>
          <a:solidFill>
            <a:srgbClr val="E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983480"/>
            <a:ext cx="1427561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100" b="1" i="0">
                <a:solidFill>
                  <a:srgbClr val="0B4F9C"/>
                </a:solidFill>
                <a:latin typeface="Calibri"/>
              </a:rPr>
              <a:t>Quote approval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96241" y="4983480"/>
            <a:ext cx="1584472" cy="292608"/>
          </a:xfrm>
          <a:prstGeom prst="roundRect">
            <a:avLst>
              <a:gd name="adj" fmla="val 50000"/>
            </a:avLst>
          </a:prstGeom>
          <a:solidFill>
            <a:srgbClr val="E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96241" y="4983480"/>
            <a:ext cx="1584472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100" b="1" i="0">
                <a:solidFill>
                  <a:srgbClr val="0B4F9C"/>
                </a:solidFill>
                <a:latin typeface="Calibri"/>
              </a:rPr>
              <a:t>Rules and rating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17873" y="4983480"/>
            <a:ext cx="1192194" cy="292608"/>
          </a:xfrm>
          <a:prstGeom prst="roundRect">
            <a:avLst>
              <a:gd name="adj" fmla="val 50000"/>
            </a:avLst>
          </a:prstGeom>
          <a:solidFill>
            <a:srgbClr val="E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17873" y="4983480"/>
            <a:ext cx="1192194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100" b="1" i="0">
                <a:solidFill>
                  <a:srgbClr val="0B4F9C"/>
                </a:solidFill>
                <a:latin typeface="Calibri"/>
              </a:rPr>
              <a:t>Reinsurance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0" y="822960"/>
            <a:ext cx="3108960" cy="5120640"/>
          </a:xfrm>
          <a:prstGeom prst="roundRect">
            <a:avLst>
              <a:gd name="adj" fmla="val 5000"/>
            </a:avLst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0" y="109728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BFD9F5"/>
                </a:solidFill>
                <a:latin typeface="Calibri"/>
              </a:rPr>
              <a:t>THIS GUIDE IS FOR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1417320"/>
            <a:ext cx="256032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Underwriter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2514600"/>
            <a:ext cx="256032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9FC8F2"/>
                </a:solidFill>
                <a:latin typeface="Calibri"/>
              </a:rPr>
              <a:t>SIGN-IN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2770632"/>
            <a:ext cx="256032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jose.uw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3520440"/>
            <a:ext cx="256032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9FC8F2"/>
                </a:solidFill>
                <a:latin typeface="Calibri"/>
              </a:rPr>
              <a:t>ROLE CODE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3776472"/>
            <a:ext cx="256032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underwriting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4526280"/>
            <a:ext cx="256032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9FC8F2"/>
                </a:solidFill>
                <a:latin typeface="Calibri"/>
              </a:rPr>
              <a:t>LANDS 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4782312"/>
            <a:ext cx="256032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Home (business overview dashboard)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2636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Prepared by iorta TechNXT ·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Underwriter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WHO YOU ARE IN BROKERVERSE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Role at a glance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25880"/>
            <a:ext cx="6675120" cy="4846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08760"/>
            <a:ext cx="621792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1" i="0">
                <a:solidFill>
                  <a:srgbClr val="0B4F9C"/>
                </a:solidFill>
                <a:latin typeface="Calibri"/>
              </a:rPr>
              <a:t>What you 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65960"/>
            <a:ext cx="6217920" cy="411480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1200"/>
              </a:spcAft>
              <a:buClr>
                <a:srgbClr val="1E88E5"/>
              </a:buClr>
              <a:buFont typeface="Arial"/>
              <a:buChar char="•"/>
            </a:pPr>
            <a:r>
              <a:rPr b="1" sz="1600">
                <a:solidFill>
                  <a:srgbClr val="0B4F9C"/>
                </a:solidFill>
                <a:latin typeface="Calibri"/>
              </a:rPr>
              <a:t>Approves risk:  </a:t>
            </a:r>
            <a:r>
              <a:rPr sz="1600">
                <a:solidFill>
                  <a:srgbClr val="1F2937"/>
                </a:solidFill>
                <a:latin typeface="Calibri"/>
              </a:rPr>
              <a:t>reviews quotations sent for approval and referred cases.</a:t>
            </a:r>
          </a:p>
          <a:p>
            <a:pPr marL="201168" indent="-182880">
              <a:spcAft>
                <a:spcPts val="1200"/>
              </a:spcAft>
              <a:buClr>
                <a:srgbClr val="1E88E5"/>
              </a:buClr>
              <a:buFont typeface="Arial"/>
              <a:buChar char="•"/>
            </a:pPr>
            <a:r>
              <a:rPr b="1" sz="1600">
                <a:solidFill>
                  <a:srgbClr val="0B4F9C"/>
                </a:solidFill>
                <a:latin typeface="Calibri"/>
              </a:rPr>
              <a:t>Maintains rules:  </a:t>
            </a:r>
            <a:r>
              <a:rPr sz="1600">
                <a:solidFill>
                  <a:srgbClr val="1F2937"/>
                </a:solidFill>
                <a:latin typeface="Calibri"/>
              </a:rPr>
              <a:t>coverages, rating factors, underwriting rules, documents and workflows.</a:t>
            </a:r>
          </a:p>
          <a:p>
            <a:pPr marL="201168" indent="-182880">
              <a:spcAft>
                <a:spcPts val="1200"/>
              </a:spcAft>
              <a:buClr>
                <a:srgbClr val="1E88E5"/>
              </a:buClr>
              <a:buFont typeface="Arial"/>
              <a:buChar char="•"/>
            </a:pPr>
            <a:r>
              <a:rPr b="1" sz="1600">
                <a:solidFill>
                  <a:srgbClr val="0B4F9C"/>
                </a:solidFill>
                <a:latin typeface="Calibri"/>
              </a:rPr>
              <a:t>Renews:  </a:t>
            </a:r>
            <a:r>
              <a:rPr sz="1600">
                <a:solidFill>
                  <a:srgbClr val="1F2937"/>
                </a:solidFill>
                <a:latin typeface="Calibri"/>
              </a:rPr>
              <a:t>prices renewal quotations and works the renewal queue.</a:t>
            </a:r>
          </a:p>
          <a:p>
            <a:pPr marL="201168" indent="-182880">
              <a:spcAft>
                <a:spcPts val="1200"/>
              </a:spcAft>
              <a:buClr>
                <a:srgbClr val="1E88E5"/>
              </a:buClr>
              <a:buFont typeface="Arial"/>
              <a:buChar char="•"/>
            </a:pPr>
            <a:r>
              <a:rPr b="1" sz="1600">
                <a:solidFill>
                  <a:srgbClr val="0B4F9C"/>
                </a:solidFill>
                <a:latin typeface="Calibri"/>
              </a:rPr>
              <a:t>Reinsures:  </a:t>
            </a:r>
            <a:r>
              <a:rPr sz="1600">
                <a:solidFill>
                  <a:srgbClr val="1F2937"/>
                </a:solidFill>
                <a:latin typeface="Calibri"/>
              </a:rPr>
              <a:t>treaty dashboard, cession tracking, claims recovery, reconciliation.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06640" y="1325880"/>
            <a:ext cx="4325112" cy="1463040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35240" y="1463039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1" i="0">
                <a:solidFill>
                  <a:srgbClr val="1E88E5"/>
                </a:solidFill>
                <a:latin typeface="Calibri"/>
              </a:rPr>
              <a:t>Sign-in and landing page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5240" y="1783080"/>
            <a:ext cx="393192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User name jose.uw. Lands on Home; the Underwriting Dashboard is in the Dashboard menu.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06640" y="2880360"/>
            <a:ext cx="4325112" cy="1600200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35240" y="3017520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1" i="0">
                <a:solidFill>
                  <a:srgbClr val="1E88E5"/>
                </a:solidFill>
                <a:latin typeface="Calibri"/>
              </a:rPr>
              <a:t>You hand work 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5240" y="3337560"/>
            <a:ext cx="3931920" cy="1051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Sales and agents (approved quotes), client (acceptance), Finance (remittance of reinsurance), Claims (recoveries).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06640" y="4572000"/>
            <a:ext cx="4325112" cy="1600200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35240" y="4709160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1" i="0">
                <a:solidFill>
                  <a:srgbClr val="1E88E5"/>
                </a:solidFill>
                <a:latin typeface="Calibri"/>
              </a:rPr>
              <a:t>Maker-checker partners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35240" y="5029200"/>
            <a:ext cx="3931920" cy="1051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You are the checker for quotations (quotations.approval_notify_roles = underwriting) and a checker for renewals.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Underwriter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WHAT YOU SEE AFTER SIGN-IN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Menu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1">
                <a:solidFill>
                  <a:srgbClr val="5B6778"/>
                </a:solidFill>
                <a:latin typeface="Calibri"/>
              </a:rPr>
              <a:t>Menus and screens granted to this role (menuPermissions); anything else is hidden and blocked by the route guard and the API.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45920"/>
            <a:ext cx="3636264" cy="2756662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1645920"/>
            <a:ext cx="3636264" cy="384048"/>
          </a:xfrm>
          <a:prstGeom prst="roundRect">
            <a:avLst>
              <a:gd name="adj" fmla="val 18000"/>
            </a:avLst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645920"/>
            <a:ext cx="3361944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121408"/>
            <a:ext cx="3435095" cy="2208022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00">
                <a:solidFill>
                  <a:srgbClr val="1F2937"/>
                </a:solidFill>
                <a:latin typeface="Calibri"/>
              </a:rPr>
              <a:t>Underwriting Dashboard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00">
                <a:solidFill>
                  <a:srgbClr val="1F2937"/>
                </a:solidFill>
                <a:latin typeface="Calibri"/>
              </a:rPr>
              <a:t>Executive Dashboard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76344" y="1645920"/>
            <a:ext cx="3636264" cy="2756662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276344" y="1645920"/>
            <a:ext cx="3636264" cy="384048"/>
          </a:xfrm>
          <a:prstGeom prst="roundRect">
            <a:avLst>
              <a:gd name="adj" fmla="val 18000"/>
            </a:avLst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3504" y="1645920"/>
            <a:ext cx="3361944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Product Configurator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6072" y="2121408"/>
            <a:ext cx="3435095" cy="2208022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00">
                <a:solidFill>
                  <a:srgbClr val="1F2937"/>
                </a:solidFill>
                <a:latin typeface="Calibri"/>
              </a:rPr>
              <a:t>Dashboard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00">
                <a:solidFill>
                  <a:srgbClr val="1F2937"/>
                </a:solidFill>
                <a:latin typeface="Calibri"/>
              </a:rPr>
              <a:t>Product Templates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00">
                <a:solidFill>
                  <a:srgbClr val="1F2937"/>
                </a:solidFill>
                <a:latin typeface="Calibri"/>
              </a:rPr>
              <a:t>Coverage Builder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00">
                <a:solidFill>
                  <a:srgbClr val="1F2937"/>
                </a:solidFill>
                <a:latin typeface="Calibri"/>
              </a:rPr>
              <a:t>Rating Engine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00">
                <a:solidFill>
                  <a:srgbClr val="1F2937"/>
                </a:solidFill>
                <a:latin typeface="Calibri"/>
              </a:rPr>
              <a:t>Underwriting Rules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00">
                <a:solidFill>
                  <a:srgbClr val="1F2937"/>
                </a:solidFill>
                <a:latin typeface="Calibri"/>
              </a:rPr>
              <a:t>Document Manager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00">
                <a:solidFill>
                  <a:srgbClr val="1F2937"/>
                </a:solidFill>
                <a:latin typeface="Calibri"/>
              </a:rPr>
              <a:t>Approval Workflows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00">
                <a:solidFill>
                  <a:srgbClr val="1F2937"/>
                </a:solidFill>
                <a:latin typeface="Calibri"/>
              </a:rPr>
              <a:t>Market / Risk Mapping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00">
                <a:solidFill>
                  <a:srgbClr val="1F2937"/>
                </a:solidFill>
                <a:latin typeface="Calibri"/>
              </a:rPr>
              <a:t>Product Analytics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5488" y="1645920"/>
            <a:ext cx="3636264" cy="2756662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95488" y="1645920"/>
            <a:ext cx="3636264" cy="384048"/>
          </a:xfrm>
          <a:prstGeom prst="roundRect">
            <a:avLst>
              <a:gd name="adj" fmla="val 18000"/>
            </a:avLst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32648" y="1645920"/>
            <a:ext cx="3361944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Operations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05215" y="2121408"/>
            <a:ext cx="3435095" cy="2208022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00">
                <a:solidFill>
                  <a:srgbClr val="1F2937"/>
                </a:solidFill>
                <a:latin typeface="Calibri"/>
              </a:rPr>
              <a:t>Home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00">
                <a:solidFill>
                  <a:srgbClr val="1F2937"/>
                </a:solidFill>
                <a:latin typeface="Calibri"/>
              </a:rPr>
              <a:t>Leads/Prospects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00">
                <a:solidFill>
                  <a:srgbClr val="1F2937"/>
                </a:solidFill>
                <a:latin typeface="Calibri"/>
              </a:rPr>
              <a:t>Clients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00">
                <a:solidFill>
                  <a:srgbClr val="1F2937"/>
                </a:solidFill>
                <a:latin typeface="Calibri"/>
              </a:rPr>
              <a:t>Quotation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00">
                <a:solidFill>
                  <a:srgbClr val="1F2937"/>
                </a:solidFill>
                <a:latin typeface="Calibri"/>
              </a:rPr>
              <a:t>Policy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00">
                <a:solidFill>
                  <a:srgbClr val="1F2937"/>
                </a:solidFill>
                <a:latin typeface="Calibri"/>
              </a:rPr>
              <a:t>Claims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00">
                <a:solidFill>
                  <a:srgbClr val="1F2937"/>
                </a:solidFill>
                <a:latin typeface="Calibri"/>
              </a:rPr>
              <a:t>Renewals: Renewal Policy, Batch, Queue, Retention Analytics, At-Risk, Negotiations, Lapse Mgmt, Performance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00">
                <a:solidFill>
                  <a:srgbClr val="1F2937"/>
                </a:solidFill>
                <a:latin typeface="Calibri"/>
              </a:rPr>
              <a:t>Open Items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00">
                <a:solidFill>
                  <a:srgbClr val="1F2937"/>
                </a:solidFill>
                <a:latin typeface="Calibri"/>
              </a:rPr>
              <a:t>Payments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585462"/>
            <a:ext cx="3636264" cy="1632458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57200" y="4585462"/>
            <a:ext cx="3636264" cy="384048"/>
          </a:xfrm>
          <a:prstGeom prst="roundRect">
            <a:avLst>
              <a:gd name="adj" fmla="val 18000"/>
            </a:avLst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4585462"/>
            <a:ext cx="3361944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Reinsurance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5060950"/>
            <a:ext cx="3435095" cy="1083818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00">
                <a:solidFill>
                  <a:srgbClr val="1F2937"/>
                </a:solidFill>
                <a:latin typeface="Calibri"/>
              </a:rPr>
              <a:t>Treaty Dashboard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00">
                <a:solidFill>
                  <a:srgbClr val="1F2937"/>
                </a:solidFill>
                <a:latin typeface="Calibri"/>
              </a:rPr>
              <a:t>Cession Tracking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00">
                <a:solidFill>
                  <a:srgbClr val="1F2937"/>
                </a:solidFill>
                <a:latin typeface="Calibri"/>
              </a:rPr>
              <a:t>Claims Recovery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00">
                <a:solidFill>
                  <a:srgbClr val="1F2937"/>
                </a:solidFill>
                <a:latin typeface="Calibri"/>
              </a:rPr>
              <a:t>Reconciliation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00">
                <a:solidFill>
                  <a:srgbClr val="1F2937"/>
                </a:solidFill>
                <a:latin typeface="Calibri"/>
              </a:rPr>
              <a:t>Analytics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76344" y="4585462"/>
            <a:ext cx="3636264" cy="1632458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276344" y="4585462"/>
            <a:ext cx="3636264" cy="384048"/>
          </a:xfrm>
          <a:prstGeom prst="roundRect">
            <a:avLst>
              <a:gd name="adj" fmla="val 18000"/>
            </a:avLst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13504" y="4585462"/>
            <a:ext cx="3361944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Reports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6072" y="5060950"/>
            <a:ext cx="3435095" cy="1083818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00">
                <a:solidFill>
                  <a:srgbClr val="1F2937"/>
                </a:solidFill>
                <a:latin typeface="Calibri"/>
              </a:rPr>
              <a:t>Operational Reports: Production, Claims, Renewal, Remittance, Broker Commission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Underwriter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KEY FUNCTION 1 OF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Underwriting dashboard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" y="1243584"/>
            <a:ext cx="7315200" cy="4599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7242048" cy="4526280"/>
          </a:xfrm>
          <a:prstGeom prst="rect">
            <a:avLst/>
          </a:prstGeom>
          <a:ln w="6350">
            <a:solidFill>
              <a:srgbClr val="D5DEEA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457200" y="5897879"/>
            <a:ext cx="7269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1">
                <a:solidFill>
                  <a:srgbClr val="5B6778"/>
                </a:solidFill>
                <a:latin typeface="Calibri"/>
              </a:rPr>
              <a:t>Live screen — Dashboard &gt; Underwriting Dashboard — signed in as jose.uw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243584"/>
            <a:ext cx="3733495" cy="4965192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389888"/>
            <a:ext cx="327629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Dashboard &gt; Underwriting Dashboard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783080"/>
            <a:ext cx="3322015" cy="434340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Purpose:  </a:t>
            </a:r>
            <a:r>
              <a:rPr sz="1500">
                <a:solidFill>
                  <a:srgbClr val="1F2937"/>
                </a:solidFill>
                <a:latin typeface="Calibri"/>
              </a:rPr>
              <a:t>submissions waiting, referred cases, average turnaround and open alerts.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Workload:  </a:t>
            </a:r>
            <a:r>
              <a:rPr sz="1500">
                <a:solidFill>
                  <a:srgbClr val="1F2937"/>
                </a:solidFill>
                <a:latin typeface="Calibri"/>
              </a:rPr>
              <a:t>assignment groups and workload by underwriter.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Action:  </a:t>
            </a:r>
            <a:r>
              <a:rPr sz="1500">
                <a:solidFill>
                  <a:srgbClr val="1F2937"/>
                </a:solidFill>
                <a:latin typeface="Calibri"/>
              </a:rPr>
              <a:t>New Submission and drill-down into each case.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Underwriter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KEY FUNCTION 2 OF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Quotation approval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" y="1243584"/>
            <a:ext cx="7315200" cy="4599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7242048" cy="4526280"/>
          </a:xfrm>
          <a:prstGeom prst="rect">
            <a:avLst/>
          </a:prstGeom>
          <a:ln w="6350">
            <a:solidFill>
              <a:srgbClr val="D5DEEA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457200" y="5897879"/>
            <a:ext cx="7269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1">
                <a:solidFill>
                  <a:srgbClr val="5B6778"/>
                </a:solidFill>
                <a:latin typeface="Calibri"/>
              </a:rPr>
              <a:t>Live screen — Operations &gt; Quotation — signed in as jose.uw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243584"/>
            <a:ext cx="3733495" cy="4965192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389888"/>
            <a:ext cx="327629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Operations &gt; Quotation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783080"/>
            <a:ext cx="3322015" cy="434340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Purpose:  </a:t>
            </a:r>
            <a:r>
              <a:rPr sz="1500">
                <a:solidFill>
                  <a:srgbClr val="1F2937"/>
                </a:solidFill>
                <a:latin typeface="Calibri"/>
              </a:rPr>
              <a:t>quotes by status: draft, sent for approval, approved, converted, expired.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Notified:  </a:t>
            </a:r>
            <a:r>
              <a:rPr sz="1500">
                <a:solidFill>
                  <a:srgbClr val="1F2937"/>
                </a:solidFill>
                <a:latin typeface="Calibri"/>
              </a:rPr>
              <a:t>“Quotation sent for approval” with client and gross premium.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Checks:  </a:t>
            </a:r>
            <a:r>
              <a:rPr sz="1500">
                <a:solidFill>
                  <a:srgbClr val="1F2937"/>
                </a:solidFill>
                <a:latin typeface="Calibri"/>
              </a:rPr>
              <a:t>risk, sum insured, rating and taxes (server-priced).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Downstream:  </a:t>
            </a:r>
            <a:r>
              <a:rPr sz="1500">
                <a:solidFill>
                  <a:srgbClr val="1F2937"/>
                </a:solidFill>
                <a:latin typeface="Calibri"/>
              </a:rPr>
              <a:t>approval lets the maker convert; the client accepts by e-mail.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Underwriter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KEY FUNCTION 3 OF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Underwriting rules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" y="1243584"/>
            <a:ext cx="7315200" cy="4599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7242048" cy="4526280"/>
          </a:xfrm>
          <a:prstGeom prst="rect">
            <a:avLst/>
          </a:prstGeom>
          <a:ln w="6350">
            <a:solidFill>
              <a:srgbClr val="D5DEEA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457200" y="5897879"/>
            <a:ext cx="7269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1">
                <a:solidFill>
                  <a:srgbClr val="5B6778"/>
                </a:solidFill>
                <a:latin typeface="Calibri"/>
              </a:rPr>
              <a:t>Live screen — Product Configurator &gt; Underwriting Rules — signed in as jose.uw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243584"/>
            <a:ext cx="3733495" cy="4965192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389888"/>
            <a:ext cx="327629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Product Configurator &gt; Underwriting Rules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783080"/>
            <a:ext cx="3322015" cy="434340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Purpose:  </a:t>
            </a:r>
            <a:r>
              <a:rPr sz="1500">
                <a:solidFill>
                  <a:srgbClr val="1F2937"/>
                </a:solidFill>
                <a:latin typeface="Calibri"/>
              </a:rPr>
              <a:t>acceptance, validation and loading rules per product.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Effect:  </a:t>
            </a:r>
            <a:r>
              <a:rPr sz="1500">
                <a:solidFill>
                  <a:srgbClr val="1F2937"/>
                </a:solidFill>
                <a:latin typeface="Calibri"/>
              </a:rPr>
              <a:t>rules refer, decline or load a quote automatically.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Change:  </a:t>
            </a:r>
            <a:r>
              <a:rPr sz="1500">
                <a:solidFill>
                  <a:srgbClr val="1F2937"/>
                </a:solidFill>
                <a:latin typeface="Calibri"/>
              </a:rPr>
              <a:t>Add Rule; publishing follows the approval workflow.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Underwriter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KEY FUNCTION 4 OF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Rating engine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" y="1243584"/>
            <a:ext cx="7315200" cy="4599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7242048" cy="4526280"/>
          </a:xfrm>
          <a:prstGeom prst="rect">
            <a:avLst/>
          </a:prstGeom>
          <a:ln w="6350">
            <a:solidFill>
              <a:srgbClr val="D5DEEA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457200" y="5897879"/>
            <a:ext cx="7269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1">
                <a:solidFill>
                  <a:srgbClr val="5B6778"/>
                </a:solidFill>
                <a:latin typeface="Calibri"/>
              </a:rPr>
              <a:t>Live screen — Product Configurator &gt; Rating Engine — signed in as jose.uw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243584"/>
            <a:ext cx="3733495" cy="4965192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389888"/>
            <a:ext cx="327629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Product Configurator &gt; Rating 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783080"/>
            <a:ext cx="3322015" cy="434340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Purpose:  </a:t>
            </a:r>
            <a:r>
              <a:rPr sz="1500">
                <a:solidFill>
                  <a:srgbClr val="1F2937"/>
                </a:solidFill>
                <a:latin typeface="Calibri"/>
              </a:rPr>
              <a:t>rating factors with multipliers and discounts.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Test Calculation:  </a:t>
            </a:r>
            <a:r>
              <a:rPr sz="1500">
                <a:solidFill>
                  <a:srgbClr val="1F2937"/>
                </a:solidFill>
                <a:latin typeface="Calibri"/>
              </a:rPr>
              <a:t>try a premium before activating.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Downstream:  </a:t>
            </a:r>
            <a:r>
              <a:rPr sz="1500">
                <a:solidFill>
                  <a:srgbClr val="1F2937"/>
                </a:solidFill>
                <a:latin typeface="Calibri"/>
              </a:rPr>
              <a:t>server-side pricing of every new and renewal quote.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Underwriter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KEY FUNCTION 5 OF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Coverage builder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" y="1243584"/>
            <a:ext cx="7315200" cy="4599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7242048" cy="4526280"/>
          </a:xfrm>
          <a:prstGeom prst="rect">
            <a:avLst/>
          </a:prstGeom>
          <a:ln w="6350">
            <a:solidFill>
              <a:srgbClr val="D5DEEA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457200" y="5897879"/>
            <a:ext cx="7269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1">
                <a:solidFill>
                  <a:srgbClr val="5B6778"/>
                </a:solidFill>
                <a:latin typeface="Calibri"/>
              </a:rPr>
              <a:t>Live screen — Product Configurator &gt; Coverage Builder — signed in as jose.uw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243584"/>
            <a:ext cx="3733495" cy="4965192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389888"/>
            <a:ext cx="327629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Product Configurator &gt; Coverage Builder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783080"/>
            <a:ext cx="3322015" cy="434340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Purpose:  </a:t>
            </a:r>
            <a:r>
              <a:rPr sz="1500">
                <a:solidFill>
                  <a:srgbClr val="1F2937"/>
                </a:solidFill>
                <a:latin typeface="Calibri"/>
              </a:rPr>
              <a:t>coverages (own damage, theft, CTPL, acts of nature, AOG, PA…) with type and deductible.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Types:  </a:t>
            </a:r>
            <a:r>
              <a:rPr sz="1500">
                <a:solidFill>
                  <a:srgbClr val="1F2937"/>
                </a:solidFill>
                <a:latin typeface="Calibri"/>
              </a:rPr>
              <a:t>mandatory or optional; premium impact per coverage.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Downstream:  </a:t>
            </a:r>
            <a:r>
              <a:rPr sz="1500">
                <a:solidFill>
                  <a:srgbClr val="1F2937"/>
                </a:solidFill>
                <a:latin typeface="Calibri"/>
              </a:rPr>
              <a:t>what the quote and endorsement coverage pages offer.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Underwriter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KEY FUNCTION 6 OF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Renewal queue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" y="1243584"/>
            <a:ext cx="7315200" cy="4599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7242048" cy="4526280"/>
          </a:xfrm>
          <a:prstGeom prst="rect">
            <a:avLst/>
          </a:prstGeom>
          <a:ln w="6350">
            <a:solidFill>
              <a:srgbClr val="D5DEEA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457200" y="5897879"/>
            <a:ext cx="7269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1">
                <a:solidFill>
                  <a:srgbClr val="5B6778"/>
                </a:solidFill>
                <a:latin typeface="Calibri"/>
              </a:rPr>
              <a:t>Live screen — Operations &gt; Renewals &gt; Renewal Queue — signed in as jose.uw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243584"/>
            <a:ext cx="3733495" cy="4965192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389888"/>
            <a:ext cx="327629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Operations &gt; Renewals &gt; Renewal Queue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783080"/>
            <a:ext cx="3322015" cy="434340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Purpose:  </a:t>
            </a:r>
            <a:r>
              <a:rPr sz="1500">
                <a:solidFill>
                  <a:srgbClr val="1F2937"/>
                </a:solidFill>
                <a:latin typeface="Calibri"/>
              </a:rPr>
              <a:t>policies due, days to expiry, risk level, premium and agent.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Rules:  </a:t>
            </a:r>
            <a:r>
              <a:rPr sz="1500">
                <a:solidFill>
                  <a:srgbClr val="1F2937"/>
                </a:solidFill>
                <a:latin typeface="Calibri"/>
              </a:rPr>
              <a:t>renewal maker-checker; notices in order (first, second, final).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Lapse:  </a:t>
            </a:r>
            <a:r>
              <a:rPr sz="1500">
                <a:solidFill>
                  <a:srgbClr val="1F2937"/>
                </a:solidFill>
                <a:latin typeface="Calibri"/>
              </a:rPr>
              <a:t>30 days after expiry without renewal.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Underwriter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KEY FUNCTION 7 OF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Renewal pricing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" y="1243584"/>
            <a:ext cx="7315200" cy="4599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7242048" cy="4526280"/>
          </a:xfrm>
          <a:prstGeom prst="rect">
            <a:avLst/>
          </a:prstGeom>
          <a:ln w="6350">
            <a:solidFill>
              <a:srgbClr val="D5DEEA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457200" y="5897879"/>
            <a:ext cx="7269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1">
                <a:solidFill>
                  <a:srgbClr val="5B6778"/>
                </a:solidFill>
                <a:latin typeface="Calibri"/>
              </a:rPr>
              <a:t>Screen from the recorded end-to-end run — Renewal order summary (net 32,005.00, gross 40,086.27) — jose.uw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243584"/>
            <a:ext cx="3733495" cy="4965192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389888"/>
            <a:ext cx="327629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Policy &gt; Renew &gt; Order Summary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783080"/>
            <a:ext cx="3322015" cy="434340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Purpose:  </a:t>
            </a:r>
            <a:r>
              <a:rPr sz="1500">
                <a:solidFill>
                  <a:srgbClr val="1F2937"/>
                </a:solidFill>
                <a:latin typeface="Calibri"/>
              </a:rPr>
              <a:t>renewal quote priced from the expiring policy.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Taxes:  </a:t>
            </a:r>
            <a:r>
              <a:rPr sz="1500">
                <a:solidFill>
                  <a:srgbClr val="1F2937"/>
                </a:solidFill>
                <a:latin typeface="Calibri"/>
              </a:rPr>
              <a:t>VAT 12%, DST 12.5%, LGT 0.75%; discount 0-30% comes out of brokerage.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Commission:  </a:t>
            </a:r>
            <a:r>
              <a:rPr sz="1500">
                <a:solidFill>
                  <a:srgbClr val="1F2937"/>
                </a:solidFill>
                <a:latin typeface="Calibri"/>
              </a:rPr>
              <a:t>brokerage, comsub, discount and margin shown before sending.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Downstream:  </a:t>
            </a:r>
            <a:r>
              <a:rPr sz="1500">
                <a:solidFill>
                  <a:srgbClr val="1F2937"/>
                </a:solidFill>
                <a:latin typeface="Calibri"/>
              </a:rPr>
              <a:t>accepted renewal becomes the new policy term.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Underwriter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KEY FUNCTION 8 OF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Cession tracking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" y="1243584"/>
            <a:ext cx="7315200" cy="4599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7242048" cy="4526280"/>
          </a:xfrm>
          <a:prstGeom prst="rect">
            <a:avLst/>
          </a:prstGeom>
          <a:ln w="6350">
            <a:solidFill>
              <a:srgbClr val="D5DEEA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457200" y="5897879"/>
            <a:ext cx="7269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1">
                <a:solidFill>
                  <a:srgbClr val="5B6778"/>
                </a:solidFill>
                <a:latin typeface="Calibri"/>
              </a:rPr>
              <a:t>Live screen — Reinsurance &gt; Cession Tracking — signed in as jose.uw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243584"/>
            <a:ext cx="3733495" cy="4965192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389888"/>
            <a:ext cx="327629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Reinsurance &gt; Cession Tracking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783080"/>
            <a:ext cx="3322015" cy="434340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Purpose:  </a:t>
            </a:r>
            <a:r>
              <a:rPr sz="1500">
                <a:solidFill>
                  <a:srgbClr val="1F2937"/>
                </a:solidFill>
                <a:latin typeface="Calibri"/>
              </a:rPr>
              <a:t>policies ceded per treaty: ceded sum, ceded premium, commission earned.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Actions:  </a:t>
            </a:r>
            <a:r>
              <a:rPr sz="1500">
                <a:solidFill>
                  <a:srgbClr val="1F2937"/>
                </a:solidFill>
                <a:latin typeface="Calibri"/>
              </a:rPr>
              <a:t>Process Cession, Generate Bordereaux.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Downstream:  </a:t>
            </a:r>
            <a:r>
              <a:rPr sz="1500">
                <a:solidFill>
                  <a:srgbClr val="1F2937"/>
                </a:solidFill>
                <a:latin typeface="Calibri"/>
              </a:rPr>
              <a:t>Reinsurance Cession Register report and reconciliation.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Underwriter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LEAD TO RENEWAL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End-to-end flow: your part of the cycle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8931" y="1417320"/>
            <a:ext cx="1481328" cy="1024128"/>
          </a:xfrm>
          <a:prstGeom prst="roundRect">
            <a:avLst>
              <a:gd name="adj" fmla="val 12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2083" y="149047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1E88E5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3" y="1673352"/>
            <a:ext cx="133502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300" b="1" i="0">
                <a:solidFill>
                  <a:srgbClr val="0B4F9C"/>
                </a:solidFill>
                <a:latin typeface="Calibri"/>
              </a:rPr>
              <a:t>Lead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3" y="2075688"/>
            <a:ext cx="1335024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5B6778"/>
                </a:solidFill>
                <a:latin typeface="Calibri"/>
              </a:rPr>
              <a:t>Agent / Sales / CS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153411" y="1810512"/>
            <a:ext cx="274320" cy="237744"/>
          </a:xfrm>
          <a:prstGeom prst="right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500883" y="1417320"/>
            <a:ext cx="1481328" cy="1024128"/>
          </a:xfrm>
          <a:prstGeom prst="roundRect">
            <a:avLst>
              <a:gd name="adj" fmla="val 12000"/>
            </a:avLst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74035" y="149047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74035" y="1673352"/>
            <a:ext cx="133502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Quote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74035" y="2075688"/>
            <a:ext cx="1335024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Agent / Sales / UW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055363" y="1810512"/>
            <a:ext cx="274320" cy="237744"/>
          </a:xfrm>
          <a:prstGeom prst="right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402836" y="1417320"/>
            <a:ext cx="1481328" cy="1024128"/>
          </a:xfrm>
          <a:prstGeom prst="roundRect">
            <a:avLst>
              <a:gd name="adj" fmla="val 12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75988" y="149047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1E88E5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75988" y="1673352"/>
            <a:ext cx="133502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300" b="1" i="0">
                <a:solidFill>
                  <a:srgbClr val="0B4F9C"/>
                </a:solidFill>
                <a:latin typeface="Calibri"/>
              </a:rPr>
              <a:t>Customer approval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75988" y="2075688"/>
            <a:ext cx="1335024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5B6778"/>
                </a:solidFill>
                <a:latin typeface="Calibri"/>
              </a:rPr>
              <a:t>Client (e-mail link)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5957316" y="1810512"/>
            <a:ext cx="274320" cy="237744"/>
          </a:xfrm>
          <a:prstGeom prst="right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04788" y="1417320"/>
            <a:ext cx="1481328" cy="1024128"/>
          </a:xfrm>
          <a:prstGeom prst="roundRect">
            <a:avLst>
              <a:gd name="adj" fmla="val 12000"/>
            </a:avLst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77940" y="149047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7940" y="1673352"/>
            <a:ext cx="133502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Policy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7940" y="2075688"/>
            <a:ext cx="1335024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Agent / Sales / UW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7859268" y="1810512"/>
            <a:ext cx="274320" cy="237744"/>
          </a:xfrm>
          <a:prstGeom prst="right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206740" y="1417320"/>
            <a:ext cx="1481328" cy="1024128"/>
          </a:xfrm>
          <a:prstGeom prst="roundRect">
            <a:avLst>
              <a:gd name="adj" fmla="val 12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79892" y="149047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1E88E5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9892" y="1673352"/>
            <a:ext cx="133502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300" b="1" i="0">
                <a:solidFill>
                  <a:srgbClr val="0B4F9C"/>
                </a:solidFill>
                <a:latin typeface="Calibri"/>
              </a:rPr>
              <a:t>Billing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9892" y="2075688"/>
            <a:ext cx="1335024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5B6778"/>
                </a:solidFill>
                <a:latin typeface="Calibri"/>
              </a:rPr>
              <a:t>System at issuance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9761219" y="1810512"/>
            <a:ext cx="274320" cy="237744"/>
          </a:xfrm>
          <a:prstGeom prst="right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0108692" y="1417320"/>
            <a:ext cx="1481328" cy="1024128"/>
          </a:xfrm>
          <a:prstGeom prst="roundRect">
            <a:avLst>
              <a:gd name="adj" fmla="val 12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81844" y="149047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1E88E5"/>
                </a:solidFill>
                <a:latin typeface="Calibri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81844" y="1673352"/>
            <a:ext cx="133502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300" b="1" i="0">
                <a:solidFill>
                  <a:srgbClr val="0B4F9C"/>
                </a:solidFill>
                <a:latin typeface="Calibri"/>
              </a:rPr>
              <a:t>Receipt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81844" y="2075688"/>
            <a:ext cx="1335024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5B6778"/>
                </a:solidFill>
                <a:latin typeface="Calibri"/>
              </a:rPr>
              <a:t>Finance</a:t>
            </a:r>
          </a:p>
        </p:txBody>
      </p:sp>
      <p:sp>
        <p:nvSpPr>
          <p:cNvPr id="37" name="Down Arrow 36"/>
          <p:cNvSpPr/>
          <p:nvPr/>
        </p:nvSpPr>
        <p:spPr>
          <a:xfrm>
            <a:off x="10712196" y="2551176"/>
            <a:ext cx="274320" cy="402335"/>
          </a:xfrm>
          <a:prstGeom prst="down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10108692" y="3063240"/>
            <a:ext cx="1481328" cy="1024128"/>
          </a:xfrm>
          <a:prstGeom prst="roundRect">
            <a:avLst>
              <a:gd name="adj" fmla="val 12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181844" y="313639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1E88E5"/>
                </a:solidFill>
                <a:latin typeface="Calibri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81844" y="3319272"/>
            <a:ext cx="133502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300" b="1" i="0">
                <a:solidFill>
                  <a:srgbClr val="0B4F9C"/>
                </a:solidFill>
                <a:latin typeface="Calibri"/>
              </a:rPr>
              <a:t>Commission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81844" y="3721608"/>
            <a:ext cx="1335024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5B6778"/>
                </a:solidFill>
                <a:latin typeface="Calibri"/>
              </a:rPr>
              <a:t>Finance maker + checker</a:t>
            </a:r>
          </a:p>
        </p:txBody>
      </p:sp>
      <p:sp>
        <p:nvSpPr>
          <p:cNvPr id="42" name="Left Arrow 41"/>
          <p:cNvSpPr/>
          <p:nvPr/>
        </p:nvSpPr>
        <p:spPr>
          <a:xfrm>
            <a:off x="9761219" y="3456432"/>
            <a:ext cx="274320" cy="237744"/>
          </a:xfrm>
          <a:prstGeom prst="left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206740" y="3063240"/>
            <a:ext cx="1481328" cy="1024128"/>
          </a:xfrm>
          <a:prstGeom prst="roundRect">
            <a:avLst>
              <a:gd name="adj" fmla="val 12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79892" y="313639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1E88E5"/>
                </a:solidFill>
                <a:latin typeface="Calibri"/>
              </a:rPr>
              <a:t>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79892" y="3319272"/>
            <a:ext cx="133502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300" b="1" i="0">
                <a:solidFill>
                  <a:srgbClr val="0B4F9C"/>
                </a:solidFill>
                <a:latin typeface="Calibri"/>
              </a:rPr>
              <a:t>Remittance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79892" y="3721608"/>
            <a:ext cx="1335024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5B6778"/>
                </a:solidFill>
                <a:latin typeface="Calibri"/>
              </a:rPr>
              <a:t>Finance maker + checker</a:t>
            </a:r>
          </a:p>
        </p:txBody>
      </p:sp>
      <p:sp>
        <p:nvSpPr>
          <p:cNvPr id="47" name="Left Arrow 46"/>
          <p:cNvSpPr/>
          <p:nvPr/>
        </p:nvSpPr>
        <p:spPr>
          <a:xfrm>
            <a:off x="7859268" y="3456432"/>
            <a:ext cx="274320" cy="237744"/>
          </a:xfrm>
          <a:prstGeom prst="left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6304788" y="3063240"/>
            <a:ext cx="1481328" cy="1024128"/>
          </a:xfrm>
          <a:prstGeom prst="roundRect">
            <a:avLst>
              <a:gd name="adj" fmla="val 12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77940" y="313639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1E88E5"/>
                </a:solidFill>
                <a:latin typeface="Calibri"/>
              </a:rPr>
              <a:t>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77940" y="3319272"/>
            <a:ext cx="133502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300" b="1" i="0">
                <a:solidFill>
                  <a:srgbClr val="0B4F9C"/>
                </a:solidFill>
                <a:latin typeface="Calibri"/>
              </a:rPr>
              <a:t>Endorsement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77940" y="3721608"/>
            <a:ext cx="1335024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5B6778"/>
                </a:solidFill>
                <a:latin typeface="Calibri"/>
              </a:rPr>
              <a:t>Customer Services</a:t>
            </a:r>
          </a:p>
        </p:txBody>
      </p:sp>
      <p:sp>
        <p:nvSpPr>
          <p:cNvPr id="52" name="Left Arrow 51"/>
          <p:cNvSpPr/>
          <p:nvPr/>
        </p:nvSpPr>
        <p:spPr>
          <a:xfrm>
            <a:off x="5957316" y="3456432"/>
            <a:ext cx="274320" cy="237744"/>
          </a:xfrm>
          <a:prstGeom prst="left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4402836" y="3063240"/>
            <a:ext cx="1481328" cy="1024128"/>
          </a:xfrm>
          <a:prstGeom prst="roundRect">
            <a:avLst>
              <a:gd name="adj" fmla="val 12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475988" y="313639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1E88E5"/>
                </a:solidFill>
                <a:latin typeface="Calibri"/>
              </a:rPr>
              <a:t>10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475988" y="3319272"/>
            <a:ext cx="133502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300" b="1" i="0">
                <a:solidFill>
                  <a:srgbClr val="0B4F9C"/>
                </a:solidFill>
                <a:latin typeface="Calibri"/>
              </a:rPr>
              <a:t>Claim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475988" y="3721608"/>
            <a:ext cx="1335024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5B6778"/>
                </a:solidFill>
                <a:latin typeface="Calibri"/>
              </a:rPr>
              <a:t>Claims maker + checker</a:t>
            </a:r>
          </a:p>
        </p:txBody>
      </p:sp>
      <p:sp>
        <p:nvSpPr>
          <p:cNvPr id="57" name="Left Arrow 56"/>
          <p:cNvSpPr/>
          <p:nvPr/>
        </p:nvSpPr>
        <p:spPr>
          <a:xfrm>
            <a:off x="4055363" y="3456432"/>
            <a:ext cx="274320" cy="237744"/>
          </a:xfrm>
          <a:prstGeom prst="left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2500883" y="3063240"/>
            <a:ext cx="1481328" cy="1024128"/>
          </a:xfrm>
          <a:prstGeom prst="roundRect">
            <a:avLst>
              <a:gd name="adj" fmla="val 12000"/>
            </a:avLst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574035" y="313639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574035" y="3319272"/>
            <a:ext cx="133502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Renewal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574035" y="3721608"/>
            <a:ext cx="1335024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UW / Sales + schedules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57200" y="4361688"/>
            <a:ext cx="256032" cy="182880"/>
          </a:xfrm>
          <a:prstGeom prst="roundRect">
            <a:avLst>
              <a:gd name="adj" fmla="val 30000"/>
            </a:avLst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77240" y="4315968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Your steps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2011680" y="4361688"/>
            <a:ext cx="256032" cy="182880"/>
          </a:xfrm>
          <a:prstGeom prst="roundRect">
            <a:avLst>
              <a:gd name="adj" fmla="val 30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331720" y="431596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Done by other personas or by the system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00800" y="4315968"/>
            <a:ext cx="5330952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100" b="0" i="1">
                <a:solidFill>
                  <a:srgbClr val="5B6778"/>
                </a:solidFill>
                <a:latin typeface="Calibri"/>
              </a:rPr>
              <a:t>Renewal pricing feeds the next cycle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57200" y="4709160"/>
            <a:ext cx="11274552" cy="1508760"/>
          </a:xfrm>
          <a:prstGeom prst="roundRect">
            <a:avLst>
              <a:gd name="adj" fmla="val 4000"/>
            </a:avLst>
          </a:prstGeom>
          <a:solidFill>
            <a:srgbClr val="E6F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85800" y="4846320"/>
            <a:ext cx="5349240" cy="132588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500"/>
              </a:spcAft>
              <a:buClr>
                <a:srgbClr val="43A047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2 Quote: approve quotes sent for approval.</a:t>
            </a:r>
          </a:p>
          <a:p>
            <a:pPr marL="201168" indent="-182880">
              <a:spcAft>
                <a:spcPts val="500"/>
              </a:spcAft>
              <a:buClr>
                <a:srgbClr val="43A047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4 Policy: rules and rating behind every policy.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172200" y="4846320"/>
            <a:ext cx="5394960" cy="132588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500"/>
              </a:spcAft>
              <a:buClr>
                <a:srgbClr val="43A047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11 Renewal: price and approve renewals.</a:t>
            </a:r>
          </a:p>
          <a:p>
            <a:pPr marL="201168" indent="-182880">
              <a:spcAft>
                <a:spcPts val="500"/>
              </a:spcAft>
              <a:buClr>
                <a:srgbClr val="43A047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Reinsurance: cessions and recoveries on large risks.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Underwriter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REPORTS &gt; OPERATIONAL / FINANCIAL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Reports you use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16152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00" b="1" i="0">
                <a:solidFill>
                  <a:srgbClr val="5B6778"/>
                </a:solidFill>
                <a:latin typeface="Calibri"/>
              </a:rPr>
              <a:t>Output formats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74519" y="1216152"/>
            <a:ext cx="548640" cy="274320"/>
          </a:xfrm>
          <a:prstGeom prst="roundRect">
            <a:avLst>
              <a:gd name="adj" fmla="val 50000"/>
            </a:avLst>
          </a:prstGeom>
          <a:solidFill>
            <a:srgbClr val="E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74519" y="12161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1" i="0">
                <a:solidFill>
                  <a:srgbClr val="0B4F9C"/>
                </a:solidFill>
                <a:latin typeface="Calibri"/>
              </a:rPr>
              <a:t>CSV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14600" y="1216152"/>
            <a:ext cx="614476" cy="274320"/>
          </a:xfrm>
          <a:prstGeom prst="roundRect">
            <a:avLst>
              <a:gd name="adj" fmla="val 50000"/>
            </a:avLst>
          </a:prstGeom>
          <a:solidFill>
            <a:srgbClr val="E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14600" y="1216152"/>
            <a:ext cx="614476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1" i="0">
                <a:solidFill>
                  <a:srgbClr val="0B4F9C"/>
                </a:solidFill>
                <a:latin typeface="Calibri"/>
              </a:rPr>
              <a:t>XLSX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20516" y="1216152"/>
            <a:ext cx="548640" cy="274320"/>
          </a:xfrm>
          <a:prstGeom prst="roundRect">
            <a:avLst>
              <a:gd name="adj" fmla="val 50000"/>
            </a:avLst>
          </a:prstGeom>
          <a:solidFill>
            <a:srgbClr val="E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20516" y="12161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1" i="0">
                <a:solidFill>
                  <a:srgbClr val="0B4F9C"/>
                </a:solidFill>
                <a:latin typeface="Calibri"/>
              </a:rPr>
              <a:t>PDF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60596" y="1216152"/>
            <a:ext cx="971092" cy="274320"/>
          </a:xfrm>
          <a:prstGeom prst="roundRect">
            <a:avLst>
              <a:gd name="adj" fmla="val 50000"/>
            </a:avLst>
          </a:prstGeom>
          <a:solidFill>
            <a:srgbClr val="E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60596" y="1216152"/>
            <a:ext cx="971092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1" i="0">
                <a:solidFill>
                  <a:srgbClr val="0B4F9C"/>
                </a:solidFill>
                <a:latin typeface="Calibri"/>
              </a:rPr>
              <a:t>On screen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23129" y="1216152"/>
            <a:ext cx="1470355" cy="274320"/>
          </a:xfrm>
          <a:prstGeom prst="roundRect">
            <a:avLst>
              <a:gd name="adj" fmla="val 50000"/>
            </a:avLst>
          </a:prstGeom>
          <a:solidFill>
            <a:srgbClr val="E6F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23129" y="1216152"/>
            <a:ext cx="1470355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1" i="0">
                <a:solidFill>
                  <a:srgbClr val="43A047"/>
                </a:solidFill>
                <a:latin typeface="Calibri"/>
              </a:rPr>
              <a:t>Scheduled e-mail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67804" y="1216152"/>
            <a:ext cx="5066690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00" b="0" i="1">
                <a:solidFill>
                  <a:srgbClr val="5B6778"/>
                </a:solidFill>
                <a:latin typeface="Calibri"/>
              </a:rPr>
              <a:t>Ten reports in your catalogue.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457200" y="1783080"/>
          <a:ext cx="11274550" cy="4114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3238"/>
                <a:gridCol w="6049759"/>
                <a:gridCol w="2841553"/>
              </a:tblGrid>
              <a:tr h="37407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Report</a:t>
                      </a:r>
                    </a:p>
                  </a:txBody>
                  <a:tcPr marL="73152" marR="73152" marT="27432" marB="27432" anchor="ctr">
                    <a:solidFill>
                      <a:srgbClr val="0B4F9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What it shows</a:t>
                      </a:r>
                    </a:p>
                  </a:txBody>
                  <a:tcPr marL="73152" marR="73152" marT="27432" marB="27432" anchor="ctr">
                    <a:solidFill>
                      <a:srgbClr val="0B4F9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Where</a:t>
                      </a:r>
                    </a:p>
                  </a:txBody>
                  <a:tcPr marL="73152" marR="73152" marT="27432" marB="27432" anchor="ctr">
                    <a:solidFill>
                      <a:srgbClr val="0B4F9C"/>
                    </a:solidFill>
                  </a:tcPr>
                </a:tc>
              </a:tr>
              <a:tr h="37407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B4F9C"/>
                          </a:solidFill>
                          <a:latin typeface="Calibri"/>
                        </a:rPr>
                        <a:t>Production Register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Policies incepted in the period: premium, commission, new or renewal; by agent, insurer or branch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Reports &gt; Operational &gt; Production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</a:tr>
              <a:tr h="37407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B4F9C"/>
                          </a:solidFill>
                          <a:latin typeface="Calibri"/>
                        </a:rPr>
                        <a:t>Claims Position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Claims reported: estimate, approved, settled, age; criteria All / Open / Settled / Rejected / Aging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Reports &gt; Operational &gt; Claims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7407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B4F9C"/>
                          </a:solidFill>
                          <a:latin typeface="Calibri"/>
                        </a:rPr>
                        <a:t>Renewal Retention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Renewals due: retained, lost or pending, old vs new premium, retention rate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Reports &gt; Operational &gt; Renewal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</a:tr>
              <a:tr h="37407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B4F9C"/>
                          </a:solidFill>
                          <a:latin typeface="Calibri"/>
                        </a:rPr>
                        <a:t>Remittance Summary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Remittances to insurers: gross premium, commission retained, net due, status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Reports &gt; Operational &gt; Remittance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7407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B4F9C"/>
                          </a:solidFill>
                          <a:latin typeface="Calibri"/>
                        </a:rPr>
                        <a:t>Broker Commission Statement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Commission per agent and policy: basis, rate, gross, WHT, net, paid status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Reports &gt; Operational &gt; Broker Commission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</a:tr>
              <a:tr h="37407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B4F9C"/>
                          </a:solidFill>
                          <a:latin typeface="Calibri"/>
                        </a:rPr>
                        <a:t>Premium by Product / Month / Insurer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Policy count, sum insured, premium and commission by month, product or insurer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Executive Dashboard &gt; Export Report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7407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B4F9C"/>
                          </a:solidFill>
                          <a:latin typeface="Calibri"/>
                        </a:rPr>
                        <a:t>New Business vs Renewals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Policies and premium split into new business and renewals per month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Executive Dashboard &gt; Export Report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</a:tr>
              <a:tr h="37407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B4F9C"/>
                          </a:solidFill>
                          <a:latin typeface="Calibri"/>
                        </a:rPr>
                        <a:t>Claims Ageing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Open claims by ageing bucket (30/60/90/180 days) with estimate and approved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Claims Dashboard &gt; Export Report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7407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B4F9C"/>
                          </a:solidFill>
                          <a:latin typeface="Calibri"/>
                        </a:rPr>
                        <a:t>Lead Conversion Funnel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Leads by stage (new to converted / lost) with share and conversion rate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Leads &gt; Generate Report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</a:tr>
              <a:tr h="37407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B4F9C"/>
                          </a:solidFill>
                          <a:latin typeface="Calibri"/>
                        </a:rPr>
                        <a:t>Reinsurance Cession Register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Cessions per treaty and policy: sum insured, ceded sum and premium, share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Reinsurance &gt; Cession Tracking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Underwriter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MASTER &gt; CONFIGURATION &gt; SCHEDULES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Schedules and automations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325880"/>
          <a:ext cx="1127455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9912"/>
                <a:gridCol w="2016586"/>
                <a:gridCol w="7058052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Job</a:t>
                      </a:r>
                    </a:p>
                  </a:txBody>
                  <a:tcPr marL="73152" marR="73152" marT="27432" marB="27432" anchor="ctr">
                    <a:solidFill>
                      <a:srgbClr val="0B4F9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When it runs</a:t>
                      </a:r>
                    </a:p>
                  </a:txBody>
                  <a:tcPr marL="73152" marR="73152" marT="27432" marB="27432" anchor="ctr">
                    <a:solidFill>
                      <a:srgbClr val="0B4F9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What it means for you</a:t>
                      </a:r>
                    </a:p>
                  </a:txBody>
                  <a:tcPr marL="73152" marR="73152" marT="27432" marB="27432" anchor="ctr">
                    <a:solidFill>
                      <a:srgbClr val="0B4F9C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B4F9C"/>
                          </a:solidFill>
                          <a:latin typeface="Calibri"/>
                        </a:rPr>
                        <a:t>Quotation expiry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Calibri"/>
                        </a:rPr>
                        <a:t>Every day, 00:30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Calibri"/>
                        </a:rPr>
                        <a:t>Unapproved quotes expire after the validity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B4F9C"/>
                          </a:solidFill>
                          <a:latin typeface="Calibri"/>
                        </a:rPr>
                        <a:t>Renewal pipeline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Calibri"/>
                        </a:rPr>
                        <a:t>Every day, 05:30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Calibri"/>
                        </a:rPr>
                        <a:t>Policies 90 days from expiry reach your queue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B4F9C"/>
                          </a:solidFill>
                          <a:latin typeface="Calibri"/>
                        </a:rPr>
                        <a:t>Renewal notices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Calibri"/>
                        </a:rPr>
                        <a:t>Every day, 06:00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Calibri"/>
                        </a:rPr>
                        <a:t>Notices at 60 / 30 / 15 days, in order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B4F9C"/>
                          </a:solidFill>
                          <a:latin typeface="Calibri"/>
                        </a:rPr>
                        <a:t>Policy expiry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Calibri"/>
                        </a:rPr>
                        <a:t>Every day, 00:15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Calibri"/>
                        </a:rPr>
                        <a:t>Expired policies drop out of in-force figures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B4F9C"/>
                          </a:solidFill>
                          <a:latin typeface="Calibri"/>
                        </a:rPr>
                        <a:t>Daily reports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Calibri"/>
                        </a:rPr>
                        <a:t>Every day, 05:00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Calibri"/>
                        </a:rPr>
                        <a:t>Production register each morning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4663440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1">
                <a:solidFill>
                  <a:srgbClr val="5B6778"/>
                </a:solidFill>
                <a:latin typeface="Calibri"/>
              </a:rPr>
              <a:t>Times are server time (Philippine time in production). The IT administrator can change a timetable, switch a job off or press Run now; every run is recorded.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Underwriter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BELL ICON, TOP RIGHT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Notifications and approvals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25880"/>
            <a:ext cx="5500116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" y="1490472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E6F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149047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1" i="0">
                <a:solidFill>
                  <a:srgbClr val="43A047"/>
                </a:solidFill>
                <a:latin typeface="Calibri"/>
              </a:rPr>
              <a:t>Approval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1435607"/>
            <a:ext cx="4037075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50" b="1" i="0">
                <a:solidFill>
                  <a:srgbClr val="0B4F9C"/>
                </a:solidFill>
                <a:latin typeface="Calibri"/>
              </a:rPr>
              <a:t>Quotation sent for approval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1746504"/>
            <a:ext cx="4037075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Client, quote number and gross premium.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423160"/>
            <a:ext cx="5500116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1792" y="2587752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E6F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258775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1" i="0">
                <a:solidFill>
                  <a:srgbClr val="43A047"/>
                </a:solidFill>
                <a:latin typeface="Calibri"/>
              </a:rPr>
              <a:t>Approval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2532888"/>
            <a:ext cx="4037075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50" b="1" i="0">
                <a:solidFill>
                  <a:srgbClr val="0B4F9C"/>
                </a:solidFill>
                <a:latin typeface="Calibri"/>
              </a:rPr>
              <a:t>Renewal approval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2843784"/>
            <a:ext cx="4037075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A renewal awaits your decision.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1636" y="1325880"/>
            <a:ext cx="5500116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96227" y="1490472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96227" y="149047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1" i="0">
                <a:solidFill>
                  <a:srgbClr val="1E88E5"/>
                </a:solidFill>
                <a:latin typeface="Calibri"/>
              </a:rPr>
              <a:t>Info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57515" y="1435607"/>
            <a:ext cx="4037075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50" b="1" i="0">
                <a:solidFill>
                  <a:srgbClr val="0B4F9C"/>
                </a:solidFill>
                <a:latin typeface="Calibri"/>
              </a:rPr>
              <a:t>Renewal approved / returned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57515" y="1746504"/>
            <a:ext cx="4037075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Sent to the maker with your note.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1636" y="2423160"/>
            <a:ext cx="5500116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396227" y="2587752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E6F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96227" y="258775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1" i="0">
                <a:solidFill>
                  <a:srgbClr val="43A047"/>
                </a:solidFill>
                <a:latin typeface="Calibri"/>
              </a:rPr>
              <a:t>Approval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57515" y="2532888"/>
            <a:ext cx="4037075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50" b="1" i="0">
                <a:solidFill>
                  <a:srgbClr val="0B4F9C"/>
                </a:solidFill>
                <a:latin typeface="Calibri"/>
              </a:rPr>
              <a:t>Treaty awaiting approval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57515" y="2843784"/>
            <a:ext cx="4037075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When treaty approval is switched 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Underwriter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GOOD TO KNOW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Known limitations and tips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25880"/>
            <a:ext cx="5532120" cy="4846320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46304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1" i="0">
                <a:solidFill>
                  <a:srgbClr val="0B4F9C"/>
                </a:solidFill>
                <a:latin typeface="Calibri"/>
              </a:rPr>
              <a:t>Open items that affect you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874519"/>
            <a:ext cx="5074920" cy="420624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800"/>
              </a:spcAft>
              <a:buClr>
                <a:srgbClr val="5B6778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Some quote lists (policy types, vehicle details, signatories) are fixed lists until linked to the masters.</a:t>
            </a:r>
          </a:p>
          <a:p>
            <a:pPr marL="201168" indent="-182880">
              <a:spcAft>
                <a:spcPts val="800"/>
              </a:spcAft>
              <a:buClr>
                <a:srgbClr val="5B6778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CTPL treatment (separate policy or part of the premium) is awaiting a business decision.</a:t>
            </a:r>
          </a:p>
          <a:p>
            <a:pPr marL="201168" indent="-182880">
              <a:spcAft>
                <a:spcPts val="800"/>
              </a:spcAft>
              <a:buClr>
                <a:srgbClr val="5B6778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Renewal quotation linking to the expiring policy is being finalised; check insurer, client and vehicle.</a:t>
            </a:r>
          </a:p>
          <a:p>
            <a:pPr marL="201168" indent="-182880">
              <a:spcAft>
                <a:spcPts val="800"/>
              </a:spcAft>
              <a:buClr>
                <a:srgbClr val="5B6778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Endorsement is still offered on expired policies: do not use it there.</a:t>
            </a:r>
          </a:p>
          <a:p>
            <a:pPr marL="201168" indent="-182880">
              <a:spcAft>
                <a:spcPts val="800"/>
              </a:spcAft>
              <a:buClr>
                <a:srgbClr val="5B6778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The Clients list can fail to open for this role in the current build.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325880"/>
            <a:ext cx="5532120" cy="4846320"/>
          </a:xfrm>
          <a:prstGeom prst="roundRect">
            <a:avLst>
              <a:gd name="adj" fmla="val 4000"/>
            </a:avLst>
          </a:prstGeom>
          <a:solidFill>
            <a:srgbClr val="E6F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2" y="146304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1" i="0">
                <a:solidFill>
                  <a:srgbClr val="43A047"/>
                </a:solidFill>
                <a:latin typeface="Calibri"/>
              </a:rPr>
              <a:t>Tips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1874519"/>
            <a:ext cx="5074920" cy="420624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800"/>
              </a:spcAft>
              <a:buClr>
                <a:srgbClr val="43A047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Use Test Calculation after every rating change.</a:t>
            </a:r>
          </a:p>
          <a:p>
            <a:pPr marL="201168" indent="-182880">
              <a:spcAft>
                <a:spcPts val="800"/>
              </a:spcAft>
              <a:buClr>
                <a:srgbClr val="43A047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Keep quotes moving: they expire overnight.</a:t>
            </a:r>
          </a:p>
          <a:p>
            <a:pPr marL="201168" indent="-182880">
              <a:spcAft>
                <a:spcPts val="800"/>
              </a:spcAft>
              <a:buClr>
                <a:srgbClr val="43A047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Review at-risk renewals weekly with Sales.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4F9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822960"/>
            <a:ext cx="38404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051560"/>
            <a:ext cx="3102796" cy="91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265176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3832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800" b="0" i="0">
                <a:solidFill>
                  <a:srgbClr val="BFD9F5"/>
                </a:solidFill>
                <a:latin typeface="Calibri"/>
              </a:rPr>
              <a:t>BrokerVerse — Underwriter guide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160520"/>
            <a:ext cx="10698480" cy="1874519"/>
          </a:xfrm>
          <a:prstGeom prst="roundRect">
            <a:avLst>
              <a:gd name="adj" fmla="val 6000"/>
            </a:avLst>
          </a:prstGeom>
          <a:solidFill>
            <a:srgbClr val="0E5C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2976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9FC8F2"/>
                </a:solidFill>
                <a:latin typeface="Calibri"/>
              </a:rPr>
              <a:t>SUPPORT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617720"/>
            <a:ext cx="2194560" cy="3017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Service desk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4617720"/>
            <a:ext cx="8046720" cy="3017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&lt;to be confirmed by BDOI&gt;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946904"/>
            <a:ext cx="2194560" cy="3017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E-mail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4946904"/>
            <a:ext cx="8046720" cy="3017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&lt;support mailbox to be confirmed&gt;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5276088"/>
            <a:ext cx="2194560" cy="3017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Hours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5276088"/>
            <a:ext cx="8046720" cy="3017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&lt;business hours, Manila time, to be confirmed&gt;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605272"/>
            <a:ext cx="2194560" cy="3017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Access requests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5605272"/>
            <a:ext cx="8046720" cy="3017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Your User Access Administrator (Master &gt; User Management)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3093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0">
                <a:solidFill>
                  <a:srgbClr val="BFD9F5"/>
                </a:solidFill>
                <a:latin typeface="Calibri"/>
              </a:rPr>
              <a:t>iorta TechNXT · BrokerVerse insurance-broking platform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