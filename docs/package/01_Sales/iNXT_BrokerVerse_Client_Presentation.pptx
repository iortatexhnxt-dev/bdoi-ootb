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 (2 minutes). Thank the attendees by name and confirm the time available.</a:t>
            </a:r>
          </a:p>
          <a:p>
            <a:r>
              <a:t>Purpose of the session: show how iNXT BrokerVerse runs a Philippine non-life broker from the first prospect to the</a:t>
            </a:r>
          </a:p>
          <a:p>
            <a:r>
              <a:t>month-end close, in one system, and agree the next step.</a:t>
            </a:r>
          </a:p>
          <a:p>
            <a:r>
              <a:t>Ask who owns the decision and who will use the system day to day, so the walk-through can stress the right modules.</a:t>
            </a:r>
          </a:p>
          <a:p>
            <a:r>
              <a:t>Fill in the client name and the date on this slide before sending the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agenda in under a minute. The core of the session is parts 3 and 4: the modules and the controls.</a:t>
            </a:r>
          </a:p>
          <a:p>
            <a:r>
              <a:t>If time is short, offer to skip the persona view and go from the controls straight to deployment and commercials.</a:t>
            </a:r>
          </a:p>
          <a:p>
            <a:r>
              <a:t>Ask whether there is a topic the audience wants first, for example accounting and BIR for a finance-led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Replace every item marked [to confirm] with approved company facts before the file leaves the office.</a:t>
            </a:r>
          </a:p>
          <a:p>
            <a:r>
              <a:t>The facts that are already firm: iorta TechNXT publishes iNXT BrokerVerse, implements it with a configure-not-customise</a:t>
            </a:r>
          </a:p>
          <a:p>
            <a:r>
              <a:t>approach, provides L2 application support and L3 engineering, and can host the test and production environments.</a:t>
            </a:r>
          </a:p>
          <a:p>
            <a:r>
              <a:t>Keep this slide short (1 to 2 minutes). The audience cares more about what the system does for their team.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 facts come from the Insurance Commission key data for 2024 (preliminary) and the 2025 non-life premium ranking,</a:t>
            </a:r>
          </a:p>
          <a:p>
            <a:r>
              <a:t>as summarised in our commercial note. Check them against the published originals before quoting them outside the</a:t>
            </a:r>
          </a:p>
          <a:p>
            <a:r>
              <a:t>meeting.</a:t>
            </a:r>
          </a:p>
          <a:p>
            <a:r>
              <a:t>Message: most brokers are small or mid-size, every broker places with many insurers, and the work is as much accounting</a:t>
            </a:r>
          </a:p>
          <a:p>
            <a:r>
              <a:t>and compliance as it is sales. A sales tool or a CRM covers only the left half of this slide.</a:t>
            </a:r>
          </a:p>
          <a:p>
            <a:r>
              <a:t>Ask: which of these points costs your team the most time today. Note the answer for the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map from top to bottom: the front office creates the business, the money layer moves premium and commission,</a:t>
            </a:r>
          </a:p>
          <a:p>
            <a:r>
              <a:t>the finance layer closes the books and files BIR, and everything sits on one set of masters, roles and controls.</a:t>
            </a:r>
          </a:p>
          <a:p>
            <a:r>
              <a:t>Stress that accounting is inside the product: every business event posts to the general ledger through posting rules</a:t>
            </a:r>
          </a:p>
          <a:p>
            <a:r>
              <a:t>the broker can see and approve. There is no separate accounting package to reconcile.</a:t>
            </a:r>
          </a:p>
          <a:p>
            <a:r>
              <a:t>Integrations are deliberately simple: e-mail, payment links (PayMongo, Dragonpay), bank and insurer statement files.</a:t>
            </a:r>
          </a:p>
          <a:p>
            <a:r>
              <a:t>There is no insurer API; documents and files go to insurers.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backbone of the demo. Each step is its own screen, usually done by a different team, and each leaves a</a:t>
            </a:r>
          </a:p>
          <a:p>
            <a:r>
              <a:t>numbered document behind, so anyone can follow a policy from the lead to the money and back.</a:t>
            </a:r>
          </a:p>
          <a:p>
            <a:r>
              <a:t>Point out the two blue approval markers: money and period close always need a second person.</a:t>
            </a:r>
          </a:p>
          <a:p>
            <a:r>
              <a:t>The journey per line is configurable: a private car is quoted and issued straight from the quotation; fire, IAR,</a:t>
            </a:r>
          </a:p>
          <a:p>
            <a:r>
              <a:t>marine, casualty and engineering need a Placement Slip confirmed by every insurer before the policy can be issued.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this from the account executive's point of view: one list of prospects, a quotation in minutes, the client</a:t>
            </a:r>
          </a:p>
          <a:p>
            <a:r>
              <a:t>accepts from a link, and the payment link takes the money.</a:t>
            </a:r>
          </a:p>
          <a:p>
            <a:r>
              <a:t>Key control to mention: the server recalculates every premium from the configured rate tables and taxes, so a premium</a:t>
            </a:r>
          </a:p>
          <a:p>
            <a:r>
              <a:t>typed over in the browser is refused. Discounts are limited by the Authority Matrix.</a:t>
            </a:r>
          </a:p>
          <a:p>
            <a:r>
              <a:t>Question for the audience: how many quotations per month, and which lines are quoted most. Motor and fire usually lead.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most broker systems stop being useful for commercial lines. Walk through one fire or IAR risk:</a:t>
            </a:r>
          </a:p>
          <a:p>
            <a:r>
              <a:t>the Broker Slip goes to three insurers, two offer and one declines, the comparison picks the lead, and the Placement</a:t>
            </a:r>
          </a:p>
          <a:p>
            <a:r>
              <a:t>Slip records each insurer's share and confirmation.</a:t>
            </a:r>
          </a:p>
          <a:p>
            <a:r>
              <a:t>The money trail follows the shares automatically. In the manual example (IAR, PHP 125,000,000.00 sum insured, 60/40</a:t>
            </a:r>
          </a:p>
          <a:p>
            <a:r>
              <a:t>co-insurance) one client bill is split into payables per insurer, and the Co-insurance Register shows each share.</a:t>
            </a:r>
          </a:p>
          <a:p>
            <a:r>
              <a:t>Question: what share of your premium is co-insured, and how many insurers do you place with in a typical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Servicing is where client satisfaction is won or lost. Show the policy detail first: everything about the policy on</a:t>
            </a:r>
          </a:p>
          <a:p>
            <a:r>
              <a:t>one screen, including the accounting entries it created.</a:t>
            </a:r>
          </a:p>
          <a:p>
            <a:r>
              <a:t>For claims, two controls matter to management: a claim is refused when the loss date is outside the policy period or</a:t>
            </a:r>
          </a:p>
          <a:p>
            <a:r>
              <a:t>the premium is unpaid (both configurable), and the settlement needs a second Claims user.</a:t>
            </a:r>
          </a:p>
          <a:p>
            <a:r>
              <a:t>Question: how many claims a month, and do you pay any claims through your own account.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Renewals are the cheapest premium a broker writes. The point of this slide is that nothing expires unnoticed:</a:t>
            </a:r>
          </a:p>
          <a:p>
            <a:r>
              <a:t>the pipeline starts at 90 days, notices go at 60, 30 and 15 days, and an unrenewed policy lapses 30 days after expiry.</a:t>
            </a:r>
          </a:p>
          <a:p>
            <a:r>
              <a:t>All of these day counts are settings, not code.</a:t>
            </a:r>
          </a:p>
          <a:p>
            <a:r>
              <a:t>Question: what is your current retention rate, and how do you follow up renewals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messages. First, segregation: the front office records the client's payment, but only Accounting issues the</a:t>
            </a:r>
          </a:p>
          <a:p>
            <a:r>
              <a:t>official receipt. Second, new in this release: the official receipt and the premium invoice go to the client by e-mail</a:t>
            </a:r>
          </a:p>
          <a:p>
            <a:r>
              <a:t>with the PDF attached, either from the screen (E-mail receipt, E-mail invoice) or automatically when the broker</a:t>
            </a:r>
          </a:p>
          <a:p>
            <a:r>
              <a:t>switches it on. The commission debit note e-mail to insurers now carries the debit note PDF, and the policy issued</a:t>
            </a:r>
          </a:p>
          <a:p>
            <a:r>
              <a:t>e-mail carries the policy schedule.</a:t>
            </a:r>
          </a:p>
          <a:p>
            <a:r>
              <a:t>The Premium Warranty Monitor shows broker-billed policies whose premium is unpaid near or past the insurer's payment</a:t>
            </a:r>
          </a:p>
          <a:p>
            <a:r>
              <a:t>warranty, so Accounting can remind the client or ask for an extension.</a:t>
            </a:r>
          </a:p>
          <a:p>
            <a:r>
              <a:t>Question: how do you send official receipts today, and how many receipts a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part insurers audit. The system knows, per policy and per insurer share, how much was collected and how much</a:t>
            </a:r>
          </a:p>
          <a:p>
            <a:r>
              <a:t>is still held, so the remittance is built from the collections rather than from a spreadsheet.</a:t>
            </a:r>
          </a:p>
          <a:p>
            <a:r>
              <a:t>Every remittance needs a second user, and the approval level depends on the amount.</a:t>
            </a:r>
          </a:p>
          <a:p>
            <a:r>
              <a:t>For direct bill, explain that no premium bill or collection reminder is raised; the broker bills its commission with</a:t>
            </a:r>
          </a:p>
          <a:p>
            <a:r>
              <a:t>VAT on a debit note and records the insurer's payment and Form 2307.</a:t>
            </a:r>
          </a:p>
          <a:p>
            <a:r>
              <a:t>Question: how many insurers do you remit to each month, and which are on direct bill.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Commission is the broker's revenue, so show it as a dashboard first: income, what goes to referrers, the margin.</a:t>
            </a:r>
          </a:p>
          <a:p>
            <a:r>
              <a:t>Two rules prevent the most common leak: referrer commission becomes payable only when the premium is fully collected,</a:t>
            </a:r>
          </a:p>
          <a:p>
            <a:r>
              <a:t>and only to a referrer with a bank account on file. Payouts are net of expanded withholding tax and need a second user.</a:t>
            </a:r>
          </a:p>
          <a:p>
            <a:r>
              <a:t>Question: how many referrers or sub-agents do you pay, and how often.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a finance audience this is the most important slide. The general ledger is inside the platform: each business event</a:t>
            </a:r>
          </a:p>
          <a:p>
            <a:r>
              <a:t>(policy issued, receipt applied, remittance, direct-bill commission) posts through a posting rule that the broker can</a:t>
            </a:r>
          </a:p>
          <a:p>
            <a:r>
              <a:t>read and simulate, and a change to a rule needs a second user's approval before it reaches the ledger.</a:t>
            </a:r>
          </a:p>
          <a:p>
            <a:r>
              <a:t>Month-end close is one run per period with fixed steps and a checklist; the Accounting Manager approves it.</a:t>
            </a:r>
          </a:p>
          <a:p>
            <a:r>
              <a:t>Bank reconciliation imports the bank file, auto-matches, and is prepared by Accounting and approved by the Accounting</a:t>
            </a:r>
          </a:p>
          <a:p>
            <a:r>
              <a:t>Manager. Insurer statements are imported and matched against the remittances.</a:t>
            </a:r>
          </a:p>
          <a:p>
            <a:r>
              <a:t>Question: how many days does your month-end close take today, and how many bank accounts do you reconcile.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tax outputs are built from the same ledger lines and vouchers, so the working papers agree with the books.</a:t>
            </a:r>
          </a:p>
          <a:p>
            <a:r>
              <a:t>Form 2307 works both ways: certificates the broker issues to its payees, and certificates received from insurers and</a:t>
            </a:r>
          </a:p>
          <a:p>
            <a:r>
              <a:t>clients, which feed the SAWT.</a:t>
            </a:r>
          </a:p>
          <a:p>
            <a:r>
              <a:t>Filing deadlines are the BIR's, not settings of the system; the broker's tax adviser confirms them.</a:t>
            </a:r>
          </a:p>
          <a:p>
            <a:r>
              <a:t>Question: who prepares your BIR returns today, in-house or an external accountant.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39 catalogue reports in seven groups, each with a preview on screen and a download as Excel, CSV or PDF with the</a:t>
            </a:r>
          </a:p>
          <a:p>
            <a:r>
              <a:t>letterhead. Users see only the reports their role allows.</a:t>
            </a:r>
          </a:p>
          <a:p>
            <a:r>
              <a:t>Dashboards read live figures: they change as soon as a transaction is saved. The Executive Dashboard compares the</a:t>
            </a:r>
          </a:p>
          <a:p>
            <a:r>
              <a:t>key figures with targets set in configuration.</a:t>
            </a:r>
          </a:p>
          <a:p>
            <a:r>
              <a:t>Question: which management reports does your board or principal ask for every month. Note any that are not in the list</a:t>
            </a:r>
          </a:p>
          <a:p>
            <a:r>
              <a:t>for the workshop.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Relevant mainly to insurance and reinsurance brokers. If the prospect does not place reinsurance, spend 30 seconds here</a:t>
            </a:r>
          </a:p>
          <a:p>
            <a:r>
              <a:t>and move on.</a:t>
            </a:r>
          </a:p>
          <a:p>
            <a:r>
              <a:t>For a reinsurance broker: treaties are approved by a second user, cessions are tracked per policy, recoveries are</a:t>
            </a:r>
          </a:p>
          <a:p>
            <a:r>
              <a:t>registered against claims, and the reinsurer's statement is reconciled with a 1% variance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for the compliance officer, the internal auditor and the CFO.</a:t>
            </a:r>
          </a:p>
          <a:p>
            <a:r>
              <a:t>Maker-checker: the person who enters a transaction cannot approve it, and the system refuses if they try.</a:t>
            </a:r>
          </a:p>
          <a:p>
            <a:r>
              <a:t>The Authority Matrix sets approval limits per transaction type and per role or user, in PHP; a new limit takes effect</a:t>
            </a:r>
          </a:p>
          <a:p>
            <a:r>
              <a:t>only after another administrator approves it. Replace the seeded defaults with the board-approved signing authority.</a:t>
            </a:r>
          </a:p>
          <a:p>
            <a:r>
              <a:t>Segregation of duties is checked when roles are assigned: the seeded rules block placement with payment and claims</a:t>
            </a:r>
          </a:p>
          <a:p>
            <a:r>
              <a:t>with payment, and warn on sales with collection.</a:t>
            </a:r>
          </a:p>
          <a:p>
            <a:r>
              <a:t>Question: who signs payments today, and up to what amount.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release: every maker-checker flow now notifies the people who can approve, and tells the maker the</a:t>
            </a:r>
          </a:p>
          <a:p>
            <a:r>
              <a:t>decision, with the reason when rejected. That covers payment vouchers and cheques, journal vouchers including bank and</a:t>
            </a:r>
          </a:p>
          <a:p>
            <a:r>
              <a:t>year-end adjustments, posting rule and account determination changes, authority limits and access reviews, commission</a:t>
            </a:r>
          </a:p>
          <a:p>
            <a:r>
              <a:t>payouts, insurer and bank reconciliations, month-end close, warranty extensions, remittance settlements, adjustments</a:t>
            </a:r>
          </a:p>
          <a:p>
            <a:r>
              <a:t>and transfers, treaty changes and captured premium payments.</a:t>
            </a:r>
          </a:p>
          <a:p>
            <a:r>
              <a:t>One setting switches all approval notifications on or off. A notification that cannot be created is logged and never</a:t>
            </a:r>
          </a:p>
          <a:p>
            <a:r>
              <a:t>blocks the transaction.</a:t>
            </a:r>
          </a:p>
          <a:p>
            <a:r>
              <a:t>The Audit Trail records who changed what, with the values before and after, for every create, update, approval and</a:t>
            </a:r>
          </a:p>
          <a:p>
            <a:r>
              <a:t>sign-in.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 in this release, the data privacy functions under Master &gt; Data Privacy:</a:t>
            </a:r>
          </a:p>
          <a:p>
            <a:r>
              <a:t>Consent is recorded per purpose (processing, marketing, sharing with insurers and reinsurers), with the channel, the</a:t>
            </a:r>
          </a:p>
          <a:p>
            <a:r>
              <a:t>privacy notice version and the evidence. A withdrawal is stamped on the record, never deleted, so the history is the</a:t>
            </a:r>
          </a:p>
          <a:p>
            <a:r>
              <a:t>evidence.</a:t>
            </a:r>
          </a:p>
          <a:p>
            <a:r>
              <a:t>Data Subject Requests: access, rectification, erasure or blocking, objection, portability and withdrawal of consent,</a:t>
            </a:r>
          </a:p>
          <a:p>
            <a:r>
              <a:t>numbered DSR-, due a set number of days after receipt (15 calendar days in the delivered set-up, for the DPO to</a:t>
            </a:r>
          </a:p>
          <a:p>
            <a:r>
              <a:t>confirm), assigned with a notification, and a daily job reminds the privacy team of overdue requests.</a:t>
            </a:r>
          </a:p>
          <a:p>
            <a:r>
              <a:t>Export gives the personal data held about a client or prospect as JSON or Excel. Anonymise overwrites the personal data</a:t>
            </a:r>
          </a:p>
          <a:p>
            <a:r>
              <a:t>once the retention period is over; it is refused while there is open business or the records must still be kept.</a:t>
            </a:r>
          </a:p>
          <a:p>
            <a:r>
              <a:t>Amounts, numbers and dates stay for the books.</a:t>
            </a:r>
          </a:p>
          <a:p>
            <a:r>
              <a:t>The broker remains the personal information controller and its DPO decides the purposes, the retention and the breach</a:t>
            </a:r>
          </a:p>
          <a:p>
            <a:r>
              <a:t>notices. iorta TechNXT acts as processor when it hosts or supports.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role model is delivered ready to use. Each user holds a role; the menus and the server permissions follow it.</a:t>
            </a:r>
          </a:p>
          <a:p>
            <a:r>
              <a:t>Referrers and sub-agents do not sign in: Sales &amp; Marketing enter their business and they are paid from the referrer</a:t>
            </a:r>
          </a:p>
          <a:p>
            <a:r>
              <a:t>master. That keeps the user count, and the licence cost, to the broker's own staff.</a:t>
            </a:r>
          </a:p>
          <a:p>
            <a:r>
              <a:t>The System Administrator and Operations roles hold the data privacy permissions in the delivered set-up; the broker</a:t>
            </a:r>
          </a:p>
          <a:p>
            <a:r>
              <a:t>can move them to its DPO's role.</a:t>
            </a:r>
          </a:p>
          <a:p>
            <a:r>
              <a:t>Ask the audience to map their own teams to these roles. The answer drives the user count for the proposal.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stack is mainstream and portable: a React web application, a Node.js API and PostgreSQL 16. No proprietary</a:t>
            </a:r>
          </a:p>
          <a:p>
            <a:r>
              <a:t>middleware, no per-CPU database licence.</a:t>
            </a:r>
          </a:p>
          <a:p>
            <a:r>
              <a:t>Four hosting options. On AWS and Azure the region is Singapore, which is a cross-border transfer the broker documents</a:t>
            </a:r>
          </a:p>
          <a:p>
            <a:r>
              <a:t>under the Data Privacy Act; AWS has a Manila Local Zone with a limited set of services. A broker that wants the system of</a:t>
            </a:r>
          </a:p>
          <a:p>
            <a:r>
              <a:t>record in the Philippines uses a local partner or its own data centre.</a:t>
            </a:r>
          </a:p>
          <a:p>
            <a:r>
              <a:t>Infrastructure is optional and priced separately; the broker may host itself at no fee, with our deployment guide and</a:t>
            </a:r>
          </a:p>
          <a:p>
            <a:r>
              <a:t>set-up support at day rates. The monthly prices are indicative estimates from public list prices and include production</a:t>
            </a:r>
          </a:p>
          <a:p>
            <a:r>
              <a:t>and one UAT environment, daily backups, monitoring and patching; confirm with the provider before quoting.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Configure, do not customise: the broker is fitted to the product through masters and settings, not code changes.</a:t>
            </a:r>
          </a:p>
          <a:p>
            <a:r>
              <a:t>A requirement that configuration cannot meet goes into the fit-gap register and becomes a change request only if the</a:t>
            </a:r>
          </a:p>
          <a:p>
            <a:r>
              <a:t>steering committee approves it; it does not move the go-live by default.</a:t>
            </a:r>
          </a:p>
          <a:p>
            <a:r>
              <a:t>Data drives the timeline. The data requests go out in week 1: insurer agreements, commission rates, chart of accounts,</a:t>
            </a:r>
          </a:p>
          <a:p>
            <a:r>
              <a:t>in-force policies, open receivables and the trial balance. Every load uses the delivered upload templates and is</a:t>
            </a:r>
          </a:p>
          <a:p>
            <a:r>
              <a:t>rehearsed before cutover.</a:t>
            </a:r>
          </a:p>
          <a:p>
            <a:r>
              <a:t>The size is agreed at mobilisation: small 8 weeks, medium 12 weeks, large 16 to 20 weeks to hypercare exit. Hypercare</a:t>
            </a:r>
          </a:p>
          <a:p>
            <a:r>
              <a:t>always covers the first month-end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levels. The broker's key users and System Administrator are the first line: how-to questions, user and password</a:t>
            </a:r>
          </a:p>
          <a:p>
            <a:r>
              <a:t>resets, settings and master data. iorta TechNXT application support is L2: triage, reproduction, configuration and data</a:t>
            </a:r>
          </a:p>
          <a:p>
            <a:r>
              <a:t>corrections under change control. iorta TechNXT engineering is L3: code defects, performance, infrastructure,</a:t>
            </a:r>
          </a:p>
          <a:p>
            <a:r>
              <a:t>security incidents and releases.</a:t>
            </a:r>
          </a:p>
          <a:p>
            <a:r>
              <a:t>Standard hours are 8:00 to 18:00 Manila time, Monday to Friday, except Philippine regular holidays. 24x7 cover for</a:t>
            </a:r>
          </a:p>
          <a:p>
            <a:r>
              <a:t>Severity 1 is an option. The targets shown are our standard proposal; the support agreement fixes the final values.</a:t>
            </a:r>
          </a:p>
          <a:p>
            <a:r>
              <a:t>AMC or the subscription covers corrections, product updates, regulatory form updates released for all customers and</a:t>
            </a:r>
          </a:p>
          <a:p>
            <a:r>
              <a:t>standard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models, same product. Prices are per named user, in PHP, excluding 12% VAT, on graduated slabs: the first 25 users</a:t>
            </a:r>
          </a:p>
          <a:p>
            <a:r>
              <a:t>at the Small rate, users 26 to 100 at the Medium rate, and so on, so the price never drops when a broker crosses a</a:t>
            </a:r>
          </a:p>
          <a:p>
            <a:r>
              <a:t>tier and the effective price per user falls as it grows.</a:t>
            </a:r>
          </a:p>
          <a:p>
            <a:r>
              <a:t>Perpetual: one-time licence on go-live, AMC at 22% of the licence fee a year from Year 2 after a 12-month warranty,</a:t>
            </a:r>
          </a:p>
          <a:p>
            <a:r>
              <a:t>increasing 5% a year.</a:t>
            </a:r>
          </a:p>
          <a:p>
            <a:r>
              <a:t>Subscription: monthly in advance, increasing 5% at each anniversary, with a minimum number of billable users; the</a:t>
            </a:r>
          </a:p>
          <a:p>
            <a:r>
              <a:t>onboarding fee equals the implementation fee because the set-up work is the same.</a:t>
            </a:r>
          </a:p>
          <a:p>
            <a:r>
              <a:t>Implementation is calculated from base man-days per tier plus 6 man-days per extra line of business, at the blended</a:t>
            </a:r>
          </a:p>
          <a:p>
            <a:r>
              <a:t>day rate of PHP 16,100.00. Quotations are valid 90 days. The pricing workbook governs where figures differ.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reference user counts from the pricing workbook, including implementation or onboarding, excluding VAT</a:t>
            </a:r>
          </a:p>
          <a:p>
            <a:r>
              <a:t>and optional items. They show the shape of the decision rather than a quotation for this prospect.</a:t>
            </a:r>
          </a:p>
          <a:p>
            <a:r>
              <a:t>Our recommendation: subscription for Small and Medium brokers, for lower Year 1 cash and no capital approval;</a:t>
            </a:r>
          </a:p>
          <a:p>
            <a:r>
              <a:t>perpetual for Large and Enterprise brokers, or any broker planning four years or more ahead.</a:t>
            </a:r>
          </a:p>
          <a:p>
            <a:r>
              <a:t>At the recommended prices the Year 1 subscription is about 2.3% of estimated commission income for a Small broker and</a:t>
            </a:r>
          </a:p>
          <a:p>
            <a:r>
              <a:t>0.8% for an Enterprise broker, within the 3% to 7% of revenue that insurers and brokers typically spend on IT.</a:t>
            </a:r>
          </a:p>
          <a:p>
            <a:r>
              <a:t>The income figures per tier are estimates mapped to the IC ranking.</a:t>
            </a:r>
          </a:p>
          <a:p>
            <a:r>
              <a:t>Close the slide by offering to run the workbook with the prospect's own user count and lines of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 in four points and stop. Each point can be proven in the demo.</a:t>
            </a:r>
          </a:p>
          <a:p>
            <a:r>
              <a:t>1. Built for Philippine non-life broking: taxes, BIR, LGU rates, local banks, local payment gateways, Data Privacy Act.</a:t>
            </a:r>
          </a:p>
          <a:p>
            <a:r>
              <a:t>2. One system: the front office, the money and the books, so there is nothing to reconcile between systems.</a:t>
            </a:r>
          </a:p>
          <a:p>
            <a:r>
              <a:t>3. Controls the auditor expects, already in the product.</a:t>
            </a:r>
          </a:p>
          <a:p>
            <a:r>
              <a:t>4. A predictable project and price: configure-not-customise, 8 to 20 weeks, published prices and day rates.</a:t>
            </a:r>
          </a:p>
          <a:p>
            <a:r>
              <a:t>Evidence to quote: 497 test cases prepared for this release, 480 passed, with the remaining items tracked in the defect</a:t>
            </a:r>
          </a:p>
          <a:p>
            <a:r>
              <a:t>register; a user manual and role guides for all seven roles; about 40 upload templates for the go-live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Agree the next step before the meeting ends, with a date and owner for each.</a:t>
            </a:r>
          </a:p>
          <a:p>
            <a:r>
              <a:t>Demo: 60 minutes for the full team or 30 minutes for management, run on the UAT data set, with the prospect's own</a:t>
            </a:r>
          </a:p>
          <a:p>
            <a:r>
              <a:t>examples where they send them in advance.</a:t>
            </a:r>
          </a:p>
          <a:p>
            <a:r>
              <a:t>Workshop: half a day with the process owners to confirm users, lines of business, insurers, volumes, hosting and</a:t>
            </a:r>
          </a:p>
          <a:p>
            <a:r>
              <a:t>integrations. Its output sizes the implementation.</a:t>
            </a:r>
          </a:p>
          <a:p>
            <a:r>
              <a:t>Proposal: commercials from the pricing workbook with the agreed user count and lines, valid 90 days.</a:t>
            </a:r>
          </a:p>
          <a:p>
            <a:r>
              <a:t>Contract: licence or subscription agreement, data processing agreement, support agreement; then the kick-off.</a:t>
            </a:r>
          </a:p>
          <a:p>
            <a:r>
              <a:t>Durations in weeks are planning assumptions [to confirm with the account manager].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jpg"/><Relationship Id="rId5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3.jpg"/><Relationship Id="rId5" Type="http://schemas.openxmlformats.org/officeDocument/2006/relationships/image" Target="../media/image1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7.jpg"/><Relationship Id="rId5" Type="http://schemas.openxmlformats.org/officeDocument/2006/relationships/image" Target="../media/image18.jpg"/><Relationship Id="rId6" Type="http://schemas.openxmlformats.org/officeDocument/2006/relationships/image" Target="../media/image1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20.jpg"/><Relationship Id="rId5" Type="http://schemas.openxmlformats.org/officeDocument/2006/relationships/image" Target="../media/image2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23.jpg"/><Relationship Id="rId5" Type="http://schemas.openxmlformats.org/officeDocument/2006/relationships/image" Target="../media/image24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25.jpg"/><Relationship Id="rId5" Type="http://schemas.openxmlformats.org/officeDocument/2006/relationships/image" Target="../media/image26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949440" y="0"/>
            <a:ext cx="73152" cy="68580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548640"/>
            <a:ext cx="1923733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828800"/>
            <a:ext cx="60350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072D8"/>
                </a:solidFill>
                <a:latin typeface="Calibri"/>
              </a:rPr>
              <a:t>CLIENT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612648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4400" b="1" i="0">
                <a:solidFill>
                  <a:srgbClr val="0B2A4A"/>
                </a:solidFill>
                <a:latin typeface="Calibri"/>
              </a:rPr>
              <a:t>iNXT BrokerVerse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6324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0" i="0">
                <a:solidFill>
                  <a:srgbClr val="0F4761"/>
                </a:solidFill>
                <a:latin typeface="Calibri"/>
              </a:rPr>
              <a:t>The insurance broking platform for Philippine non-life brokers, from prospect to renewal to month-end close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160520"/>
            <a:ext cx="1097280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43400"/>
            <a:ext cx="594360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F2937"/>
                </a:solidFill>
                <a:latin typeface="Calibri"/>
              </a:rPr>
              <a:t>Out-of-the-box (OOTB) version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Prepared for: [Client name]</a:t>
            </a:r>
          </a:p>
          <a:p>
            <a:pPr algn="l"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Date: [03 October 2026]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172200"/>
            <a:ext cx="59436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iorta TechNXT  |  Confidential: for the named recipient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79" y="1143000"/>
            <a:ext cx="4206240" cy="2404083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7498079" y="5166360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50" b="0" i="0">
                <a:solidFill>
                  <a:srgbClr val="C9DBEC"/>
                </a:solidFill>
                <a:latin typeface="Calibri"/>
              </a:rPr>
              <a:t>Executive Dashboard: premium, active policies, new business, claims rate, retention and receivables, live from the transactions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1325880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we 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iorta TechNXT and iNXT BrokerVerse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2532888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What a Philippine broker has to handle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Market, regulation and the daily work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3739896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The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Module map and the end-to-end journey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" y="4946904"/>
            <a:ext cx="685800" cy="6858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0876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Module walk-through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From sales and placement to accounting, BIR tax and reinsurance</a:t>
            </a:r>
          </a:p>
        </p:txBody>
      </p:sp>
      <p:sp>
        <p:nvSpPr>
          <p:cNvPr id="25" name="Oval 24"/>
          <p:cNvSpPr/>
          <p:nvPr/>
        </p:nvSpPr>
        <p:spPr>
          <a:xfrm>
            <a:off x="6309360" y="1325880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325880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1344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Controls, data privacy and security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16916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Maker-checker, authority limits, approval notifications</a:t>
            </a:r>
          </a:p>
        </p:txBody>
      </p:sp>
      <p:sp>
        <p:nvSpPr>
          <p:cNvPr id="29" name="Oval 28"/>
          <p:cNvSpPr/>
          <p:nvPr/>
        </p:nvSpPr>
        <p:spPr>
          <a:xfrm>
            <a:off x="6309360" y="2532888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2532888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55117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Who does what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28986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The seven delivered roles</a:t>
            </a:r>
          </a:p>
        </p:txBody>
      </p:sp>
      <p:sp>
        <p:nvSpPr>
          <p:cNvPr id="33" name="Oval 32"/>
          <p:cNvSpPr/>
          <p:nvPr/>
        </p:nvSpPr>
        <p:spPr>
          <a:xfrm>
            <a:off x="6309360" y="3739896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0" y="3739896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78040" y="3758183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Delivery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78040" y="410565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Technology, deployment, implementation timeline, support</a:t>
            </a:r>
          </a:p>
        </p:txBody>
      </p:sp>
      <p:sp>
        <p:nvSpPr>
          <p:cNvPr id="37" name="Oval 36"/>
          <p:cNvSpPr/>
          <p:nvPr/>
        </p:nvSpPr>
        <p:spPr>
          <a:xfrm>
            <a:off x="6309360" y="4946904"/>
            <a:ext cx="685800" cy="6858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0" y="4946904"/>
            <a:ext cx="68580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96519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 i="0">
                <a:solidFill>
                  <a:srgbClr val="0B2A4A"/>
                </a:solidFill>
                <a:latin typeface="Calibri"/>
              </a:rPr>
              <a:t>Commercials and next steps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78040" y="531266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0" i="0">
                <a:solidFill>
                  <a:srgbClr val="5B6778"/>
                </a:solidFill>
                <a:latin typeface="Calibri"/>
              </a:rPr>
              <a:t>Perpetual or subscription, then demo, workshop, proposal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WHO WE ARE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About iorta TechNXT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Who we 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Insurance technology company and publisher of iNXT BrokerVerse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Founded: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Head office and Philippine presence: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Team size and delivery centres: [to confirm]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What we deliver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2900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The iNXT BrokerVerse platform, OOTB version for Philippine non-life brokers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Implementation: configuration, data load, training, UAT, go-live and hypercare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Production support: L2 application support and L3 engineering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Optional hosting on AWS, Azure or with a local partner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How we work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Configure, do not customise: the broker is fitted to the product through masters and settings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Written acceptance at the end of each phase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One service desk, severity targets, monthly service report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Changes priced openly at published day rates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1234440"/>
            <a:ext cx="2670048" cy="48920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1234440"/>
            <a:ext cx="2670048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141732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References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98280" y="1874519"/>
            <a:ext cx="2423160" cy="41148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Client references that may be named: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Other insurance products of iorta TechNXT: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Certifications held: [to confirm]</a:t>
            </a:r>
          </a:p>
          <a:p>
            <a:pPr marL="201168" indent="-182880">
              <a:spcAft>
                <a:spcPts val="800"/>
              </a:spcAft>
              <a:buClr>
                <a:srgbClr val="0072D8"/>
              </a:buClr>
              <a:buFont typeface="Arial"/>
              <a:buChar char="•"/>
            </a:pPr>
            <a:r>
              <a:rPr sz="1200">
                <a:solidFill>
                  <a:srgbClr val="1F2937"/>
                </a:solidFill>
                <a:latin typeface="Calibri"/>
              </a:rPr>
              <a:t>Contact: [account manager, mobile, e-mail]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MARKET AND THE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What a Philippine non-life broker has to handle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931920" cy="502920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The 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828800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About 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40280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licensed insurance brokers (IC key data 2024, preliminary)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907791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20 million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319272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minimum paid-up capital for a broker, PHP 50 million for an insurance and reinsurance broker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86783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PHP 149.11 billion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98264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non-life gross premiums written in 2025; the top three insurers hold about a third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65776"/>
            <a:ext cx="356616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2000" b="1" i="0">
                <a:solidFill>
                  <a:srgbClr val="7FBEF5"/>
                </a:solidFill>
                <a:latin typeface="Calibri"/>
              </a:rPr>
              <a:t>Under PHP 100 million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477256"/>
            <a:ext cx="356616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commission income of most brokers; three earn more than PHP 2 billion each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118872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 i="0">
                <a:solidFill>
                  <a:srgbClr val="0F4761"/>
                </a:solidFill>
                <a:latin typeface="Calibri"/>
              </a:rPr>
              <a:t>What the system has to get right every day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71907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0" y="166420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Many insurers per risk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166420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Offers from several insurers, co-insurance shares that total 100%, a lead insurer, confirmations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09160" y="236829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0" y="231343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Premium taxes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31343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VAT 12%, documentary stamp tax 12.5%, local government tax by city or municipality, fire service tax 2%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09160" y="3017520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37760" y="2962656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Client money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0" y="2962656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Collect premium, issue the official receipt, remit to each insurer on its terms, watch the premium warranty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09160" y="3666744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3611880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Commission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0880" y="3611880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Broker-billed and direct-bill business, debit notes to insurers, BIR Form 2307 received, referrer payouts net of EWT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4315968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37760" y="4261104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BIR and the books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261104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Form 2307, VAT Summary, SAWT, QAP and SLSP; month-end close, bank and insurer reconciliation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9160" y="4965192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937760" y="4910328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Controls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4910328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Maker-checker on money and configuration, signing authority, segregation of duties, audit trail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09160" y="5614416"/>
            <a:ext cx="73152" cy="4572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937760" y="5559552"/>
            <a:ext cx="210312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300" b="1" i="0">
                <a:solidFill>
                  <a:srgbClr val="0B2A4A"/>
                </a:solidFill>
                <a:latin typeface="Calibri"/>
              </a:rPr>
              <a:t>Data Privacy 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5559552"/>
            <a:ext cx="4663440" cy="56692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Consent per purpose, data subject requests on time, breach notice within 72 hours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ONE SYSTEM FOR THE WHOLE BROKER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platform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188720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Front office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40280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3432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13432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Prospects, Quick Quote, Quotations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13048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Placement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Broker Slips, Placement Slips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85816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58968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Policy servicing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58968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Issue, endorsements, client view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58584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31736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31736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Registration to settlement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1352" y="1188720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04504" y="1261872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Renewals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04504" y="1572768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Queue, notices, negotiations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395728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395728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Money and insurers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240280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13432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Billing and receipts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13432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Invoices, official receipts, e-mail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3048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86200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Collections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86200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Ageing, reminders, credit control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85816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58968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Remittance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58968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To insurers, direct bill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958584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31736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Commission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31736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Referrers and incentive programmes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31352" y="2395728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04504" y="2468880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072D8"/>
                </a:solidFill>
                <a:latin typeface="Calibri"/>
              </a:rPr>
              <a:t>Reinsurance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04504" y="2779776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Treaties, cessions, recoveries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602736"/>
            <a:ext cx="1645920" cy="1078992"/>
          </a:xfrm>
          <a:prstGeom prst="roundRect">
            <a:avLst>
              <a:gd name="adj" fmla="val 8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602736"/>
            <a:ext cx="1463040" cy="107899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Finance and compliance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240280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313432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General ledger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13432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Posting rules, journals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813048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886200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Period end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86200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Month-end and year-end close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385816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58968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Reconciliation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58968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Bank and insurer statements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958584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031736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BIR tax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31736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2307, VAT, SAWT, QAP, SLSP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531352" y="3602736"/>
            <a:ext cx="1481328" cy="107899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604504" y="3675888"/>
            <a:ext cx="1335024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B2A4A"/>
                </a:solidFill>
                <a:latin typeface="Calibri"/>
              </a:rPr>
              <a:t>Reports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04504" y="3986784"/>
            <a:ext cx="1335024" cy="65836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1F2937"/>
                </a:solidFill>
                <a:latin typeface="Calibri"/>
              </a:rPr>
              <a:t>Dashboards and 39 catalogue reports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4864608"/>
            <a:ext cx="9601200" cy="1371600"/>
          </a:xfrm>
          <a:prstGeom prst="roundRect">
            <a:avLst>
              <a:gd name="adj" fmla="val 6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493776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Foundation shared by every module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40080" y="52760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0080" y="52760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Product Configurator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2542032" y="5276088"/>
            <a:ext cx="220370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542032" y="5276088"/>
            <a:ext cx="220370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Masters and Configuration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18888" y="5276088"/>
            <a:ext cx="25786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818888" y="5276088"/>
            <a:ext cx="257860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Users, roles, Authority Matrix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470648" y="5276088"/>
            <a:ext cx="190378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70648" y="5276088"/>
            <a:ext cx="190378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0080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Maker-checker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017166" y="5660136"/>
            <a:ext cx="115397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17166" y="5660136"/>
            <a:ext cx="11539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Audit Trail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244291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44291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Notifications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621377" y="5660136"/>
            <a:ext cx="130393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21377" y="5660136"/>
            <a:ext cx="1303934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E-mail Outbox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98464" y="5660136"/>
            <a:ext cx="122895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98464" y="5660136"/>
            <a:ext cx="122895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Data Privacy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300569" y="5660136"/>
            <a:ext cx="167883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300569" y="5660136"/>
            <a:ext cx="1678838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Document Numbering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40080" y="6044184"/>
            <a:ext cx="100401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6044184"/>
            <a:ext cx="100401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Schedules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717243" y="6044184"/>
            <a:ext cx="152887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717243" y="6044184"/>
            <a:ext cx="1528876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0F4761"/>
                </a:solidFill>
                <a:latin typeface="Calibri"/>
              </a:rPr>
              <a:t>Upload templates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241280" y="1188720"/>
            <a:ext cx="1490472" cy="5047488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0287000" y="1261872"/>
            <a:ext cx="139903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200" b="1" i="0">
                <a:solidFill>
                  <a:srgbClr val="0F4761"/>
                </a:solidFill>
                <a:latin typeface="Calibri"/>
              </a:rPr>
              <a:t>Connects to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32720" y="16459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E-mail (SMTP)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32720" y="228600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PayMongo and Dragonpay payment links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1320" y="22677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332720" y="292608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Bank statement files: BDO, BPI, Metrobank, generic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561320" y="2907791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332720" y="356615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Insurer statement files (CSV, XLSX)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1320" y="354787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0332720" y="420624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Reinsurer bordereaux (CSV)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561320" y="418795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332720" y="4846320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Excel, CSV and PDF outputs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0561320" y="482803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10332720" y="5486399"/>
            <a:ext cx="132588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REST API with OpenAPI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0561320" y="5468112"/>
            <a:ext cx="850392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HOW THE WORK 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journey: prospect to renewal to month-end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 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LD-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Operations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1943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057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057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  Broker Slip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03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BS-  OFR-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5433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576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576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  Quotation Slip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QT-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Sales, Processing</a:t>
            </a:r>
          </a:p>
        </p:txBody>
      </p:sp>
      <p:sp>
        <p:nvSpPr>
          <p:cNvPr id="27" name="Oval 26"/>
          <p:cNvSpPr/>
          <p:nvPr/>
        </p:nvSpPr>
        <p:spPr>
          <a:xfrm>
            <a:off x="4809744" y="2414016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09744" y="2414016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1435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2578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2578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  Placement Slip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035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PS-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67437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8580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8580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  Policy issue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037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POL-  CL-  INV-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Processing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439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4582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84582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  Payment capture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039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/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039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Front office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9944100" y="195224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058400" y="132588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0058400" y="132588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0" y="132588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7  Official receipt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104120" y="178308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OR-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04120" y="210312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57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1257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57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  Commission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03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PV-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303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58" name="Oval 57"/>
          <p:cNvSpPr/>
          <p:nvPr/>
        </p:nvSpPr>
        <p:spPr>
          <a:xfrm>
            <a:off x="2409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09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27432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28575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28575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575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9  Remittance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032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REM-  SET-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9032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two users</a:t>
            </a:r>
          </a:p>
        </p:txBody>
      </p:sp>
      <p:sp>
        <p:nvSpPr>
          <p:cNvPr id="66" name="Oval 65"/>
          <p:cNvSpPr/>
          <p:nvPr/>
        </p:nvSpPr>
        <p:spPr>
          <a:xfrm>
            <a:off x="40096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0096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43434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44577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44577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4577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10  Endorsement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034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END-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034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Processing</a:t>
            </a:r>
          </a:p>
        </p:txBody>
      </p:sp>
      <p:sp>
        <p:nvSpPr>
          <p:cNvPr id="74" name="Right Arrow 73"/>
          <p:cNvSpPr/>
          <p:nvPr/>
        </p:nvSpPr>
        <p:spPr>
          <a:xfrm>
            <a:off x="59436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60579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0579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0579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11  Claim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1036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CLM-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036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Claims, two users</a:t>
            </a:r>
          </a:p>
        </p:txBody>
      </p:sp>
      <p:sp>
        <p:nvSpPr>
          <p:cNvPr id="80" name="Oval 79"/>
          <p:cNvSpPr/>
          <p:nvPr/>
        </p:nvSpPr>
        <p:spPr>
          <a:xfrm>
            <a:off x="72100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2100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75438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76581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76581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6581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12  Renewal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7038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new term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038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Operations, Sales</a:t>
            </a:r>
          </a:p>
        </p:txBody>
      </p:sp>
      <p:sp>
        <p:nvSpPr>
          <p:cNvPr id="88" name="Oval 87"/>
          <p:cNvSpPr/>
          <p:nvPr/>
        </p:nvSpPr>
        <p:spPr>
          <a:xfrm>
            <a:off x="88102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8102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0" name="Right Arrow 89"/>
          <p:cNvSpPr/>
          <p:nvPr/>
        </p:nvSpPr>
        <p:spPr>
          <a:xfrm>
            <a:off x="9144000" y="3872484"/>
            <a:ext cx="109728" cy="164592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9258300" y="3246120"/>
            <a:ext cx="1481328" cy="1417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0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ounded Rectangle 91"/>
          <p:cNvSpPr/>
          <p:nvPr/>
        </p:nvSpPr>
        <p:spPr>
          <a:xfrm>
            <a:off x="9258300" y="3246120"/>
            <a:ext cx="1481328" cy="384048"/>
          </a:xfrm>
          <a:prstGeom prst="roundRect">
            <a:avLst>
              <a:gd name="adj" fmla="val 3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258300" y="3246120"/>
            <a:ext cx="148132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13  Month-end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304020" y="3703320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100" b="1" i="0">
                <a:solidFill>
                  <a:srgbClr val="0072D8"/>
                </a:solidFill>
                <a:latin typeface="Calibri"/>
              </a:rPr>
              <a:t>BRC-  MEC-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304020" y="4023359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0" i="0">
                <a:solidFill>
                  <a:srgbClr val="5B6778"/>
                </a:solidFill>
                <a:latin typeface="Calibri"/>
              </a:rPr>
              <a:t>Accounting, Manager</a:t>
            </a:r>
          </a:p>
        </p:txBody>
      </p:sp>
      <p:sp>
        <p:nvSpPr>
          <p:cNvPr id="96" name="Oval 95"/>
          <p:cNvSpPr/>
          <p:nvPr/>
        </p:nvSpPr>
        <p:spPr>
          <a:xfrm>
            <a:off x="10410444" y="4334255"/>
            <a:ext cx="237744" cy="237744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10410444" y="4334255"/>
            <a:ext cx="237744" cy="23774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7200" y="4892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2</a:t>
            </a:r>
            <a:r>
              <a:rPr sz="1100" b="0" i="0">
                <a:solidFill>
                  <a:srgbClr val="5B6778"/>
                </a:solidFill>
                <a:latin typeface="Calibri"/>
              </a:rPr>
              <a:t>  marks a step that a second user approves (maker-checker).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7200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4008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Placement journey by line.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Motor: quotation straight to policy. Fire, IAR, Marine, Casualty, Engineering: Placement Slip required. Set per line in Master &gt; Configuration.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199632" y="5257800"/>
            <a:ext cx="5532120" cy="100584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382512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One trail.  </a:t>
            </a:r>
            <a:r>
              <a:rPr sz="1150" b="0" i="0">
                <a:solidFill>
                  <a:srgbClr val="1F2937"/>
                </a:solidFill>
                <a:latin typeface="Calibri"/>
              </a:rPr>
              <a:t>Every step posts to the ledger by posting rule and is kept in the Audit Trail, so a policy can be followed from lead to remittance and claim.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Sales and quotation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00863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00863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Prospects  </a:t>
            </a:r>
            <a:r>
              <a:rPr sz="1300">
                <a:solidFill>
                  <a:srgbClr val="1F2937"/>
                </a:solidFill>
                <a:latin typeface="Calibri"/>
              </a:rPr>
              <a:t>individual or corporate (TIN required for corporate), one by one or by Excel upload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Quick Quote and Compare Insurers  </a:t>
            </a:r>
            <a:r>
              <a:rPr sz="1300">
                <a:solidFill>
                  <a:srgbClr val="1F2937"/>
                </a:solidFill>
                <a:latin typeface="Calibri"/>
              </a:rPr>
              <a:t>prices a package from each insurer's rate table and prints a comparison without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quotation in five steps  </a:t>
            </a:r>
            <a:r>
              <a:rPr sz="1300">
                <a:solidFill>
                  <a:srgbClr val="1F2937"/>
                </a:solidFill>
                <a:latin typeface="Calibri"/>
              </a:rPr>
              <a:t>vehicle, plan, covers including CTPL and Auto Passenger PA, accessories, discount and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Server-side pricing  </a:t>
            </a:r>
            <a:r>
              <a:rPr sz="1300">
                <a:solidFill>
                  <a:srgbClr val="1F2937"/>
                </a:solidFill>
                <a:latin typeface="Calibri"/>
              </a:rPr>
              <a:t>every quotation is priced again from the configured rates and taxes; a premium changed in the browser is refused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Client approval online  </a:t>
            </a:r>
            <a:r>
              <a:rPr sz="1300">
                <a:solidFill>
                  <a:srgbClr val="1F2937"/>
                </a:solidFill>
                <a:latin typeface="Calibri"/>
              </a:rPr>
              <a:t>a signed link valid for 168 hours; the client accepts and the Processing Team is told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links  </a:t>
            </a:r>
            <a:r>
              <a:rPr sz="1300">
                <a:solidFill>
                  <a:srgbClr val="1F2937"/>
                </a:solidFill>
                <a:latin typeface="Calibri"/>
              </a:rPr>
              <a:t>PayMongo or Dragonpay; a paid link creates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Sales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prospects, quotations, conversion, policies issued and premium per account executive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Quotation PDF, insurer comparison, Lead Conversion Funnel report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Quotation: status of every quotation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21497" y="3840480"/>
            <a:ext cx="3743661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Sales Dashboard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Placement with insurers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Broker Slip (Request for Quotation)  </a:t>
            </a:r>
            <a:r>
              <a:rPr sz="1300">
                <a:solidFill>
                  <a:srgbClr val="1F2937"/>
                </a:solidFill>
                <a:latin typeface="Calibri"/>
              </a:rPr>
              <a:t>presents one risk to several insurers; each offer or decline is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Compare offers  </a:t>
            </a:r>
            <a:r>
              <a:rPr sz="1300">
                <a:solidFill>
                  <a:srgbClr val="1F2937"/>
                </a:solidFill>
                <a:latin typeface="Calibri"/>
              </a:rPr>
              <a:t>side by side: gross premium, rate, deductibles, difference to the best offer; choose the security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Placement Slip  </a:t>
            </a:r>
            <a:r>
              <a:rPr sz="1300">
                <a:solidFill>
                  <a:srgbClr val="1F2937"/>
                </a:solidFill>
                <a:latin typeface="Calibri"/>
              </a:rPr>
              <a:t>the firm order to the lead and the co-insurers; each confirms its share with its policy or certificate number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Co-insurance  </a:t>
            </a:r>
            <a:r>
              <a:rPr sz="1300">
                <a:solidFill>
                  <a:srgbClr val="1F2937"/>
                </a:solidFill>
                <a:latin typeface="Calibri"/>
              </a:rPr>
              <a:t>shares must total exactly 100% with one lead; premium, commission, remittance and claims follow the shares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Journey per line  </a:t>
            </a:r>
            <a:r>
              <a:rPr sz="1300">
                <a:solidFill>
                  <a:srgbClr val="1F2937"/>
                </a:solidFill>
                <a:latin typeface="Calibri"/>
              </a:rPr>
              <a:t>a line that requires a Placement Slip cannot be issued until every insurer has confirmed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Record Issued Policy and direct placement  </a:t>
            </a:r>
            <a:r>
              <a:rPr sz="1300">
                <a:solidFill>
                  <a:srgbClr val="1F2937"/>
                </a:solidFill>
                <a:latin typeface="Calibri"/>
              </a:rPr>
              <a:t>for business the insurer has already issued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Slip and Placement Slip PDFs, Placement Pipeline, Market Response (hit ratio), Co-insurance Register</a:t>
            </a:r>
          </a:p>
        </p:txBody>
      </p:sp>
      <p:pic>
        <p:nvPicPr>
          <p:cNvPr id="16" name="Picture 15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5027" y="1143000"/>
            <a:ext cx="3476600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Broker Slip: Compare offers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Placement Slips: draft, sent, bound, issued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FRONT OFFICE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Policy servicing, endorsements and claims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3037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33037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issue  </a:t>
            </a:r>
            <a:r>
              <a:rPr sz="1300">
                <a:solidFill>
                  <a:srgbClr val="1F2937"/>
                </a:solidFill>
                <a:latin typeface="Calibri"/>
              </a:rPr>
              <a:t>from the Placement Slip, or Convert Policy for motor; client record and premium bill created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Motor KYC  </a:t>
            </a:r>
            <a:r>
              <a:rPr sz="1300">
                <a:solidFill>
                  <a:srgbClr val="1F2937"/>
                </a:solidFill>
                <a:latin typeface="Calibri"/>
              </a:rPr>
              <a:t>government ID (type, number and image), chassis, motor and plate or MV file number before issue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Policy detail  </a:t>
            </a:r>
            <a:r>
              <a:rPr sz="1300">
                <a:solidFill>
                  <a:srgbClr val="1F2937"/>
                </a:solidFill>
                <a:latin typeface="Calibri"/>
              </a:rPr>
              <a:t>policy schedule PDF, invoice, accounting entries, documents and related records in one place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Endorsements  </a:t>
            </a:r>
            <a:r>
              <a:rPr sz="1300">
                <a:solidFill>
                  <a:srgbClr val="1F2937"/>
                </a:solidFill>
                <a:latin typeface="Calibri"/>
              </a:rPr>
              <a:t>personal details, motor details, coverage change, extension, cancellation; extra or return premium billed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 </a:t>
            </a:r>
            <a:r>
              <a:rPr sz="1300">
                <a:solidFill>
                  <a:srgbClr val="1F2937"/>
                </a:solidFill>
                <a:latin typeface="Calibri"/>
              </a:rPr>
              <a:t>registration checks the loss date against the policy period and unpaid premium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Preliminary Loss Advice e-mail to the insurer; acknowledgement letter, claims data sheet, discharge voucher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settlement approved by a second Claims user; settlement cash through the broker tracked by insurer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open and overdue claims, claims by line and region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Policy schedule, endorsement, claim documents, Claims Position and Claims Ageing reports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0106" y="1143000"/>
            <a:ext cx="2806441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Policy: policy detail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8062" y="3840480"/>
            <a:ext cx="4830530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Claims: claim detail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RETENTION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Renewals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Operations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90497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90497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Pipeline  </a:t>
            </a:r>
            <a:r>
              <a:rPr sz="1300">
                <a:solidFill>
                  <a:srgbClr val="1F2937"/>
                </a:solidFill>
                <a:latin typeface="Calibri"/>
              </a:rPr>
              <a:t>every policy enters the renewal pipeline 90 days before expiry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Notices  </a:t>
            </a:r>
            <a:r>
              <a:rPr sz="1300">
                <a:solidFill>
                  <a:srgbClr val="1F2937"/>
                </a:solidFill>
                <a:latin typeface="Calibri"/>
              </a:rPr>
              <a:t>first, second and final notice at 60, 30 and 15 days, in order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Queue  </a:t>
            </a:r>
            <a:r>
              <a:rPr sz="1300">
                <a:solidFill>
                  <a:srgbClr val="1F2937"/>
                </a:solidFill>
                <a:latin typeface="Calibri"/>
              </a:rPr>
              <a:t>days to expiry, status, risk level, owner and contact attempts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Batch  </a:t>
            </a:r>
            <a:r>
              <a:rPr sz="1300">
                <a:solidFill>
                  <a:srgbClr val="1F2937"/>
                </a:solidFill>
                <a:latin typeface="Calibri"/>
              </a:rPr>
              <a:t>notices for up to 500 policies at once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Negotiations  </a:t>
            </a:r>
            <a:r>
              <a:rPr sz="1300">
                <a:solidFill>
                  <a:srgbClr val="1F2937"/>
                </a:solidFill>
                <a:latin typeface="Calibri"/>
              </a:rPr>
              <a:t>contacts with the client recorded; renewal terms approved by the Processing Team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At-Risk Policies and Lapse Management  </a:t>
            </a:r>
            <a:r>
              <a:rPr sz="1300">
                <a:solidFill>
                  <a:srgbClr val="1F2937"/>
                </a:solidFill>
                <a:latin typeface="Calibri"/>
              </a:rPr>
              <a:t>retention risk score, grace period, win-back campaigns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Renewal issue  </a:t>
            </a:r>
            <a:r>
              <a:rPr sz="1300">
                <a:solidFill>
                  <a:srgbClr val="1F2937"/>
                </a:solidFill>
                <a:latin typeface="Calibri"/>
              </a:rPr>
              <a:t>the accepted renewal quotation becomes the next term; commission accrues to the original referrer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Retention Analytics and Performance  </a:t>
            </a:r>
            <a:r>
              <a:rPr sz="1300">
                <a:solidFill>
                  <a:srgbClr val="1F2937"/>
                </a:solidFill>
                <a:latin typeface="Calibri"/>
              </a:rPr>
              <a:t>renewal rate, premium retention and cycle time against 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Renewal notices, Renewal Retention report, retention rate on the Executive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Renewal Queue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9478" y="3840480"/>
            <a:ext cx="3327698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Operations &gt; Renewals &gt; Negotiations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Billing, official receipts and collections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27394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27394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Front office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Billing  </a:t>
            </a:r>
            <a:r>
              <a:rPr sz="1300">
                <a:solidFill>
                  <a:srgbClr val="1F2937"/>
                </a:solidFill>
                <a:latin typeface="Calibri"/>
              </a:rPr>
              <a:t>the bill is raised when the policy, endorsement or renewal is issued; billing statement PDF with payment instructions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Payment capture and official receipt  </a:t>
            </a:r>
            <a:r>
              <a:rPr sz="1300">
                <a:solidFill>
                  <a:srgbClr val="1F2937"/>
                </a:solidFill>
                <a:latin typeface="Calibri"/>
              </a:rPr>
              <a:t>front office records the payment; only Accounting posts the official receipt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New: documents by e-mail  </a:t>
            </a:r>
            <a:r>
              <a:rPr sz="1300">
                <a:solidFill>
                  <a:srgbClr val="1F2937"/>
                </a:solidFill>
                <a:latin typeface="Calibri"/>
              </a:rPr>
              <a:t>E-mail receipt and E-mail invoice send the PDF as an attachment, with To, Cc and a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optional automatic e-mail when a receipt is recorded or a bill is issued (off until switched on)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attachment size guard; attachment names shown in the E-mail Outbox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Collections  </a:t>
            </a:r>
            <a:r>
              <a:rPr sz="1300">
                <a:solidFill>
                  <a:srgbClr val="1F2937"/>
                </a:solidFill>
                <a:latin typeface="Calibri"/>
              </a:rPr>
              <a:t>ageing by bucket, payment reminders before the due date and then on repeat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Credit Control  </a:t>
            </a:r>
            <a:r>
              <a:rPr sz="1300">
                <a:solidFill>
                  <a:srgbClr val="1F2937"/>
                </a:solidFill>
                <a:latin typeface="Calibri"/>
              </a:rPr>
              <a:t>Instalment Plans, Premium Warranty Monitor, Client Credit Limits, Remittance Ageing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Open entry matching  </a:t>
            </a:r>
            <a:r>
              <a:rPr sz="1300">
                <a:solidFill>
                  <a:srgbClr val="1F2937"/>
                </a:solidFill>
                <a:latin typeface="Calibri"/>
              </a:rPr>
              <a:t>match, unmatch and write off small differences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Official receipt, premium invoice, SOA / Premium Receivable, Receivables Ageing, Collection Report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602" y="1143000"/>
            <a:ext cx="3751449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Receipts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2514" y="3840480"/>
            <a:ext cx="3421625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Credit Control &gt; Premium Warranty Monitor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Remittance to insurers and direct bill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Second approver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Automated Processing  </a:t>
            </a:r>
            <a:r>
              <a:rPr sz="1300">
                <a:solidFill>
                  <a:srgbClr val="1F2937"/>
                </a:solidFill>
                <a:latin typeface="Calibri"/>
              </a:rPr>
              <a:t>draft remittances per insurer from collected, unremitted premium, net of commission, by share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Due dates  </a:t>
            </a:r>
            <a:r>
              <a:rPr sz="1300">
                <a:solidFill>
                  <a:srgbClr val="1F2937"/>
                </a:solidFill>
                <a:latin typeface="Calibri"/>
              </a:rPr>
              <a:t>from each insurer's remittance terms (days after collection)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Approval Workflow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remittances, settlements, transfers and adjustments approved by another user, levels by amount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Settlement  </a:t>
            </a:r>
            <a:r>
              <a:rPr sz="1300">
                <a:solidFill>
                  <a:srgbClr val="1F2937"/>
                </a:solidFill>
                <a:latin typeface="Calibri"/>
              </a:rPr>
              <a:t>raises the insurer payment voucher; bank result of the transfer recorded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Statements and 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remittance statements for insurers; matching with the bank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Direct bill  </a:t>
            </a:r>
            <a:r>
              <a:rPr sz="1300">
                <a:solidFill>
                  <a:srgbClr val="1F2937"/>
                </a:solidFill>
                <a:latin typeface="Calibri"/>
              </a:rPr>
              <a:t>the client pays the insurer; the broker bills commission plus 12% VAT on a debit note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the insurer pays net of 10% EWT and issues BIR Form 2307; the debit note e-mail carries the PDF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Remittance statement, Remittance Summary, Due to Insurers by Co-insurer, Aged Payables to Insurers, Commission Receivable (Direct Bill)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2791" y="1143000"/>
            <a:ext cx="3741072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Tracking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Remittance &gt; Direct Bill Processing &gt; Debit Notes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Commission and incentives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49754" y="1143000"/>
            <a:ext cx="166759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49754" y="1143000"/>
            <a:ext cx="166759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Sales &amp; Marketing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Rate Matrix  </a:t>
            </a:r>
            <a:r>
              <a:rPr sz="1300">
                <a:solidFill>
                  <a:srgbClr val="1F2937"/>
                </a:solidFill>
                <a:latin typeface="Calibri"/>
              </a:rPr>
              <a:t>commission rates by insurer and product, with referrer sharing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Commission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brokerage income, commission to referrers, net margin, outstanding payable, WHT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 payouts  </a:t>
            </a:r>
            <a:r>
              <a:rPr sz="1300">
                <a:solidFill>
                  <a:srgbClr val="1F2937"/>
                </a:solidFill>
                <a:latin typeface="Calibri"/>
              </a:rPr>
              <a:t>payable only when the premium is fully collected and the referrer has a bank account on file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paid by payment voucher less EWT (5% individual, 10% corporate), approved by a second user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Referrers do not sign in  </a:t>
            </a:r>
            <a:r>
              <a:rPr sz="1300">
                <a:solidFill>
                  <a:srgbClr val="1F2937"/>
                </a:solidFill>
                <a:latin typeface="Calibri"/>
              </a:rPr>
              <a:t>Sales &amp; Marketing enter their business; they are paid from the referrer master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Incentive programmes  </a:t>
            </a:r>
            <a:r>
              <a:rPr sz="1300">
                <a:solidFill>
                  <a:srgbClr val="1F2937"/>
                </a:solidFill>
                <a:latin typeface="Calibri"/>
              </a:rPr>
              <a:t>premium volume, policy count, renewal rate or conversion targets for account executives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Accounting calculates, a second Accounting user approves; Accounting cannot change the programmes it pays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Broker Commission Statement, Incentive Results, BIR Form 2307 for payees</a:t>
            </a:r>
          </a:p>
        </p:txBody>
      </p:sp>
      <p:pic>
        <p:nvPicPr>
          <p:cNvPr id="18" name="Picture 17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7108" y="1143000"/>
            <a:ext cx="5132438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9" name="TextBox 18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Commission &gt; Commission Dashboard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7622" y="3840480"/>
            <a:ext cx="29914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Incentive &gt; Calculations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FINANCE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Accounting, period end and reconciliation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5074920" cy="512064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Posting rules and account determination  </a:t>
            </a:r>
            <a:r>
              <a:rPr sz="1250">
                <a:solidFill>
                  <a:srgbClr val="1F2937"/>
                </a:solidFill>
                <a:latin typeface="Calibri"/>
              </a:rPr>
              <a:t>each business event posts by its rule; changes approved in Configuration Approvals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Journals  </a:t>
            </a:r>
            <a:r>
              <a:rPr sz="1250">
                <a:solidFill>
                  <a:srgbClr val="1F2937"/>
                </a:solidFill>
                <a:latin typeface="Calibri"/>
              </a:rPr>
              <a:t>journal vouchers, correction and reversal JVs, recurring journals, all with maker-checker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Month-End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one run per period: accruals, recurring journals, commission deferral, FX revaluation, then the close checklist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Period control  </a:t>
            </a:r>
            <a:r>
              <a:rPr sz="1250">
                <a:solidFill>
                  <a:srgbClr val="1F2937"/>
                </a:solidFill>
                <a:latin typeface="Calibri"/>
              </a:rPr>
              <a:t>soft close, close and lock; postings into a soft-closed period only by the Accounting Manager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Year-End Close  </a:t>
            </a:r>
            <a:r>
              <a:rPr sz="1250">
                <a:solidFill>
                  <a:srgbClr val="1F2937"/>
                </a:solidFill>
                <a:latin typeface="Calibri"/>
              </a:rPr>
              <a:t>income and expense to retained earnings in adjustment period 13; financial statements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Bank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statement import (BDO, BPI, Metrobank, generic formats), auto-match, bank items, stale cheques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Insurer Reconciliation  </a:t>
            </a:r>
            <a:r>
              <a:rPr sz="1250">
                <a:solidFill>
                  <a:srgbClr val="1F2937"/>
                </a:solidFill>
                <a:latin typeface="Calibri"/>
              </a:rPr>
              <a:t>insurer statements of account imported and matched to the broker's remittances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Go-live balances  </a:t>
            </a:r>
            <a:r>
              <a:rPr sz="1250">
                <a:solidFill>
                  <a:srgbClr val="1F2937"/>
                </a:solidFill>
                <a:latin typeface="Calibri"/>
              </a:rPr>
              <a:t>opening trial balance and open items imported with templates</a:t>
            </a:r>
          </a:p>
        </p:txBody>
      </p:sp>
      <p:pic>
        <p:nvPicPr>
          <p:cNvPr id="11" name="Picture 10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4156" y="1143000"/>
            <a:ext cx="5115600" cy="22402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5852160" y="3429000"/>
            <a:ext cx="587959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Bank Reconciliation &gt; Reconciliation Workspace</a:t>
            </a:r>
          </a:p>
        </p:txBody>
      </p:sp>
      <p:pic>
        <p:nvPicPr>
          <p:cNvPr id="13" name="Picture 12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2160" y="3794760"/>
            <a:ext cx="2880360" cy="1777877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852160" y="5618357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Period End &gt; Month-End Close</a:t>
            </a:r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1392" y="3794760"/>
            <a:ext cx="2880360" cy="1899547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8851392" y="5740027"/>
            <a:ext cx="288036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Insurer Reconciliation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COMPLIANCE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BIR tax working papers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234440"/>
          <a:ext cx="5760720" cy="26883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40280"/>
                <a:gridCol w="2331720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BIR return or attachment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Report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Period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2550M / 2550Q VAT return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VAT Summary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Month or 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SLSP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SLSP Sales, SLSP Purchases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1601-EQ with 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QAP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Income tax return with 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SAWT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to payees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Issued by us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Form 2307 from insurers, clients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BIR Form 2307, Received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Quarter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114800"/>
            <a:ext cx="5760720" cy="21945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Premium taxes  </a:t>
            </a:r>
            <a:r>
              <a:rPr sz="1250">
                <a:solidFill>
                  <a:srgbClr val="1F2937"/>
                </a:solidFill>
                <a:latin typeface="Calibri"/>
              </a:rPr>
              <a:t>VAT, documentary stamp tax, local government tax per city or municipality and fire service tax, set per line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Tax codes with ATC  </a:t>
            </a:r>
            <a:r>
              <a:rPr sz="1250">
                <a:solidFill>
                  <a:srgbClr val="1F2937"/>
                </a:solidFill>
                <a:latin typeface="Calibri"/>
              </a:rPr>
              <a:t>Master &gt; Finance &gt; Taxation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Withholding  </a:t>
            </a:r>
            <a:r>
              <a:rPr sz="1250">
                <a:solidFill>
                  <a:srgbClr val="1F2937"/>
                </a:solidFill>
                <a:latin typeface="Calibri"/>
              </a:rPr>
              <a:t>EWT on commission paid to referrers; 10% withheld by insurers on direct-bill commission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250">
                <a:solidFill>
                  <a:srgbClr val="0F4761"/>
                </a:solidFill>
                <a:latin typeface="Calibri"/>
              </a:rPr>
              <a:t>Output  </a:t>
            </a:r>
            <a:r>
              <a:rPr sz="1250">
                <a:solidFill>
                  <a:srgbClr val="1F2937"/>
                </a:solidFill>
                <a:latin typeface="Calibri"/>
              </a:rPr>
              <a:t>every report as Excel, CSV or PDF on the company letterhead</a:t>
            </a:r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2255" y="1234440"/>
            <a:ext cx="4619481" cy="2377439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3" name="TextBox 12"/>
          <p:cNvSpPr txBox="1"/>
          <p:nvPr/>
        </p:nvSpPr>
        <p:spPr>
          <a:xfrm>
            <a:off x="6492240" y="3657599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BIR Form 2307</a:t>
            </a:r>
          </a:p>
        </p:txBody>
      </p:sp>
      <p:pic>
        <p:nvPicPr>
          <p:cNvPr id="14" name="Picture 1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92240" y="4023360"/>
            <a:ext cx="5239512" cy="177511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15" name="TextBox 14"/>
          <p:cNvSpPr txBox="1"/>
          <p:nvPr/>
        </p:nvSpPr>
        <p:spPr>
          <a:xfrm>
            <a:off x="6492240" y="5844190"/>
            <a:ext cx="523951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Accounts &gt; Tax &gt; VAT Summary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MANAGEMENT INFORMATION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Reports and dashboards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39 catalogue reports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5087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Production and placement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76479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Production Register, Premium by Product / Month / Insurer, New Business vs Renewals, Lead Conversion Funnel, Placement Pipeline, Market Response, Co-insurance Register, Cession Register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40863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29514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Claims and renewals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2551176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Claims Position, Claims Ageing, Renewal Retention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27248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081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Insurers and commission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337560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Remittance Summary, Broker Commission Statement, Commission Receivable (Direct Bill), Due to Insurers by Co-insurer, Aged Payables to Insurers, Incentive Results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913632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86791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Receivables and cash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123944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SOA / Premium Receivable, Receivables Ageing, Collection Report, Receipts Register, Payables / Disbursement Register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00016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6542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Ledger and period end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10328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Journal Register, Trial Balance, Trial Balance Movement, General Ledger Detail, Income Statement, Balance Sheet, Month-End Close Status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486399"/>
            <a:ext cx="73152" cy="64008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544067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BIR tax and bank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696712"/>
            <a:ext cx="5486400" cy="5120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VAT Summary, SAWT, QAP, SLSP Sales and Purchases; Bank Reconciliation Statement, Outstanding Cheques, Deposits in Transit, Unmatched Bank Lines, Bank Book</a:t>
            </a:r>
          </a:p>
        </p:txBody>
      </p:sp>
      <p:pic>
        <p:nvPicPr>
          <p:cNvPr id="29" name="Picture 28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1839" y="1143000"/>
            <a:ext cx="4488872" cy="246888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6400800" y="3657600"/>
            <a:ext cx="5330952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Dashboard &gt; Executive Dashboard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4069080"/>
            <a:ext cx="5330952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Dashboards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370832"/>
            <a:ext cx="5330952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Executive, Sales, Processing, Claims and Commission dashboards, plus the collections, renewal, remittance, reinsurance and product analytics screens. Figures are live and filtered by period.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349240"/>
            <a:ext cx="5330952" cy="914400"/>
          </a:xfrm>
          <a:prstGeom prst="roundRect">
            <a:avLst>
              <a:gd name="adj" fmla="val 5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539496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report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Preview on screen with totals, then Excel, CSV or PDF on the letterhead. Access by role. The Production Register, Collection Report and Claims Position are generated every morning.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MODULE WALK-THROUGH: SPECIALTY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Reinsurance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1430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Who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0120" y="1143000"/>
            <a:ext cx="1510131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1143000"/>
            <a:ext cx="1510131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Processing Team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3403" y="1143000"/>
            <a:ext cx="801563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3403" y="1143000"/>
            <a:ext cx="80156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Claims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18118" y="1143000"/>
            <a:ext cx="1116482" cy="274320"/>
          </a:xfrm>
          <a:prstGeom prst="roundRect">
            <a:avLst>
              <a:gd name="adj" fmla="val 5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8118" y="1143000"/>
            <a:ext cx="111648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0F4761"/>
                </a:solidFill>
                <a:latin typeface="Calibri"/>
              </a:rPr>
              <a:t>Accounting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1554480"/>
            <a:ext cx="5074920" cy="4023359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master  </a:t>
            </a:r>
            <a:r>
              <a:rPr sz="1300">
                <a:solidFill>
                  <a:srgbClr val="1F2937"/>
                </a:solidFill>
                <a:latin typeface="Calibri"/>
              </a:rPr>
              <a:t>quota share, surplus, excess of loss and stop loss; reinsurers, shares and period</a:t>
            </a:r>
          </a:p>
          <a:p>
            <a:pPr marL="384048" indent="-182880">
              <a:spcAft>
                <a:spcPts val="500"/>
              </a:spcAft>
              <a:buClr>
                <a:srgbClr val="5B6778"/>
              </a:buClr>
              <a:buFont typeface="Arial"/>
              <a:buChar char="–"/>
            </a:pPr>
            <a:r>
              <a:rPr sz="1200">
                <a:solidFill>
                  <a:srgbClr val="5B6778"/>
                </a:solidFill>
                <a:latin typeface="Calibri"/>
              </a:rPr>
              <a:t>a new or changed treaty needs a second user's approval; reinsurers rated A- or better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Treaty Dashboard  </a:t>
            </a:r>
            <a:r>
              <a:rPr sz="1300">
                <a:solidFill>
                  <a:srgbClr val="1F2937"/>
                </a:solidFill>
                <a:latin typeface="Calibri"/>
              </a:rPr>
              <a:t>active treaties, capacity, utilisation, premium ceded and claims recovered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Cession Tracking  </a:t>
            </a:r>
            <a:r>
              <a:rPr sz="1300">
                <a:solidFill>
                  <a:srgbClr val="1F2937"/>
                </a:solidFill>
                <a:latin typeface="Calibri"/>
              </a:rPr>
              <a:t>policies ceded per treaty with cession %, ceded premium and commission; bordereau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Claims Recovery  </a:t>
            </a:r>
            <a:r>
              <a:rPr sz="1300">
                <a:solidFill>
                  <a:srgbClr val="1F2937"/>
                </a:solidFill>
                <a:latin typeface="Calibri"/>
              </a:rPr>
              <a:t>amounts recoverable under treaties; register the recovery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Reconciliation  </a:t>
            </a:r>
            <a:r>
              <a:rPr sz="1300">
                <a:solidFill>
                  <a:srgbClr val="1F2937"/>
                </a:solidFill>
                <a:latin typeface="Calibri"/>
              </a:rPr>
              <a:t>our figures against the reinsurer's statement; variances above 1% flagged for review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300">
                <a:solidFill>
                  <a:srgbClr val="0F4761"/>
                </a:solidFill>
                <a:latin typeface="Calibri"/>
              </a:rPr>
              <a:t>Posting  </a:t>
            </a:r>
            <a:r>
              <a:rPr sz="1300">
                <a:solidFill>
                  <a:srgbClr val="1F2937"/>
                </a:solidFill>
                <a:latin typeface="Calibri"/>
              </a:rPr>
              <a:t>confirmed cessions and settled recoveries post through their posting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577840"/>
            <a:ext cx="5074920" cy="65836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614416"/>
            <a:ext cx="4800600" cy="60350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Outputs  </a:t>
            </a:r>
            <a:r>
              <a:rPr sz="1050" b="0" i="0">
                <a:solidFill>
                  <a:srgbClr val="1F2937"/>
                </a:solidFill>
                <a:latin typeface="Calibri"/>
              </a:rPr>
              <a:t>Reinsurance Cession Register, bordereaux (CSV), reinsurance analytics</a:t>
            </a:r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567" y="1143000"/>
            <a:ext cx="3869521" cy="233172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5852159" y="352044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Treaty Dashboard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98273" y="3840480"/>
            <a:ext cx="3990109" cy="2194560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5852159" y="6080760"/>
            <a:ext cx="5882335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Reinsurance &gt; Cession Tracking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Controls built in: maker-checker and signing authority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583680" cy="47183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26080"/>
                <a:gridCol w="1737360"/>
                <a:gridCol w="1920240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Transaction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Checker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approval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Quotation 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Renewal terms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Operations, Sales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 settlement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Journal voucher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Payment voucher, cheque, commission payout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Remittance, settlement, adjustment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user, level by amount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Direct-bill debit note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Accounting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Bank and insurer reconciliation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Posting rule, account determination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Accounting, Admin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Second approver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Reinsurance treaty, incentive batch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Creator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Another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200" y="1188720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1188720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252728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Authority Matrix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1536192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approval limits in PHP per transaction type and role or user; a new limit needs a second administrator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0" y="2212848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2212848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43800" y="2276856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Delegations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0" y="2560320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time-bound, revocable delegation of approval authority for leave or travel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3236976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315200" y="3236976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3800" y="3300984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Segregation of Duties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43800" y="3584448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rules on pairs of roles checked at assignment: block or warn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0" y="4261104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15200" y="4261104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4325112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Access Reviews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43800" y="4608576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recertification of every active user; revoke signs the user out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15200" y="5285232"/>
            <a:ext cx="4416552" cy="91440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5285232"/>
            <a:ext cx="73152" cy="91440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543800" y="5349240"/>
            <a:ext cx="4069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Period control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5632704"/>
            <a:ext cx="406908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no posting into closed or locked periods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Approval notifications and audit trail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  Maker submits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payment voucher, JV, remittance, close run, rule change ...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999232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310128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10128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  Approvers notified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9856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bell notification to every user who can approve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852160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63056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63056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6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  Checker decides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2784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 or reject with a reason; never the maker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705088" y="1783080"/>
            <a:ext cx="274320" cy="22860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015984" y="1234440"/>
            <a:ext cx="2514600" cy="1325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15984" y="1234440"/>
            <a:ext cx="2514600" cy="411480"/>
          </a:xfrm>
          <a:prstGeom prst="roundRect">
            <a:avLst>
              <a:gd name="adj" fmla="val 3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15984" y="1234440"/>
            <a:ext cx="2514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  Maker told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5711" y="1719072"/>
            <a:ext cx="2295144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0" i="0">
                <a:solidFill>
                  <a:srgbClr val="1F2937"/>
                </a:solidFill>
                <a:latin typeface="Calibri"/>
              </a:rPr>
              <a:t>approved and in effect, or rejected with the reason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2724912"/>
            <a:ext cx="4040733" cy="274320"/>
          </a:xfrm>
          <a:prstGeom prst="roundRect">
            <a:avLst>
              <a:gd name="adj" fmla="val 50000"/>
            </a:avLst>
          </a:prstGeom>
          <a:solidFill>
            <a:srgbClr val="E5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24912"/>
            <a:ext cx="4040733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1E7B4A"/>
                </a:solidFill>
                <a:latin typeface="Calibri"/>
              </a:rPr>
              <a:t>New in this release: every maker-checker 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24912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 switch: notification.approval_requests (on in the delivered set-up)</a:t>
            </a:r>
          </a:p>
        </p:txBody>
      </p:sp>
      <p:pic>
        <p:nvPicPr>
          <p:cNvPr id="32" name="Picture 31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00400"/>
            <a:ext cx="3657600" cy="1929699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457200" y="5175819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Notification page: requests and decisions</a:t>
            </a:r>
          </a:p>
        </p:txBody>
      </p:sp>
      <p:pic>
        <p:nvPicPr>
          <p:cNvPr id="34" name="Picture 33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3400" y="3200400"/>
            <a:ext cx="3931920" cy="2162556"/>
          </a:xfrm>
          <a:prstGeom prst="rect">
            <a:avLst/>
          </a:prstGeom>
          <a:ln w="9525">
            <a:solidFill>
              <a:srgbClr val="D5DEEA"/>
            </a:solidFill>
          </a:ln>
        </p:spPr>
      </p:pic>
      <p:sp>
        <p:nvSpPr>
          <p:cNvPr id="35" name="TextBox 34"/>
          <p:cNvSpPr txBox="1"/>
          <p:nvPr/>
        </p:nvSpPr>
        <p:spPr>
          <a:xfrm>
            <a:off x="4343400" y="5408676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1">
                <a:solidFill>
                  <a:srgbClr val="5B6778"/>
                </a:solidFill>
                <a:latin typeface="Calibri"/>
              </a:rPr>
              <a:t>Master &gt; Audit Trail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3200400"/>
            <a:ext cx="3246120" cy="31089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Audit Trail  </a:t>
            </a:r>
            <a:r>
              <a:rPr sz="1150">
                <a:solidFill>
                  <a:srgbClr val="1F2937"/>
                </a:solidFill>
                <a:latin typeface="Calibri"/>
              </a:rPr>
              <a:t>user, record, action, before and after values, IP and time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Sign-in history  </a:t>
            </a:r>
            <a:r>
              <a:rPr sz="1150">
                <a:solidFill>
                  <a:srgbClr val="1F2937"/>
                </a:solidFill>
                <a:latin typeface="Calibri"/>
              </a:rPr>
              <a:t>every attempt with result and reason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E-mail Outbox  </a:t>
            </a:r>
            <a:r>
              <a:rPr sz="1150">
                <a:solidFill>
                  <a:srgbClr val="1F2937"/>
                </a:solidFill>
                <a:latin typeface="Calibri"/>
              </a:rPr>
              <a:t>every e-mail queued and sent, with attachments</a:t>
            </a:r>
          </a:p>
          <a:p>
            <a:pPr marL="201168" indent="-182880">
              <a:spcAft>
                <a:spcPts val="5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User Access Matrix  </a:t>
            </a:r>
            <a:r>
              <a:rPr sz="1150">
                <a:solidFill>
                  <a:srgbClr val="1F2937"/>
                </a:solidFill>
                <a:latin typeface="Calibri"/>
              </a:rPr>
              <a:t>roles, status, last sign-in, two-factor, downloadable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DATA PRIVACY ACT OF 2012 (RA 10173)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Data privacy and security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Data privacy: new in this release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63624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1508760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 purpose: processing, marketing, sharing with insurers; channel, notice version, evidence; withdrawals kept in the history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67128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Consent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112264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consents given, refused and withdrawn across clients and prospects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70632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15768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Data Subject Requests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2715768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access, rectification, erasure or blocking, objection, portability, withdrawal of consent; numbered, due date, assignee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374136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19272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Export personal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319272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everything held about a client or prospect, as JSON or Excel, noted on the request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77639"/>
            <a:ext cx="73152" cy="475488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22776"/>
            <a:ext cx="201168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250" b="1" i="0">
                <a:solidFill>
                  <a:srgbClr val="0B2A4A"/>
                </a:solidFill>
                <a:latin typeface="Calibri"/>
              </a:rPr>
              <a:t>Anonymise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3922776"/>
            <a:ext cx="4206240" cy="58521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personal fields overwritten in the party, its policies, quotations, claims and slips; refused while records must be kept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6177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A data subject request in the system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Logged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DSR- number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892808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084832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084832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Assigned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notified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3520440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712464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12464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Export, correct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or anonymise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5148072" y="5276088"/>
            <a:ext cx="173736" cy="18288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40096" y="4983480"/>
            <a:ext cx="1417320" cy="777240"/>
          </a:xfrm>
          <a:prstGeom prst="roundRect">
            <a:avLst>
              <a:gd name="adj" fmla="val 10000"/>
            </a:avLst>
          </a:prstGeom>
          <a:solidFill>
            <a:srgbClr val="E6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0096" y="4983480"/>
            <a:ext cx="1417320" cy="7772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Closed</a:t>
            </a:r>
          </a:p>
          <a:p>
            <a:pPr algn="ctr"/>
            <a:r>
              <a:rPr sz="1100" b="1" i="0">
                <a:solidFill>
                  <a:srgbClr val="0F4761"/>
                </a:solidFill>
                <a:latin typeface="Calibri"/>
              </a:rPr>
              <a:t>with outcome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852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Overdue requests reminded daily. Retention years, due days and notice version are settings for the broker's DPO.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178040" y="1097280"/>
            <a:ext cx="4553712" cy="5193792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06640" y="1207008"/>
            <a:ext cx="4206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Security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1627632"/>
            <a:ext cx="4251960" cy="45720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Named users only  </a:t>
            </a:r>
            <a:r>
              <a:rPr sz="1150">
                <a:solidFill>
                  <a:srgbClr val="1F2937"/>
                </a:solidFill>
                <a:latin typeface="Calibri"/>
              </a:rPr>
              <a:t>no shared or referrer sign-in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Passwords  </a:t>
            </a:r>
            <a:r>
              <a:rPr sz="1150">
                <a:solidFill>
                  <a:srgbClr val="1F2937"/>
                </a:solidFill>
                <a:latin typeface="Calibri"/>
              </a:rPr>
              <a:t>8+ characters, mixed case, digit and symbol, history of 5, 90-day age; lockout after 5 tries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Two-factor  </a:t>
            </a:r>
            <a:r>
              <a:rPr sz="1150">
                <a:solidFill>
                  <a:srgbClr val="1F2937"/>
                </a:solidFill>
                <a:latin typeface="Calibri"/>
              </a:rPr>
              <a:t>TOTP authenticator app, compulsory per role when set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Sessions  </a:t>
            </a:r>
            <a:r>
              <a:rPr sz="1150">
                <a:solidFill>
                  <a:srgbClr val="1F2937"/>
                </a:solidFill>
                <a:latin typeface="Calibri"/>
              </a:rPr>
              <a:t>30-minute access token, idle sign-out, sessions ended on password or role change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Permissions  </a:t>
            </a:r>
            <a:r>
              <a:rPr sz="1150">
                <a:solidFill>
                  <a:srgbClr val="1F2937"/>
                </a:solidFill>
                <a:latin typeface="Calibri"/>
              </a:rPr>
              <a:t>checked by the server on every request, not only hidden in the menu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Encryption  </a:t>
            </a:r>
            <a:r>
              <a:rPr sz="1150">
                <a:solidFill>
                  <a:srgbClr val="1F2937"/>
                </a:solidFill>
                <a:latin typeface="Calibri"/>
              </a:rPr>
              <a:t>TLS in transit; storage encryption of database, files and backups recommended on every option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Application  </a:t>
            </a:r>
            <a:r>
              <a:rPr sz="1150">
                <a:solidFill>
                  <a:srgbClr val="1F2937"/>
                </a:solidFill>
                <a:latin typeface="Calibri"/>
              </a:rPr>
              <a:t>controls mapped to the OWASP Top 10; signed, expiring file links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Breach support  </a:t>
            </a:r>
            <a:r>
              <a:rPr sz="1150">
                <a:solidFill>
                  <a:srgbClr val="1F2937"/>
                </a:solidFill>
                <a:latin typeface="Calibri"/>
              </a:rPr>
              <a:t>facts from logs and audit data so the DPO can notify within 72 hours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PERSONA 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Who does what: the seven delivered roles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11274552" cy="453542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5330952"/>
                <a:gridCol w="38404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Daily work in iNXT BrokerVerse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Approves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System Administrator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Users and roles, masters, configuration, document numbering, schedules, data privacy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Authority limits (second admin), configuration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Sales &amp; Marketing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Prospects, quotations, payment capture, referrer business, renewal follow-up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Takes part in incentive programmes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Processing Team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Broker Slips, Placement Slips, policy issue, endorsements, reinsurance, product configurator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Quotations, renewal terms, treaties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Operations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Client servicing, endorsements, renewals, payment capture, data subject requests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Claims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Claim registration, follow-up with insurers, settlement, reinsurance recoveries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Settlements of another Claims user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Accounting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Receipts, collections, disbursements, remittance, commission, journals, reconciliation, BIR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Vouchers, JVs, remittances, debit notes, incentives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Accounting Manager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Everything Accounting does, plus period control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Month-end and year-end close, bank and insurer reconciliation, credit control, posting rules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5897880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Each role lands on its own dashboard. Roles can be added or adjusted in Master &gt; Generals &gt; User Management, with Role Permissions and the User Access Matrix for review.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Technology and deployment options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097280"/>
            <a:ext cx="4114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Technology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554480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087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Web 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176479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React 18 single-page application in the browser; no client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176272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13055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2386584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Node.js 22 with Express; stateless REST API, OpenAPI and Postman collection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798063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752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Database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008376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PostgreSQL 16, time zone Asia/Manila; file store for documents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37413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Scheduler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630168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built-in jobs in Manila time: expiries, notices, reminders, e-mail, reports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041648"/>
            <a:ext cx="73152" cy="51206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3995928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Run 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42519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containers (Docker) or Node.js with a process manager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1097280"/>
            <a:ext cx="68580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0F4761"/>
                </a:solidFill>
                <a:latin typeface="Calibri"/>
              </a:rPr>
              <a:t>Deployment options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4632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84632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AWS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1947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Singapore region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947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ECS Fargate, RDS PostgreSQL Multi-AZ, S3 and CloudFront, WAF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79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583679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79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Microsoft Azure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56831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Southeast Asia (Singapore)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56831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Container Apps, PostgreSQL Flexible Server, Front Door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104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32104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Local partner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9419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Data held in the Philippines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VMs with a Philippine hosting partner, second site for DR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058400" y="1508760"/>
            <a:ext cx="1627632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058400" y="1508760"/>
            <a:ext cx="1627632" cy="384048"/>
          </a:xfrm>
          <a:prstGeom prst="roundRect">
            <a:avLst>
              <a:gd name="adj" fmla="val 2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0" y="1508760"/>
            <a:ext cx="162763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On-premise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1552" y="1938528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50" b="1" i="0">
                <a:solidFill>
                  <a:srgbClr val="0072D8"/>
                </a:solidFill>
                <a:latin typeface="Calibri"/>
              </a:rPr>
              <a:t>Broker's data centre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31552" y="2423160"/>
            <a:ext cx="1481328" cy="10515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000" b="0" i="0">
                <a:solidFill>
                  <a:srgbClr val="1F2937"/>
                </a:solidFill>
                <a:latin typeface="Calibri"/>
              </a:rPr>
              <a:t>Broker hosts at no fee; deployment guide and set-up support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846320" y="370332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Indicative hosting price per month (optional, PHP, excl. VAT, estimates)</a:t>
            </a:r>
          </a:p>
        </p:txBody>
      </p:sp>
      <p:graphicFrame>
        <p:nvGraphicFramePr>
          <p:cNvPr id="48" name="Table 47"/>
          <p:cNvGraphicFramePr>
            <a:graphicFrameLocks noGrp="1"/>
          </p:cNvGraphicFramePr>
          <p:nvPr/>
        </p:nvGraphicFramePr>
        <p:xfrm>
          <a:off x="4846320" y="4023360"/>
          <a:ext cx="6885432" cy="16459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21992"/>
                <a:gridCol w="1554480"/>
                <a:gridCol w="1554480"/>
                <a:gridCol w="1554480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Tier (named users)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AWS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Azure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Local partner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31,000.00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28,000.00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65,000.00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59,000.00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112,000.00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118,000.00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107,000.00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244,000.00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256,000.00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232,000.00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9" name="TextBox 48"/>
          <p:cNvSpPr txBox="1"/>
          <p:nvPr/>
        </p:nvSpPr>
        <p:spPr>
          <a:xfrm>
            <a:off x="457200" y="4800600"/>
            <a:ext cx="4114800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F4761"/>
                </a:solidFill>
                <a:latin typeface="Calibri"/>
              </a:rPr>
              <a:t>Every option  </a:t>
            </a:r>
            <a:r>
              <a:rPr sz="1100" b="0" i="0">
                <a:solidFill>
                  <a:srgbClr val="1F2937"/>
                </a:solidFill>
                <a:latin typeface="Calibri"/>
              </a:rPr>
              <a:t>separate UAT and production environments, HTTPS, daily backups with point-in-time restore, monitoring, and production with two API instances and a standby database.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5760720"/>
            <a:ext cx="6858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5B6778"/>
                </a:solidFill>
                <a:latin typeface="Calibri"/>
              </a:rPr>
              <a:t>Production, one UAT environment, daily backups, monitoring, patching and certificates included. Self-hosting has no hosting fee.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Implementation approach and timeline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23</a:t>
            </a:r>
          </a:p>
        </p:txBody>
      </p:sp>
      <p:sp>
        <p:nvSpPr>
          <p:cNvPr id="10" name="Pentagon 9"/>
          <p:cNvSpPr/>
          <p:nvPr/>
        </p:nvSpPr>
        <p:spPr>
          <a:xfrm>
            <a:off x="457200" y="1188720"/>
            <a:ext cx="1920240" cy="685800"/>
          </a:xfrm>
          <a:prstGeom prst="homePlat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Mobilise, discovery and fit-gap</a:t>
            </a:r>
          </a:p>
        </p:txBody>
      </p:sp>
      <p:sp>
        <p:nvSpPr>
          <p:cNvPr id="12" name="Chevron 11"/>
          <p:cNvSpPr/>
          <p:nvPr/>
        </p:nvSpPr>
        <p:spPr>
          <a:xfrm>
            <a:off x="2340864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4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Environments and configuration</a:t>
            </a:r>
          </a:p>
        </p:txBody>
      </p:sp>
      <p:sp>
        <p:nvSpPr>
          <p:cNvPr id="14" name="Chevron 13"/>
          <p:cNvSpPr/>
          <p:nvPr/>
        </p:nvSpPr>
        <p:spPr>
          <a:xfrm>
            <a:off x="4224528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4568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Data migration and integrations</a:t>
            </a:r>
          </a:p>
        </p:txBody>
      </p:sp>
      <p:sp>
        <p:nvSpPr>
          <p:cNvPr id="16" name="Chevron 15"/>
          <p:cNvSpPr/>
          <p:nvPr/>
        </p:nvSpPr>
        <p:spPr>
          <a:xfrm>
            <a:off x="6108192" y="1188720"/>
            <a:ext cx="1920240" cy="685800"/>
          </a:xfrm>
          <a:prstGeom prst="chevron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Training, system test and UAT</a:t>
            </a:r>
          </a:p>
        </p:txBody>
      </p:sp>
      <p:sp>
        <p:nvSpPr>
          <p:cNvPr id="18" name="Chevron 17"/>
          <p:cNvSpPr/>
          <p:nvPr/>
        </p:nvSpPr>
        <p:spPr>
          <a:xfrm>
            <a:off x="7991856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11896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Cutover and go-live</a:t>
            </a:r>
          </a:p>
        </p:txBody>
      </p:sp>
      <p:sp>
        <p:nvSpPr>
          <p:cNvPr id="20" name="Chevron 19"/>
          <p:cNvSpPr/>
          <p:nvPr/>
        </p:nvSpPr>
        <p:spPr>
          <a:xfrm>
            <a:off x="9875520" y="1188720"/>
            <a:ext cx="1920240" cy="685800"/>
          </a:xfrm>
          <a:prstGeom prst="chevron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1188720"/>
            <a:ext cx="1325880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Hypercare to first month-end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19456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5B6778"/>
                </a:solidFill>
                <a:latin typeface="Calibri"/>
              </a:rPr>
              <a:t>Week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9806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1868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931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5993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01183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2180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42431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63056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79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0430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24927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4555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6617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07424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8048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19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9295" y="2194560"/>
            <a:ext cx="420623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950" b="0" i="0">
                <a:solidFill>
                  <a:srgbClr val="5B6778"/>
                </a:solidFill>
                <a:latin typeface="Calibri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25877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83464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up to 25 users, 1 office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377440" y="2624328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77440" y="2624328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01183" y="2624328"/>
            <a:ext cx="813815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01183" y="2624328"/>
            <a:ext cx="841247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1" y="2624328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8 weeks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31912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34381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26 to 75 users, up to 3 offices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377440" y="3227832"/>
            <a:ext cx="375818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77440" y="3227832"/>
            <a:ext cx="378561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163056" y="3227832"/>
            <a:ext cx="1234439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63056" y="3227832"/>
            <a:ext cx="1261872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70648" y="3227832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12 weeks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3794760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 (variant)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04164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one office cluster, simple mix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77440" y="3831335"/>
            <a:ext cx="5020055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3831335"/>
            <a:ext cx="5047488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424927" y="3831335"/>
            <a:ext cx="1655063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424927" y="3831335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53144" y="3831335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16 weeks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439826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7200" y="4645152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900" b="0" i="0">
                <a:solidFill>
                  <a:srgbClr val="5B6778"/>
                </a:solidFill>
                <a:latin typeface="Calibri"/>
              </a:rPr>
              <a:t>more than 75 users, many insurers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377440" y="4434840"/>
            <a:ext cx="5861303" cy="384048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77440" y="4434840"/>
            <a:ext cx="5888736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Mobilise to cutover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8266175" y="4434840"/>
            <a:ext cx="2496312" cy="384048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66175" y="4434840"/>
            <a:ext cx="2523744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Hypercare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35640" y="4434840"/>
            <a:ext cx="1097280" cy="38404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050" b="1" i="0">
                <a:solidFill>
                  <a:srgbClr val="0F4761"/>
                </a:solidFill>
                <a:latin typeface="Calibri"/>
              </a:rPr>
              <a:t>20 weeks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45720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9436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Configure, do not customise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9436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masters, settings and templates; gaps go to a register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29184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42900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Data drives the timeline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42900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data requests in week 1; templates for every load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12648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6364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Key users own the result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26364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one key user per team tests, signs and trains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1120" y="5120640"/>
            <a:ext cx="2697480" cy="114300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98280" y="5184648"/>
            <a:ext cx="24231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Evidence for every acceptance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98280" y="5513832"/>
            <a:ext cx="24231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1F2937"/>
                </a:solidFill>
                <a:latin typeface="Calibri"/>
              </a:rPr>
              <a:t>written sign-off at the end of each phase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AFTER GO-LIVE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Support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18872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417320" y="118872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54480" y="124358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Broker key users and System Administrator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53619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How-to, users and roles, password and two-factor resets, settings, master data, ticket with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28600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8600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17320" y="228600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54480" y="234086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application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63347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Triage, reproduction, configuration and data corrections under change control, workarounds, known errors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383280"/>
            <a:ext cx="868680" cy="960120"/>
          </a:xfrm>
          <a:prstGeom prst="roundRect">
            <a:avLst>
              <a:gd name="adj" fmla="val 1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383280"/>
            <a:ext cx="868680" cy="9601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17320" y="3383280"/>
            <a:ext cx="4206240" cy="96012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54480" y="3438144"/>
            <a:ext cx="3977639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0F4761"/>
                </a:solidFill>
                <a:latin typeface="Calibri"/>
              </a:rPr>
              <a:t>iorta TechNXT 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3730752"/>
            <a:ext cx="3977639" cy="5943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Code defects, performance, infrastructure, security incidents, root cause, fixes and releases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57200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Service hours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92040"/>
            <a:ext cx="516636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Standard  </a:t>
            </a:r>
            <a:r>
              <a:rPr sz="1150">
                <a:solidFill>
                  <a:srgbClr val="1F2937"/>
                </a:solidFill>
                <a:latin typeface="Calibri"/>
              </a:rPr>
              <a:t>8:00 to 18:00 Manila time, Monday to Friday, except Philippine regular holidays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Optional  </a:t>
            </a:r>
            <a:r>
              <a:rPr sz="1150">
                <a:solidFill>
                  <a:srgbClr val="1F2937"/>
                </a:solidFill>
                <a:latin typeface="Calibri"/>
              </a:rPr>
              <a:t>24x7 for Severity 1, reported by telephone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Maintenance window  </a:t>
            </a:r>
            <a:r>
              <a:rPr sz="1150">
                <a:solidFill>
                  <a:srgbClr val="1F2937"/>
                </a:solidFill>
                <a:latin typeface="Calibri"/>
              </a:rPr>
              <a:t>agreed with the broker; default Saturday 20:00 to Sunday 06:00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0" y="114300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Severity levels and targets (standard proposal)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5943600" y="1481328"/>
          <a:ext cx="5788152" cy="192024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325880"/>
                <a:gridCol w="1417320"/>
                <a:gridCol w="1691640"/>
                <a:gridCol w="1353312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Severity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First response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Restore or workaround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Update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P1 Critical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30 minutes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4 service hours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hour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P2 High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service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4 hours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P3 Medium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1 business day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5 business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Every 3 days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0F4761"/>
                          </a:solidFill>
                          <a:latin typeface="Calibri"/>
                        </a:rPr>
                        <a:t>P4 Low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2 business days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Weekly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5943600" y="3611880"/>
            <a:ext cx="5788152" cy="265176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P1 examples  </a:t>
            </a:r>
            <a:r>
              <a:rPr sz="1150">
                <a:solidFill>
                  <a:srgbClr val="1F2937"/>
                </a:solidFill>
                <a:latin typeface="Calibri"/>
              </a:rPr>
              <a:t>nobody can sign in, official receipts cannot be issued, journals post wrong amounts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One service desk  </a:t>
            </a:r>
            <a:r>
              <a:rPr sz="1150">
                <a:solidFill>
                  <a:srgbClr val="1F2937"/>
                </a:solidFill>
                <a:latin typeface="Calibri"/>
              </a:rPr>
              <a:t>support portal or mailbox for all tickets, telephone for P1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Monthly service report  </a:t>
            </a:r>
            <a:r>
              <a:rPr sz="1150">
                <a:solidFill>
                  <a:srgbClr val="1F2937"/>
                </a:solidFill>
                <a:latin typeface="Calibri"/>
              </a:rPr>
              <a:t>tickets, targets met, problems, releases, backups and DR drills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Releases  </a:t>
            </a:r>
            <a:r>
              <a:rPr sz="1150">
                <a:solidFill>
                  <a:srgbClr val="1F2937"/>
                </a:solidFill>
                <a:latin typeface="Calibri"/>
              </a:rPr>
              <a:t>tested in UAT with a regression run before production</a:t>
            </a:r>
          </a:p>
          <a:p>
            <a:pPr marL="201168" indent="-182880">
              <a:spcAft>
                <a:spcPts val="400"/>
              </a:spcAft>
              <a:buClr>
                <a:srgbClr val="0072D8"/>
              </a:buClr>
              <a:buFont typeface="Arial"/>
              <a:buChar char="•"/>
            </a:pPr>
            <a:r>
              <a:rPr b="1" sz="1150">
                <a:solidFill>
                  <a:srgbClr val="0F4761"/>
                </a:solidFill>
                <a:latin typeface="Calibri"/>
              </a:rPr>
              <a:t>Covered by AMC or subscription  </a:t>
            </a:r>
            <a:r>
              <a:rPr sz="1150">
                <a:solidFill>
                  <a:srgbClr val="1F2937"/>
                </a:solidFill>
                <a:latin typeface="Calibri"/>
              </a:rPr>
              <a:t>corrections, OOTB updates, regulatory form updates, standard support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Commercial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A: perpetual licence with AMC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One-time licence per named user, payable on go-live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4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691640"/>
                <a:gridCol w="1463040"/>
                <a:gridCol w="213055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Licence per user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Implementation, reference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90,000.00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1,130,000.00 (5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78,000.00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2,090,000.00 (8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66,000.00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3,700,000.00 (12 lines)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54,000.00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5,800,000.00 (16 lines)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40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22% of the licence fee a year, from Year 2 (12-month warranty)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AMC increases 5% each year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Lowest cost over five years: 13% to 18% below subscription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1143000"/>
            <a:ext cx="5559552" cy="397763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0072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72200" y="1143000"/>
            <a:ext cx="5559552" cy="457200"/>
          </a:xfrm>
          <a:prstGeom prst="roundRect">
            <a:avLst>
              <a:gd name="adj" fmla="val 20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1143000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Model B: subscription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1664208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 i="0">
                <a:solidFill>
                  <a:srgbClr val="5B6778"/>
                </a:solidFill>
                <a:latin typeface="Calibri"/>
              </a:rPr>
              <a:t>Per named user per month, billed monthly in advance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309360" y="1993392"/>
          <a:ext cx="5285232" cy="150876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83080"/>
                <a:gridCol w="1737360"/>
                <a:gridCol w="1764792"/>
              </a:tblGrid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Per user per month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Minimum billable users</a:t>
                      </a:r>
                    </a:p>
                  </a:txBody>
                  <a:tcPr marL="64008" marR="64008" marT="27432" marB="27432" anchor="ctr">
                    <a:solidFill>
                      <a:srgbClr val="0072D8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Small (1 to 25)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3,200.00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Medium (26 to 100)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2,800.00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Large (101 to 300)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2,400.00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0F4761"/>
                          </a:solidFill>
                          <a:latin typeface="Calibri"/>
                        </a:rPr>
                        <a:t>Enterprise (above 300)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PHP 2,000.00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355080" y="3657600"/>
            <a:ext cx="5212080" cy="137160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Increases 5% at each contract anniversary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Onboarding fee equal to the implementation fee</a:t>
            </a:r>
          </a:p>
          <a:p>
            <a:pPr marL="201168" indent="-182880">
              <a:spcAft>
                <a:spcPts val="3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Lower Year 1 cash; break-even with perpetual in Year 4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Implementation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Base man-days by tier plus 6 per extra line of business, at PHP 16,100.00 a day. Payable 40% signing, 40% UAT sign-off, 20% go-live.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61104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98264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Infrastructure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98264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Optional and quoted separately: AWS, Azure or local partner. Self-hosting has no fee.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65008" y="5257800"/>
            <a:ext cx="3657600" cy="1024128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02168" y="5294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00" b="1" i="0">
                <a:solidFill>
                  <a:srgbClr val="0F4761"/>
                </a:solidFill>
                <a:latin typeface="Calibri"/>
              </a:rPr>
              <a:t>Change requests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5559552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Day rates: BA PHP 18,000.00, developer PHP 16,000.00, QA PHP 12,000.00, PM PHP 22,000.00. Example: 5 days, PHP 81,050.00.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COMMERCIALS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Indicative investment for reference brokers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188720"/>
          <a:ext cx="6949440" cy="22860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31720"/>
                <a:gridCol w="1691640"/>
                <a:gridCol w="1783080"/>
                <a:gridCol w="11430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Reference broker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Perpetual,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Subscription, 5 years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Break-even</a:t>
                      </a:r>
                    </a:p>
                  </a:txBody>
                  <a:tcPr marL="64008" marR="64008" marT="27432" marB="27432" anchor="ctr">
                    <a:solidFill>
                      <a:srgbClr val="0F4761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Small: 15 users, 5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3,760,107.00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4,312,764.00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Medium: 60 users, 8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11,792,173.00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13,892,748.00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Large: 180 users, 12 lines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29,767,284.00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35,660,251.00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FFFFF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F4761"/>
                          </a:solidFill>
                          <a:latin typeface="Calibri"/>
                        </a:rPr>
                        <a:t>Enterprise: 400 users, 16 lines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57,817,674.00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PHP 70,118,348.00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F2937"/>
                          </a:solidFill>
                          <a:latin typeface="Calibri"/>
                        </a:rPr>
                        <a:t>Year 4</a:t>
                      </a:r>
                    </a:p>
                  </a:txBody>
                  <a:tcPr marL="64008" marR="64008" marT="27432" marB="27432" anchor="ctr">
                    <a:solidFill>
                      <a:srgbClr val="F3F6FA"/>
                    </a:solidFill>
                    <a:lnL w="6350">
                      <a:solidFill>
                        <a:srgbClr val="D5DEEA"/>
                      </a:solidFill>
                    </a:lnL>
                    <a:lnR w="6350">
                      <a:solidFill>
                        <a:srgbClr val="D5DEEA"/>
                      </a:solidFill>
                    </a:lnR>
                    <a:lnT w="6350">
                      <a:solidFill>
                        <a:srgbClr val="D5DEEA"/>
                      </a:solidFill>
                    </a:lnT>
                    <a:lnB w="6350">
                      <a:solidFill>
                        <a:srgbClr val="D5DEEA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5661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Year 1 subscription as a share of estimated commission income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977639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Small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40416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691640" y="4041648"/>
            <a:ext cx="3505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8280" y="3977639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2.3%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4348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Medium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44988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91640" y="4498848"/>
            <a:ext cx="2743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44348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920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Large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49560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691640" y="4956048"/>
            <a:ext cx="18288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11880" y="48920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1.2%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349240"/>
            <a:ext cx="118872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B2A4A"/>
                </a:solidFill>
                <a:latin typeface="Calibri"/>
              </a:rPr>
              <a:t>Enterprise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5413248"/>
            <a:ext cx="4572000" cy="237744"/>
          </a:xfrm>
          <a:prstGeom prst="rect">
            <a:avLst/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691640" y="5413248"/>
            <a:ext cx="1219200" cy="237744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02280" y="5349240"/>
            <a:ext cx="914400" cy="3657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150" b="1" i="0">
                <a:solidFill>
                  <a:srgbClr val="0F4761"/>
                </a:solidFill>
                <a:latin typeface="Calibri"/>
              </a:rPr>
              <a:t>0.8%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852160"/>
            <a:ext cx="6949440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00" b="0" i="0">
                <a:solidFill>
                  <a:srgbClr val="5B6778"/>
                </a:solidFill>
                <a:latin typeface="Calibri"/>
              </a:rPr>
              <a:t>Prices in PHP, excluding 12% VAT. Totals include implementation or onboarding and exclude hosting and optional services. Valid 90 days. Income per tier is an estimate.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0" y="1188720"/>
            <a:ext cx="3959352" cy="5074920"/>
          </a:xfrm>
          <a:prstGeom prst="roundRect">
            <a:avLst>
              <a:gd name="adj" fmla="val 5000"/>
            </a:avLst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13258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Our recommendation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1000" y="182880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Small and Medium brokers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212140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Subscription: lower Year 1 cash, no capital approval, about 2% of commission income.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01000" y="292608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Large and Enterprise brokers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321868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Perpetual: 13% to 18% lower cost over five years for the reference user counts.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1000" y="402336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Every broker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1596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Infrastructure quoted separately, with self-hosting always shown, so the software price stays comparable.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51206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1" i="0">
                <a:solidFill>
                  <a:srgbClr val="7FBEF5"/>
                </a:solidFill>
                <a:latin typeface="Calibri"/>
              </a:rPr>
              <a:t>Your figures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01000" y="5413248"/>
            <a:ext cx="3566160" cy="7772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FFFFFF"/>
                </a:solidFill>
                <a:latin typeface="Calibri"/>
              </a:rPr>
              <a:t>We run the pricing workbook with your user count and lines of business for the proposal.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THE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Why iorta TechNXT and iNXT BrokerVerse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Built for the Philippines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VAT, DST, LGT by city, fire service tax, BIR 2307, VAT Summary, SAWT, QAP and SLSP; BDO, BPI and Metrobank statement formats; PayMongo and Dragonpay; Data Privacy Act functions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48056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One system, one ledger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Prospect, placement, policy, claims and renewals in the same system as billing, remittance, commission, the general ledger and the month-end close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188720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188720"/>
            <a:ext cx="3639312" cy="73152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275320" y="1508760"/>
            <a:ext cx="457200" cy="457200"/>
          </a:xfrm>
          <a:prstGeom prst="ellipse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15087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1490472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Controls in the product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0312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Maker-checker on money and configuration, Authority Matrix, segregation of duties, access reviews, approval notifications, audit trail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8580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Predictable delivery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Configure, do not customise; 8, 12 or 16 to 20 weeks; written acceptance per phase; hypercare through the first month-end close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5196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25196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48056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Open pricing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8056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Published per-user prices on graduated slabs, perpetual or subscription, AMC terms and day rates for change requests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46720" y="3749039"/>
            <a:ext cx="3639312" cy="2377440"/>
          </a:xfrm>
          <a:prstGeom prst="roundRect">
            <a:avLst>
              <a:gd name="adj" fmla="val 5000"/>
            </a:avLst>
          </a:prstGeom>
          <a:solidFill>
            <a:srgbClr val="F3F6FA"/>
          </a:solidFill>
          <a:ln w="9525">
            <a:solidFill>
              <a:srgbClr val="D5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46720" y="3749039"/>
            <a:ext cx="3639312" cy="73152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275320" y="4069079"/>
            <a:ext cx="457200" cy="457200"/>
          </a:xfrm>
          <a:prstGeom prst="ellipse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75320" y="406907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4050791"/>
            <a:ext cx="26974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50" b="1" i="0">
                <a:solidFill>
                  <a:srgbClr val="0B2A4A"/>
                </a:solidFill>
                <a:latin typeface="Calibri"/>
              </a:rPr>
              <a:t>Ready to hand over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663440"/>
            <a:ext cx="32004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50" b="0" i="0">
                <a:solidFill>
                  <a:srgbClr val="1F2937"/>
                </a:solidFill>
                <a:latin typeface="Calibri"/>
              </a:rPr>
              <a:t>497 test cases for this release; user manual and role guides for seven roles; about 40 upload templates; reports book and data dictionary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96012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050" b="1" i="0">
                <a:solidFill>
                  <a:srgbClr val="9CC8F0"/>
                </a:solidFill>
                <a:latin typeface="Calibri"/>
              </a:rPr>
              <a:t>PROPOSED PATH TO A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1089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382512"/>
            <a:ext cx="11277295" cy="9144"/>
          </a:xfrm>
          <a:prstGeom prst="rect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orta-techn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6464808"/>
            <a:ext cx="868783" cy="2560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862" y="6464808"/>
            <a:ext cx="64008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950" b="0" i="0">
                <a:solidFill>
                  <a:srgbClr val="5B6778"/>
                </a:solidFill>
                <a:latin typeface="Calibri"/>
              </a:rPr>
              <a:t>iNXT BrokerVerse  |  Client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20095" y="64648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/>
            <a:r>
              <a:rPr sz="950" b="0" i="0">
                <a:solidFill>
                  <a:srgbClr val="5B6778"/>
                </a:solidFill>
                <a:latin typeface="Calibri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Your team sees its own day in the system: 60 or 30 minutes on the UAT data set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1 [to confirm]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13639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29184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29184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77639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Discovery workshop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Users, lines of business, insurers, volumes, hosting, integrations, data 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Week 2 to 3 [to confirm]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7103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2648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F4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Proposal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Commercials from the pricing workbook, implementation plan, hosting option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Within 5 working days of the workshop [to confirm]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8805672" y="2606040"/>
            <a:ext cx="137160" cy="274320"/>
          </a:xfrm>
          <a:prstGeom prst="rightArrow">
            <a:avLst/>
          </a:prstGeom>
          <a:solidFill>
            <a:srgbClr val="D5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961120" y="1280160"/>
            <a:ext cx="265176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0F4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961120" y="1280160"/>
            <a:ext cx="2651760" cy="868680"/>
          </a:xfrm>
          <a:prstGeom prst="roundRect">
            <a:avLst>
              <a:gd name="adj" fmla="val 15000"/>
            </a:avLst>
          </a:prstGeom>
          <a:solidFill>
            <a:srgbClr val="0072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0" y="1280160"/>
            <a:ext cx="548640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46920" y="1280160"/>
            <a:ext cx="1874519" cy="8686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Contract and kick-off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286000"/>
            <a:ext cx="2286000" cy="1371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250" b="0" i="0">
                <a:solidFill>
                  <a:srgbClr val="1F2937"/>
                </a:solidFill>
                <a:latin typeface="Calibri"/>
              </a:rPr>
              <a:t>Licence or subscription, data processing and support agreements; mobilisation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44000" y="3749039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1" i="0">
                <a:solidFill>
                  <a:srgbClr val="0072D8"/>
                </a:solidFill>
                <a:latin typeface="Calibri"/>
              </a:rPr>
              <a:t>On signing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709160"/>
            <a:ext cx="11274552" cy="1554480"/>
          </a:xfrm>
          <a:prstGeom prst="roundRect">
            <a:avLst>
              <a:gd name="adj" fmla="val 5000"/>
            </a:avLst>
          </a:prstGeom>
          <a:solidFill>
            <a:srgbClr val="E4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800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What we ask from you for the demo and workshop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5166360"/>
            <a:ext cx="5760720" cy="1097280"/>
          </a:xfrm>
          <a:prstGeom prst="rect">
            <a:avLst/>
          </a:prstGeom>
          <a:noFill/>
        </p:spPr>
        <p:txBody>
          <a:bodyPr wrap="square" lIns="18288" rIns="18288" tIns="18288" bIns="18288"/>
          <a:lstStyle/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Two or three recent policies, one claim and one remittance to use as examples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The teams and number of users per team</a:t>
            </a:r>
          </a:p>
          <a:p>
            <a:pPr marL="201168" indent="-182880">
              <a:spcAft>
                <a:spcPts val="200"/>
              </a:spcAft>
              <a:buClr>
                <a:srgbClr val="0072D8"/>
              </a:buClr>
              <a:buFont typeface="Arial"/>
              <a:buChar char="•"/>
            </a:pPr>
            <a:r>
              <a:rPr sz="1150">
                <a:solidFill>
                  <a:srgbClr val="1F2937"/>
                </a:solidFill>
                <a:latin typeface="Calibri"/>
              </a:rPr>
              <a:t>Lines of business and insurers you place with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75120" y="4800600"/>
            <a:ext cx="484632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300" b="1" i="0">
                <a:solidFill>
                  <a:srgbClr val="0F4761"/>
                </a:solidFill>
                <a:latin typeface="Calibri"/>
              </a:rPr>
              <a:t>Contact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5166360"/>
            <a:ext cx="4846320" cy="1097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[Account manager name], iorta TechNXT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[Mobile number]  |  [E-mail address]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1F2937"/>
                </a:solidFill>
                <a:latin typeface="Calibri"/>
              </a:rPr>
              <a:t>[Website]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