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(2 minutes). Thank the attendees by name and confirm the time available.</a:t>
            </a:r>
          </a:p>
          <a:p>
            <a:r>
              <a:t>Purpose of the session: show how iNXT BrokerVerse runs a Philippine non-life broker from the first prospect to the</a:t>
            </a:r>
          </a:p>
          <a:p>
            <a:r>
              <a:t>month-end close, in one system, and agree the next step.</a:t>
            </a:r>
          </a:p>
          <a:p>
            <a:r>
              <a:t>Ask who owns the decision and who will use the system day to day, so the walk-through can stress the right modules.</a:t>
            </a:r>
          </a:p>
          <a:p>
            <a:r>
              <a:t>Fill in the client name and the date on this slide before sending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 in under a minute. The core of the session is parts 3 and 4: the modules and the controls.</a:t>
            </a:r>
          </a:p>
          <a:p>
            <a:r>
              <a:t>If time is short, offer to skip the persona view and go from the controls straight to deployment and commercials.</a:t>
            </a:r>
          </a:p>
          <a:p>
            <a:r>
              <a:t>Ask whether there is a topic the audience wants first, for example accounting and BIR for a finance-led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every item marked [to confirm] with approved company facts before the file leaves the office.</a:t>
            </a:r>
          </a:p>
          <a:p>
            <a:r>
              <a:t>The facts that are already firm: iorta TechNXT publishes iNXT BrokerVerse, implements it with a configure-not-customise</a:t>
            </a:r>
          </a:p>
          <a:p>
            <a:r>
              <a:t>approach, provides L2 application support and L3 engineering, and can host the test and production environments.</a:t>
            </a:r>
          </a:p>
          <a:p>
            <a:r>
              <a:t>Keep this slide short (1 to 2 minutes). The audience cares more about what the system does for their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facts come from the Insurance Commission key data for 2024 (preliminary) and the 2025 non-life premium ranking,</a:t>
            </a:r>
          </a:p>
          <a:p>
            <a:r>
              <a:t>as summarised in our commercial note. Check them against the published originals before quoting them outside the</a:t>
            </a:r>
          </a:p>
          <a:p>
            <a:r>
              <a:t>meeting.</a:t>
            </a:r>
          </a:p>
          <a:p>
            <a:r>
              <a:t>Message: most brokers are small or mid-size, every broker places with many insurers, and the work is as much accounting</a:t>
            </a:r>
          </a:p>
          <a:p>
            <a:r>
              <a:t>and compliance as it is sales. A sales tool or a CRM covers only the left half of this slide.</a:t>
            </a:r>
          </a:p>
          <a:p>
            <a:r>
              <a:t>Ask: which of these points costs your team the most time today. Note the answer for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from top to bottom: the front office creates the business, the money layer moves premium and commission,</a:t>
            </a:r>
          </a:p>
          <a:p>
            <a:r>
              <a:t>the finance layer closes the books and files BIR, and everything sits on one set of masters, roles and controls.</a:t>
            </a:r>
          </a:p>
          <a:p>
            <a:r>
              <a:t>Stress that accounting is inside the product: every business event posts to the general ledger through posting rules</a:t>
            </a:r>
          </a:p>
          <a:p>
            <a:r>
              <a:t>the broker can see and approve. There is no separate accounting package to reconcile.</a:t>
            </a:r>
          </a:p>
          <a:p>
            <a:r>
              <a:t>Integrations run through one monitored outbox: SMS and Viber, CTPL authentication and the LTO feed, insurer APIs with</a:t>
            </a:r>
          </a:p>
          <a:p>
            <a:r>
              <a:t>a mapping per insurer, bank payment files, the BIR EIS, plus e-mail, payment links and statement files. Every connector is</a:t>
            </a:r>
          </a:p>
          <a:p>
            <a:r>
              <a:t>delivered in test mode; each partner accepts its side during onboarding.</a:t>
            </a:r>
          </a:p>
          <a:p>
            <a:r>
              <a:t>The compliance layer is in the product too: the AML/CFT toolkit, the IC registers and the BIR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backbone of the demo. Each step is its own screen, usually done by a different team, and each leaves a</a:t>
            </a:r>
          </a:p>
          <a:p>
            <a:r>
              <a:t>numbered document behind, so anyone can follow a policy from the lead to the money and back.</a:t>
            </a:r>
          </a:p>
          <a:p>
            <a:r>
              <a:t>Point out the two blue approval markers: money and period close always need a second person.</a:t>
            </a:r>
          </a:p>
          <a:p>
            <a:r>
              <a:t>The journey per line is configurable: a private car is quoted and issued straight from the quotation; fire, IAR,</a:t>
            </a:r>
          </a:p>
          <a:p>
            <a:r>
              <a:t>marine, casualty and engineering need a Placement Slip confirmed by every insurer before the policy can be issued.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from the account executive's point of view: one list of prospects, a quotation in minutes, the client</a:t>
            </a:r>
          </a:p>
          <a:p>
            <a:r>
              <a:t>accepts from a link, and the payment link takes the money.</a:t>
            </a:r>
          </a:p>
          <a:p>
            <a:r>
              <a:t>Key control to mention: the server recalculates every premium from the configured rate tables and taxes, so a premium</a:t>
            </a:r>
          </a:p>
          <a:p>
            <a:r>
              <a:t>typed over in the browser is refused. Discounts are limited by the Authority Matrix.</a:t>
            </a:r>
          </a:p>
          <a:p>
            <a:r>
              <a:t>Question for the audience: how many quotations per month, and which lines are quoted most. Motor and fire usually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most broker systems stop being useful for commercial lines. Walk through one fire or IAR risk:</a:t>
            </a:r>
          </a:p>
          <a:p>
            <a:r>
              <a:t>the Broker Slip goes to three insurers, two offer and one declines, the comparison picks the lead, and the Placement</a:t>
            </a:r>
          </a:p>
          <a:p>
            <a:r>
              <a:t>Slip records each insurer's share and confirmation.</a:t>
            </a:r>
          </a:p>
          <a:p>
            <a:r>
              <a:t>The money trail follows the shares automatically. In the manual example (IAR, PHP 125,000,000.00 sum insured, 60/40</a:t>
            </a:r>
          </a:p>
          <a:p>
            <a:r>
              <a:t>co-insurance) one client bill is split into payables per insurer, and the Co-insurance Register shows each share.</a:t>
            </a:r>
          </a:p>
          <a:p>
            <a:r>
              <a:t>Question: what share of your premium is co-insured, and how many insurers do you place with in a typical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Servicing is where client satisfaction is won or lost. Show the policy detail first: everything about the policy on</a:t>
            </a:r>
          </a:p>
          <a:p>
            <a:r>
              <a:t>one screen, including the accounting entries it created.</a:t>
            </a:r>
          </a:p>
          <a:p>
            <a:r>
              <a:t>For claims, two controls matter to management: a claim is refused when the loss date is outside the policy period or</a:t>
            </a:r>
          </a:p>
          <a:p>
            <a:r>
              <a:t>the premium is unpaid (both configurable), and the settlement needs a second Claims user.</a:t>
            </a:r>
          </a:p>
          <a:p>
            <a:r>
              <a:t>Question: how many claims a month, and do you pay any claims through your own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Renewals are the cheapest premium a broker writes. The point of this slide is that nothing expires unnoticed:</a:t>
            </a:r>
          </a:p>
          <a:p>
            <a:r>
              <a:t>the pipeline starts at 90 days, notices go at 60, 30 and 15 days, and an unrenewed policy lapses 30 days after expiry.</a:t>
            </a:r>
          </a:p>
          <a:p>
            <a:r>
              <a:t>All of these day counts are settings, not code.</a:t>
            </a:r>
          </a:p>
          <a:p>
            <a:r>
              <a:t>Question: what is your current retention rate, and how do you follow up renewals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messages. First, segregation: the front office records the client's payment, but only Accounting issues the</a:t>
            </a:r>
          </a:p>
          <a:p>
            <a:r>
              <a:t>official receipt. Second, new in this release: the official receipt and the premium invoice go to the client by e-mail</a:t>
            </a:r>
          </a:p>
          <a:p>
            <a:r>
              <a:t>with the PDF attached, either from the screen (E-mail receipt, E-mail invoice) or automatically when the broker</a:t>
            </a:r>
          </a:p>
          <a:p>
            <a:r>
              <a:t>switches it on. The commission debit note e-mail to insurers now carries the debit note PDF, and the policy issued</a:t>
            </a:r>
          </a:p>
          <a:p>
            <a:r>
              <a:t>e-mail carries the policy schedule.</a:t>
            </a:r>
          </a:p>
          <a:p>
            <a:r>
              <a:t>The Premium Warranty Monitor shows broker-billed policies whose premium is unpaid near or past the insurer's payment</a:t>
            </a:r>
          </a:p>
          <a:p>
            <a:r>
              <a:t>warranty, so Accounting can remind the client or ask for an extension.</a:t>
            </a:r>
          </a:p>
          <a:p>
            <a:r>
              <a:t>Question: how do you send official receipts today, and how many receipts a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insurers audit. The system knows, per policy and per insurer share, how much was collected and how much</a:t>
            </a:r>
          </a:p>
          <a:p>
            <a:r>
              <a:t>is still held, so the remittance is built from the collections rather than from a spreadsheet.</a:t>
            </a:r>
          </a:p>
          <a:p>
            <a:r>
              <a:t>Every remittance needs a second user, and the approval level depends on the amount.</a:t>
            </a:r>
          </a:p>
          <a:p>
            <a:r>
              <a:t>For direct bill, explain that no premium bill or collection reminder is raised; the broker bills its commission with</a:t>
            </a:r>
          </a:p>
          <a:p>
            <a:r>
              <a:t>VAT on a debit note and records the insurer's payment and Form 2307.</a:t>
            </a:r>
          </a:p>
          <a:p>
            <a:r>
              <a:t>Question: how many insurers do you remit to each month, and which are on direct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Commission is the broker's revenue, so show it as a dashboard first: income, what goes to referrers, the margin.</a:t>
            </a:r>
          </a:p>
          <a:p>
            <a:r>
              <a:t>Two rules prevent the most common leak: referrer commission becomes payable only when the premium is fully collected,</a:t>
            </a:r>
          </a:p>
          <a:p>
            <a:r>
              <a:t>and only to a referrer with a bank account on file. Payouts are net of expanded withholding tax and need a second user.</a:t>
            </a:r>
          </a:p>
          <a:p>
            <a:r>
              <a:t>Question: how many referrers or sub-agents do you pay, and how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finance audience this is the most important slide. The general ledger is inside the platform: each business event</a:t>
            </a:r>
          </a:p>
          <a:p>
            <a:r>
              <a:t>(policy issued, receipt applied, remittance, direct-bill commission) posts through a posting rule that the broker can</a:t>
            </a:r>
          </a:p>
          <a:p>
            <a:r>
              <a:t>read and simulate, and a change to a rule needs a second user's approval before it reaches the ledger.</a:t>
            </a:r>
          </a:p>
          <a:p>
            <a:r>
              <a:t>Month-end close is one run per period with fixed steps and a checklist; the Accounting Manager approves it.</a:t>
            </a:r>
          </a:p>
          <a:p>
            <a:r>
              <a:t>Bank reconciliation imports the bank file, auto-matches, and is prepared by Accounting and approved by the Accounting</a:t>
            </a:r>
          </a:p>
          <a:p>
            <a:r>
              <a:t>Manager. Insurer statements are imported and matched against the remittances.</a:t>
            </a:r>
          </a:p>
          <a:p>
            <a:r>
              <a:t>Question: how many days does your month-end close take today, and how many bank accounts do you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tax outputs are built from the same ledger lines and vouchers, so the working papers agree with the books.</a:t>
            </a:r>
          </a:p>
          <a:p>
            <a:r>
              <a:t>Form 2307 works both ways: certificates the broker issues to its payees, and certificates received from insurers and</a:t>
            </a:r>
          </a:p>
          <a:p>
            <a:r>
              <a:t>clients, which feed the SAWT.</a:t>
            </a:r>
          </a:p>
          <a:p>
            <a:r>
              <a:t>Filing deadlines are the BIR's, not settings of the system; the broker's tax adviser confirms them.</a:t>
            </a:r>
          </a:p>
          <a:p>
            <a:r>
              <a:t>Question: who prepares your BIR returns today, in-house or an external accountant.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catalogue reports in seven groups, each with a preview on screen and a download as Excel, CSV or PDF with the</a:t>
            </a:r>
          </a:p>
          <a:p>
            <a:r>
              <a:t>letterhead. Users see only the reports their role allows.</a:t>
            </a:r>
          </a:p>
          <a:p>
            <a:r>
              <a:t>Dashboards read live figures: they change as soon as a transaction is saved. The Executive Dashboard compares the</a:t>
            </a:r>
          </a:p>
          <a:p>
            <a:r>
              <a:t>key figures with targets set in configuration.</a:t>
            </a:r>
          </a:p>
          <a:p>
            <a:r>
              <a:t>Question: which management reports does your board or principal ask for every month. Note any that are not in the list</a:t>
            </a:r>
          </a:p>
          <a:p>
            <a:r>
              <a:t>for the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areas that a Philippine broker asks about since this release. Each has an optional segment in the Demo Script.</a:t>
            </a:r>
          </a:p>
          <a:p>
            <a:r>
              <a:t>Keep the honest line for each: the compliance officer confirms the AML thresholds and the AMLC file codes; the</a:t>
            </a:r>
          </a:p>
          <a:p>
            <a:r>
              <a:t>accountant confirms the IC working papers; the tax adviser confirms ATCs, invoice wording and VAT treatment; each</a:t>
            </a:r>
          </a:p>
          <a:p>
            <a:r>
              <a:t>partner (SMS gateway, CTPL provider, insurer, bank, BIR EIS) accepts its side of the connection during onboarding.</a:t>
            </a:r>
          </a:p>
          <a:p>
            <a:r>
              <a:t>The IC and NPC registers come with the compliance package of this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Relevant mainly to insurance and reinsurance brokers. If the prospect does not place reinsurance, spend 30 seconds here</a:t>
            </a:r>
          </a:p>
          <a:p>
            <a:r>
              <a:t>and move on.</a:t>
            </a:r>
          </a:p>
          <a:p>
            <a:r>
              <a:t>For a reinsurance broker: treaties are approved by a second user, cessions are tracked per policy, recoveries are</a:t>
            </a:r>
          </a:p>
          <a:p>
            <a:r>
              <a:t>registered against claims, and the reinsurer's statement is reconciled with a 1% variance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the compliance officer, the internal auditor and the CFO.</a:t>
            </a:r>
          </a:p>
          <a:p>
            <a:r>
              <a:t>Maker-checker: the person who enters a transaction cannot approve it, and the system refuses if they try.</a:t>
            </a:r>
          </a:p>
          <a:p>
            <a:r>
              <a:t>The Authority Matrix sets approval limits per transaction type and per role or user, in PHP; a new limit takes effect</a:t>
            </a:r>
          </a:p>
          <a:p>
            <a:r>
              <a:t>only after another administrator approves it. Replace the seeded defaults with the board-approved signing authority.</a:t>
            </a:r>
          </a:p>
          <a:p>
            <a:r>
              <a:t>Segregation of duties is checked when roles are assigned: the seeded rules block placement with payment and claims</a:t>
            </a:r>
          </a:p>
          <a:p>
            <a:r>
              <a:t>with payment, and warn on sales with collection.</a:t>
            </a:r>
          </a:p>
          <a:p>
            <a:r>
              <a:t>Question: who signs payments today, and up to what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release: every maker-checker flow now notifies the people who can approve, and tells the maker the</a:t>
            </a:r>
          </a:p>
          <a:p>
            <a:r>
              <a:t>decision, with the reason when rejected. That covers payment vouchers and cheques, journal vouchers including bank and</a:t>
            </a:r>
          </a:p>
          <a:p>
            <a:r>
              <a:t>year-end adjustments, posting rule and account determination changes, authority limits and access reviews, commission</a:t>
            </a:r>
          </a:p>
          <a:p>
            <a:r>
              <a:t>payouts, insurer and bank reconciliations, month-end close, warranty extensions, remittance settlements, adjustments</a:t>
            </a:r>
          </a:p>
          <a:p>
            <a:r>
              <a:t>and transfers, treaty changes and captured premium payments.</a:t>
            </a:r>
          </a:p>
          <a:p>
            <a:r>
              <a:t>One setting switches all approval notifications on or off. A notification that cannot be created is logged and never</a:t>
            </a:r>
          </a:p>
          <a:p>
            <a:r>
              <a:t>blocks the transaction.</a:t>
            </a:r>
          </a:p>
          <a:p>
            <a:r>
              <a:t>The Audit Trail records who changed what, with the values before and after, for every create, update, approval and</a:t>
            </a:r>
          </a:p>
          <a:p>
            <a:r>
              <a:t>sign-in.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release, the data privacy functions under Master &gt; Data Privacy:</a:t>
            </a:r>
          </a:p>
          <a:p>
            <a:r>
              <a:t>Consent is recorded per purpose (processing, marketing, sharing with insurers and reinsurers), with the channel, the</a:t>
            </a:r>
          </a:p>
          <a:p>
            <a:r>
              <a:t>privacy notice version and the evidence. A withdrawal is stamped on the record, never deleted, so the history is the</a:t>
            </a:r>
          </a:p>
          <a:p>
            <a:r>
              <a:t>evidence.</a:t>
            </a:r>
          </a:p>
          <a:p>
            <a:r>
              <a:t>Data Subject Requests: access, rectification, erasure or blocking, objection, portability and withdrawal of consent,</a:t>
            </a:r>
          </a:p>
          <a:p>
            <a:r>
              <a:t>numbered DSR-, due a set number of days after receipt (15 calendar days in the delivered set-up, for the DPO to</a:t>
            </a:r>
          </a:p>
          <a:p>
            <a:r>
              <a:t>confirm), assigned with a notification, and a daily job reminds the privacy team of overdue requests.</a:t>
            </a:r>
          </a:p>
          <a:p>
            <a:r>
              <a:t>Export gives the personal data held about a client or prospect as JSON or Excel. Anonymise overwrites the personal data</a:t>
            </a:r>
          </a:p>
          <a:p>
            <a:r>
              <a:t>once the retention period is over; it is refused while there is open business or the records must still be kept.</a:t>
            </a:r>
          </a:p>
          <a:p>
            <a:r>
              <a:t>Amounts, numbers and dates stay for the books.</a:t>
            </a:r>
          </a:p>
          <a:p>
            <a:r>
              <a:t>The broker remains the personal information controller and its DPO decides the purposes, the retention and the breach</a:t>
            </a:r>
          </a:p>
          <a:p>
            <a:r>
              <a:t>notices. iorta TechNXT acts as processor when it hosts or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role model is delivered ready to use. Each user holds a role; the menus and the server permissions follow it.</a:t>
            </a:r>
          </a:p>
          <a:p>
            <a:r>
              <a:t>Referrers and sub-agents do not sign in: Sales &amp; Marketing enter their business and they are paid from the referrer</a:t>
            </a:r>
          </a:p>
          <a:p>
            <a:r>
              <a:t>master. That keeps the user count, and the licence cost, to the broker's own staff.</a:t>
            </a:r>
          </a:p>
          <a:p>
            <a:r>
              <a:t>The System Administrator and Operations roles hold the data privacy permissions in the delivered set-up; the broker</a:t>
            </a:r>
          </a:p>
          <a:p>
            <a:r>
              <a:t>can move them to its DPO's role.</a:t>
            </a:r>
          </a:p>
          <a:p>
            <a:r>
              <a:t>Ask the audience to map their own teams to these roles. The answer drives the user count for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 is mainstream and portable: a React web application, a Node.js API and PostgreSQL 16. No proprietary</a:t>
            </a:r>
          </a:p>
          <a:p>
            <a:r>
              <a:t>middleware, no per-CPU database licence.</a:t>
            </a:r>
          </a:p>
          <a:p>
            <a:r>
              <a:t>Four hosting options. On AWS and Azure the region is Singapore, which is a cross-border transfer the broker documents</a:t>
            </a:r>
          </a:p>
          <a:p>
            <a:r>
              <a:t>under the Data Privacy Act; AWS has a Manila Local Zone with a limited set of services. A broker that wants the system of</a:t>
            </a:r>
          </a:p>
          <a:p>
            <a:r>
              <a:t>record in the Philippines uses a local partner or its own data centre.</a:t>
            </a:r>
          </a:p>
          <a:p>
            <a:r>
              <a:t>Infrastructure is optional and priced separately; the broker may host itself at no fee, with our deployment guide and</a:t>
            </a:r>
          </a:p>
          <a:p>
            <a:r>
              <a:t>set-up support at day rates. The monthly prices are indicative estimates from public list prices and cover the standing</a:t>
            </a:r>
          </a:p>
          <a:p>
            <a:r>
              <a:t>environment set of the tier: Dev, UAT and Production for small and medium brokers; Dev, SIT, UAT and Production with high</a:t>
            </a:r>
          </a:p>
          <a:p>
            <a:r>
              <a:t>availability for large brokers. A temporary Pre-Prod, restored from a production backup for the go-live rehearsal and</a:t>
            </a:r>
          </a:p>
          <a:p>
            <a:r>
              <a:t>each major release, is billed per month of use. Daily backups, monitoring and patching are included; hosting fees do not</a:t>
            </a:r>
          </a:p>
          <a:p>
            <a:r>
              <a:t>increase yearly. Confirm with the provider before quoting.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Configure, do not customise: the broker is fitted to the product through masters and settings, not code changes.</a:t>
            </a:r>
          </a:p>
          <a:p>
            <a:r>
              <a:t>A requirement that configuration cannot meet goes into the fit-gap register and becomes a change request only if the</a:t>
            </a:r>
          </a:p>
          <a:p>
            <a:r>
              <a:t>steering committee approves it; it does not move the go-live by default.</a:t>
            </a:r>
          </a:p>
          <a:p>
            <a:r>
              <a:t>Data drives the timeline. The data requests go out in week 1: insurer agreements, commission rates, chart of accounts,</a:t>
            </a:r>
          </a:p>
          <a:p>
            <a:r>
              <a:t>in-force policies, open receivables and the trial balance. Every load uses the delivered upload templates and is</a:t>
            </a:r>
          </a:p>
          <a:p>
            <a:r>
              <a:t>rehearsed before cutover.</a:t>
            </a:r>
          </a:p>
          <a:p>
            <a:r>
              <a:t>The size is agreed at mobilisation: small 8 weeks, medium 12 weeks, large 16 to 20 weeks to hypercare exit. Hypercare</a:t>
            </a:r>
          </a:p>
          <a:p>
            <a:r>
              <a:t>always covers the first month-end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levels. The broker's key users and System Administrator are the first line: how-to questions, user and password</a:t>
            </a:r>
          </a:p>
          <a:p>
            <a:r>
              <a:t>resets, settings and master data. iorta TechNXT application support is L2: triage, reproduction, configuration and data</a:t>
            </a:r>
          </a:p>
          <a:p>
            <a:r>
              <a:t>corrections under change control. iorta TechNXT engineering is L3: code defects, performance, infrastructure,</a:t>
            </a:r>
          </a:p>
          <a:p>
            <a:r>
              <a:t>security incidents and releases.</a:t>
            </a:r>
          </a:p>
          <a:p>
            <a:r>
              <a:t>Standard hours are 8:00 to 18:00 Manila time, Monday to Friday, except Philippine regular holidays. 24x7 cover for</a:t>
            </a:r>
          </a:p>
          <a:p>
            <a:r>
              <a:t>Severity 1 is an option. The targets shown are our standard proposal; the support agreement fixes the final values.</a:t>
            </a:r>
          </a:p>
          <a:p>
            <a:r>
              <a:t>AMC or the subscription covers corrections, product updates, regulatory form updates released for all customers and</a:t>
            </a:r>
          </a:p>
          <a:p>
            <a:r>
              <a:t>standard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models, same product. Prices are per named user, in PHP, excluding 12% VAT, on graduated slabs: the first 25 users</a:t>
            </a:r>
          </a:p>
          <a:p>
            <a:r>
              <a:t>at the Small rate, users 26 to 100 at the Medium rate, and so on, so the price never drops when a broker crosses a</a:t>
            </a:r>
          </a:p>
          <a:p>
            <a:r>
              <a:t>tier and the effective price per user falls as it grows.</a:t>
            </a:r>
          </a:p>
          <a:p>
            <a:r>
              <a:t>Perpetual: one-time licence on go-live, AMC at 22% of the licence fee a year from Year 2 after a 12-month warranty,</a:t>
            </a:r>
          </a:p>
          <a:p>
            <a:r>
              <a:t>increasing 5% a year.</a:t>
            </a:r>
          </a:p>
          <a:p>
            <a:r>
              <a:t>Subscription: monthly in advance, increasing 5% at each anniversary, with a minimum number of billable users; the</a:t>
            </a:r>
          </a:p>
          <a:p>
            <a:r>
              <a:t>onboarding fee equals the implementation fee because the set-up work is the same.</a:t>
            </a:r>
          </a:p>
          <a:p>
            <a:r>
              <a:t>Implementation is calculated from base man-days per tier plus 6 man-days per extra line of business, at the blended</a:t>
            </a:r>
          </a:p>
          <a:p>
            <a:r>
              <a:t>day rate of PHP 16,100.00. Quotations are valid 90 days. The pricing workbook governs where figures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reference user counts from the pricing workbook, including implementation or onboarding, excluding VAT</a:t>
            </a:r>
          </a:p>
          <a:p>
            <a:r>
              <a:t>and optional items. They show the shape of the decision rather than a quotation for this prospect.</a:t>
            </a:r>
          </a:p>
          <a:p>
            <a:r>
              <a:t>Our recommendation: subscription for Small and Medium brokers, for lower Year 1 cash and no capital approval;</a:t>
            </a:r>
          </a:p>
          <a:p>
            <a:r>
              <a:t>perpetual for Large and Enterprise brokers, or any broker planning four years or more ahead.</a:t>
            </a:r>
          </a:p>
          <a:p>
            <a:r>
              <a:t>At the recommended prices the Year 1 subscription is about 2.3% of estimated commission income for a Small broker and</a:t>
            </a:r>
          </a:p>
          <a:p>
            <a:r>
              <a:t>0.8% for an Enterprise broker, within the 3% to 7% of revenue that insurers and brokers typically spend on IT.</a:t>
            </a:r>
          </a:p>
          <a:p>
            <a:r>
              <a:t>The income figures per tier are estimates mapped to the IC ranking.</a:t>
            </a:r>
          </a:p>
          <a:p>
            <a:r>
              <a:t>Close the slide by offering to run the workbook with the prospect's own user count and lines of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in four points and stop. Each point can be proven in the demo.</a:t>
            </a:r>
          </a:p>
          <a:p>
            <a:r>
              <a:t>1. Built for Philippine non-life broking: taxes, BIR, LGU rates, local banks, local payment gateways, Data Privacy Act.</a:t>
            </a:r>
          </a:p>
          <a:p>
            <a:r>
              <a:t>2. One system: the front office, the money and the books, so there is nothing to reconcile between systems.</a:t>
            </a:r>
          </a:p>
          <a:p>
            <a:r>
              <a:t>3. Controls the auditor expects, already in the product.</a:t>
            </a:r>
          </a:p>
          <a:p>
            <a:r>
              <a:t>4. A predictable project and price: configure-not-customise, 8 to 20 weeks, published prices and day rates.</a:t>
            </a:r>
          </a:p>
          <a:p>
            <a:r>
              <a:t>Evidence to quote: 497 test cases prepared for this release, 480 passed, with the remaining items tracked in the defect</a:t>
            </a:r>
          </a:p>
          <a:p>
            <a:r>
              <a:t>register; a user manual opened per screen with F1 and role guides; the go-live data workbench with its workbooks and the</a:t>
            </a:r>
          </a:p>
          <a:p>
            <a:r>
              <a:t>upload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Agree the next step before the meeting ends, with a date and owner for each.</a:t>
            </a:r>
          </a:p>
          <a:p>
            <a:r>
              <a:t>Demo: 60 minutes for the full team or 30 minutes for management, run on the UAT data set, with the prospect's own</a:t>
            </a:r>
          </a:p>
          <a:p>
            <a:r>
              <a:t>examples where they send them in advance.</a:t>
            </a:r>
          </a:p>
          <a:p>
            <a:r>
              <a:t>Workshop: half a day with the process owners to confirm users, lines of business, insurers, volumes, hosting and</a:t>
            </a:r>
          </a:p>
          <a:p>
            <a:r>
              <a:t>integrations. Its output sizes the implementation.</a:t>
            </a:r>
          </a:p>
          <a:p>
            <a:r>
              <a:t>Proposal: commercials from the pricing workbook with the agreed user count and lines, valid 90 days.</a:t>
            </a:r>
          </a:p>
          <a:p>
            <a:r>
              <a:t>Contract: licence or subscription agreement, data processing agreement, support agreement; then the kick-off.</a:t>
            </a:r>
          </a:p>
          <a:p>
            <a:r>
              <a:t>Durations in weeks are planning assumptions [to confirm with the account manager].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0" y="0"/>
            <a:ext cx="73152" cy="68580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923733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072D8"/>
                </a:solidFill>
                <a:latin typeface="Calibri"/>
              </a:rPr>
              <a:t>CLIENT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1264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400" b="1" i="0">
                <a:solidFill>
                  <a:srgbClr val="0B2A4A"/>
                </a:solidFill>
                <a:latin typeface="Calibri"/>
              </a:rPr>
              <a:t>iNXT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0F4761"/>
                </a:solidFill>
                <a:latin typeface="Calibri"/>
              </a:rPr>
              <a:t>The insurance broking platform for Philippine non-life brokers, from prospect to renewal to month-end close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1097280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</a:rPr>
              <a:t>Out-of-the-box (OOTB) version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Prepared for: [Client name]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Date: [03 October 2026]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iorta TechNXT  |  Confidential: for the named recipient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143000"/>
            <a:ext cx="4206240" cy="240408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498079" y="516636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50" b="0" i="0">
                <a:solidFill>
                  <a:srgbClr val="C9DBEC"/>
                </a:solidFill>
                <a:latin typeface="Calibri"/>
              </a:rPr>
              <a:t>Executive Dashboard: premium, active policies, new business, claims rate, retention and receivables, live from the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325880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we 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iorta TechNXT and iNXT BrokerVerse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532888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What a Philippine broker has to handle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Market, regulation and the daily work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739896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The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Module map and the end-to-end journey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946904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Module walk-through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From sales and placement to accounting, BIR tax and reinsurance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1325880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Controls, data privacy and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Maker-checker, authority limits, approval notifications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2532888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does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The eight delivered roles</a:t>
            </a:r>
          </a:p>
        </p:txBody>
      </p:sp>
      <p:sp>
        <p:nvSpPr>
          <p:cNvPr id="33" name="Oval 32"/>
          <p:cNvSpPr/>
          <p:nvPr/>
        </p:nvSpPr>
        <p:spPr>
          <a:xfrm>
            <a:off x="6309360" y="3739896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Technology, deployment, implementation timeline, support</a:t>
            </a:r>
          </a:p>
        </p:txBody>
      </p:sp>
      <p:sp>
        <p:nvSpPr>
          <p:cNvPr id="37" name="Oval 36"/>
          <p:cNvSpPr/>
          <p:nvPr/>
        </p:nvSpPr>
        <p:spPr>
          <a:xfrm>
            <a:off x="6309360" y="4946904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Commercials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Perpetual or subscription, then demo, workshop, proposal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iorta TechNXT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Who we 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Insurance technology company and publisher of iNXT BrokerVerse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Founded: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Head office and Philippine presence: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Team size and delivery centres: [to confirm]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What we deliver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The iNXT BrokerVerse platform, OOTB version for Philippine non-life brokers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Implementation: configuration, data load, training, UAT, go-live and hypercare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Production support: L2 application support and L3 engineering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Optional hosting on AWS, Azure or with a local 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How we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Configure, do not customise: the broker is fitted to the product through masters and settings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Written acceptance at the end of each phase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One service desk, severity targets, monthly service report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Changes priced openly at published day 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Client references that may be named: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Other insurance products of iorta TechNXT: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Certifications held: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Contact: [account manager, mobile, e-mail]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MARKET AND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a Philippine non-life broker has to handle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The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About 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02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licensed insurance brokers (IC key data 2024, preliminary)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77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20 million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19272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minimum paid-up capital for a broker, PHP 50 million for an insurance and reinsurance broker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3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149.11 billion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98264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non-life gross premiums written in 2025; the top three insurers hold about a third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65776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Under PHP 100 million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77256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commission income of most brokers; three earn more than PHP 2 billion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1188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0F4761"/>
                </a:solidFill>
                <a:latin typeface="Calibri"/>
              </a:rPr>
              <a:t>What the system has to get right every 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71907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166420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Many insurers per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6420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Offers from several insurers, co-insurance shares that total 100%, a lead insurer, confirmations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236829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231343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Premium taxes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3134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VAT 12%, documentary stamp tax 12.5%, local government tax by city or municipality, fire service tax 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3017520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96265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Client money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62656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Collect premium, issue the official receipt, remit to each insurer on its terms, watch the premium warranty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3666744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61188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Commission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61188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Broker-billed and direct-bill business, debit notes to insurers, BIR Form 2307 received, referrer payouts net of EWT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4315968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42611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BIR and the books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261104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Form 2307, VAT Summary, SAWT, QAP and SLSP; month-end close, bank and insurer reconciliation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96519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491032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91032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Maker-checker on money and configuration, signing authority, segregation of duties, audit trail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561441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555955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Data Privacy 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555955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Consent per purpose, data subject requests on time, breach notice within 72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ONE SYSTEM FOR THE WHOLE BROKER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platform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Front office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3432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Prospects, Quick Quote, Quotations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3048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Placement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Broker Slips, Placement Slips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5816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Policy servicing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Issue, endorsements, client 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58584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1736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Registration to settlement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1352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4504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Renewals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04504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Queue, notices, negotiations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395728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395728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Money and insurers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13432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Billing and receipts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13432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Invoices, official receipts, e-mail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3048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Collections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Ageing, reminders, credit control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85816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58968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Remittance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To insurers, direct bill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8584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1736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Commission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Referrers and incentive programmes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31352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4504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504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Treaties, cessions, recoveries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602736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602736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Finance and compliance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0280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13432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General ledger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13432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Posting rules, journals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13048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Period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86200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Month-end and year-end close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85816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8968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Bank and insurer statements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958584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1736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BIR and AML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31736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Returns, EOPT, AMLC reports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31352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04504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Reports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4504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Dashboards, Report Builder, My Work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864608"/>
            <a:ext cx="9601200" cy="1371600"/>
          </a:xfrm>
          <a:prstGeom prst="roundRect">
            <a:avLst>
              <a:gd name="adj" fmla="val 6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37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Foundation shared by every module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52760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5276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Product Configurator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542032" y="5276088"/>
            <a:ext cx="22037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42032" y="527608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Masters and Configuration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18888" y="5276088"/>
            <a:ext cx="25786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18888" y="5276088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Users, roles, Authority Matrix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70648" y="5276088"/>
            <a:ext cx="19037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0648" y="5276088"/>
            <a:ext cx="19037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080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Maker-checker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7166" y="5660136"/>
            <a:ext cx="11539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17166" y="5660136"/>
            <a:ext cx="11539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Audit Trail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44291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44291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Notifications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621377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21377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E-mail Outbox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98464" y="5660136"/>
            <a:ext cx="12289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98464" y="5660136"/>
            <a:ext cx="122895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Data Privacy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300569" y="5660136"/>
            <a:ext cx="167883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00569" y="5660136"/>
            <a:ext cx="16788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Document Numbering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0080" y="6044184"/>
            <a:ext cx="100401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6044184"/>
            <a:ext cx="100401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Schedules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17243" y="6044184"/>
            <a:ext cx="15288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717243" y="6044184"/>
            <a:ext cx="15288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Upload templates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241280" y="1188720"/>
            <a:ext cx="1490472" cy="5047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87000" y="1261872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Connects 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32720" y="16459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E-mail (SMTP); SMS and Viber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32720" y="228600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CTPL authentication; LTO feed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1320" y="22677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332720" y="292608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Insurer APIs; insurer statement files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2907791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332720" y="356615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Bank payment and statement files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1320" y="354787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332720" y="42062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BIR EIS and DAT files; AMLC report files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1320" y="418795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332720" y="48463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PayMongo and Dragonpay links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561320" y="482803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32720" y="548639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REST API with OpenAPI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1320" y="54681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HOW THE WORK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journey: prospect to renewal to month-end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 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LD-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Operations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943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57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 Broker Slip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BS-  OFR-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433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  Quotation 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QT-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Processing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2414016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9744" y="241401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1435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578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578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  Placement Slip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7437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8580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  Policy issue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POL-  CL-  INV-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439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58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58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  Payment capture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Front office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44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58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58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  Official receipt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OR-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57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257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57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  Commission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03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PV-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03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58" name="Oval 57"/>
          <p:cNvSpPr/>
          <p:nvPr/>
        </p:nvSpPr>
        <p:spPr>
          <a:xfrm>
            <a:off x="2409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09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7432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8575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575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575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  Remittance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032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REM-  SET-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32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66" name="Oval 65"/>
          <p:cNvSpPr/>
          <p:nvPr/>
        </p:nvSpPr>
        <p:spPr>
          <a:xfrm>
            <a:off x="40096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96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3434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577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4577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577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  Endorsement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034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END-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034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Processing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9436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0579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0579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579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11  Claim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36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CLM-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036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Claims, two users</a:t>
            </a:r>
          </a:p>
        </p:txBody>
      </p:sp>
      <p:sp>
        <p:nvSpPr>
          <p:cNvPr id="80" name="Oval 79"/>
          <p:cNvSpPr/>
          <p:nvPr/>
        </p:nvSpPr>
        <p:spPr>
          <a:xfrm>
            <a:off x="72100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100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75438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6581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581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6581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12  Renewal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038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new term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038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Sales</a:t>
            </a:r>
          </a:p>
        </p:txBody>
      </p:sp>
      <p:sp>
        <p:nvSpPr>
          <p:cNvPr id="88" name="Oval 87"/>
          <p:cNvSpPr/>
          <p:nvPr/>
        </p:nvSpPr>
        <p:spPr>
          <a:xfrm>
            <a:off x="88102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8102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440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258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258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258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13  Month-end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04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BRC-  MEC-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04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Manager</a:t>
            </a:r>
          </a:p>
        </p:txBody>
      </p:sp>
      <p:sp>
        <p:nvSpPr>
          <p:cNvPr id="96" name="Oval 95"/>
          <p:cNvSpPr/>
          <p:nvPr/>
        </p:nvSpPr>
        <p:spPr>
          <a:xfrm>
            <a:off x="10410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0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4892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2</a:t>
            </a:r>
            <a:r>
              <a:rPr sz="1100" b="0" i="0">
                <a:solidFill>
                  <a:srgbClr val="5B6778"/>
                </a:solidFill>
                <a:latin typeface="Calibri"/>
              </a:rPr>
              <a:t>  marks a step that a second user approves (maker-checker).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Placement journey by line.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Motor: quotation straight to policy. Fire, IAR, Marine, Casualty, Engineering: Placement Slip required. Set per line in Master &gt; Configuration.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82512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One trail.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Every step posts to the ledger by posting rule and is kept in the Audit Trail, so a policy can be followed from lead to remittance and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Sales and quotation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863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0863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Prospects  </a:t>
            </a:r>
            <a:r>
              <a:rPr sz="1300">
                <a:solidFill>
                  <a:srgbClr val="1F2937"/>
                </a:solidFill>
                <a:latin typeface="Calibri"/>
              </a:rPr>
              <a:t>individual or corporate (TIN required for corporate), one by one or by Excel upload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Quick Quote and Compare Insurers  </a:t>
            </a:r>
            <a:r>
              <a:rPr sz="1300">
                <a:solidFill>
                  <a:srgbClr val="1F2937"/>
                </a:solidFill>
                <a:latin typeface="Calibri"/>
              </a:rPr>
              <a:t>prices a package from each insurer's rate table and prints a comparison without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quotation in five steps  </a:t>
            </a:r>
            <a:r>
              <a:rPr sz="1300">
                <a:solidFill>
                  <a:srgbClr val="1F2937"/>
                </a:solidFill>
                <a:latin typeface="Calibri"/>
              </a:rPr>
              <a:t>vehicle, plan, covers including CTPL and Auto Passenger PA, accessories, discount and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Server-side pricing  </a:t>
            </a:r>
            <a:r>
              <a:rPr sz="1300">
                <a:solidFill>
                  <a:srgbClr val="1F2937"/>
                </a:solidFill>
                <a:latin typeface="Calibri"/>
              </a:rPr>
              <a:t>every quotation is priced again from the configured rates and taxes; a premium changed in the browser is refused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Client approval online  </a:t>
            </a:r>
            <a:r>
              <a:rPr sz="1300">
                <a:solidFill>
                  <a:srgbClr val="1F2937"/>
                </a:solidFill>
                <a:latin typeface="Calibri"/>
              </a:rPr>
              <a:t>a signed link valid for 168 hours; the client accepts and the Processing Team is told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links  </a:t>
            </a:r>
            <a:r>
              <a:rPr sz="1300">
                <a:solidFill>
                  <a:srgbClr val="1F2937"/>
                </a:solidFill>
                <a:latin typeface="Calibri"/>
              </a:rPr>
              <a:t>PayMongo or Dragonpay; a paid link creates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Sales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prospects, quotations, conversion, policies issued and premium per account executive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Quotation PDF, insurer comparison, Lead Conversion Funnel report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Quotation: status of every quotation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497" y="3840480"/>
            <a:ext cx="3743661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Sales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Placement with insurers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Broker Slip (Request for Quotation)  </a:t>
            </a:r>
            <a:r>
              <a:rPr sz="1300">
                <a:solidFill>
                  <a:srgbClr val="1F2937"/>
                </a:solidFill>
                <a:latin typeface="Calibri"/>
              </a:rPr>
              <a:t>presents one risk to several insurers; each offer or decline is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Compare offers  </a:t>
            </a:r>
            <a:r>
              <a:rPr sz="1300">
                <a:solidFill>
                  <a:srgbClr val="1F2937"/>
                </a:solidFill>
                <a:latin typeface="Calibri"/>
              </a:rPr>
              <a:t>side by side: gross premium, rate, deductibles, difference to the best offer; choose the security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Placement Slip  </a:t>
            </a:r>
            <a:r>
              <a:rPr sz="1300">
                <a:solidFill>
                  <a:srgbClr val="1F2937"/>
                </a:solidFill>
                <a:latin typeface="Calibri"/>
              </a:rPr>
              <a:t>the firm order to the lead and the co-insurers; each confirms its share with its policy or certificate number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Co-insurance  </a:t>
            </a:r>
            <a:r>
              <a:rPr sz="1300">
                <a:solidFill>
                  <a:srgbClr val="1F2937"/>
                </a:solidFill>
                <a:latin typeface="Calibri"/>
              </a:rPr>
              <a:t>shares must total exactly 100% with one lead; premium, commission, remittance and claims follow the shares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Journey per line  </a:t>
            </a:r>
            <a:r>
              <a:rPr sz="1300">
                <a:solidFill>
                  <a:srgbClr val="1F2937"/>
                </a:solidFill>
                <a:latin typeface="Calibri"/>
              </a:rPr>
              <a:t>a line that requires a Placement Slip cannot be issued until every insurer has confirmed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Record Issued Policy and direct placement  </a:t>
            </a:r>
            <a:r>
              <a:rPr sz="1300">
                <a:solidFill>
                  <a:srgbClr val="1F2937"/>
                </a:solidFill>
                <a:latin typeface="Calibri"/>
              </a:rPr>
              <a:t>for business the insurer has already issued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Slip and Placement Slip PDFs, Placement Pipeline, Market Response (hit ratio), Co-insurance Register</a:t>
            </a:r>
          </a:p>
        </p:txBody>
      </p:sp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517" y="1143000"/>
            <a:ext cx="350362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Broker Slip: Compare offers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Placement Slips: draft, sent, bound, issued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Policy servicing, endorsements and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3037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037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issue  </a:t>
            </a:r>
            <a:r>
              <a:rPr sz="1300">
                <a:solidFill>
                  <a:srgbClr val="1F2937"/>
                </a:solidFill>
                <a:latin typeface="Calibri"/>
              </a:rPr>
              <a:t>from the Placement Slip, or Convert Policy for motor; client record and premium bill created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KYC  </a:t>
            </a:r>
            <a:r>
              <a:rPr sz="1300">
                <a:solidFill>
                  <a:srgbClr val="1F2937"/>
                </a:solidFill>
                <a:latin typeface="Calibri"/>
              </a:rPr>
              <a:t>government ID (type, number and image), chassis, motor and plate or MV file number before issue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detail  </a:t>
            </a:r>
            <a:r>
              <a:rPr sz="1300">
                <a:solidFill>
                  <a:srgbClr val="1F2937"/>
                </a:solidFill>
                <a:latin typeface="Calibri"/>
              </a:rPr>
              <a:t>policy schedule PDF, invoice, accounting entries, documents and related records in one place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Endorsements  </a:t>
            </a:r>
            <a:r>
              <a:rPr sz="1300">
                <a:solidFill>
                  <a:srgbClr val="1F2937"/>
                </a:solidFill>
                <a:latin typeface="Calibri"/>
              </a:rPr>
              <a:t>personal details, motor details, coverage change, extension, cancellation; extra or return premium billed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 </a:t>
            </a:r>
            <a:r>
              <a:rPr sz="1300">
                <a:solidFill>
                  <a:srgbClr val="1F2937"/>
                </a:solidFill>
                <a:latin typeface="Calibri"/>
              </a:rPr>
              <a:t>registration checks the loss date against the policy period and unpaid premium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Preliminary Loss Advice e-mail to the insurer; acknowledgement letter, claims data sheet, discharge voucher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settlement approved by a second Claims user; settlement cash through the broker tracked by insurer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open and overdue claims, claims by line and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Policy schedule, endorsement, claim documents, Claims Position and Claims Ageing reports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098" y="1143000"/>
            <a:ext cx="284045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Policy: policy detail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062" y="3840480"/>
            <a:ext cx="4830530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Claims: claim detail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Renewals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Pipeline  </a:t>
            </a:r>
            <a:r>
              <a:rPr sz="1300">
                <a:solidFill>
                  <a:srgbClr val="1F2937"/>
                </a:solidFill>
                <a:latin typeface="Calibri"/>
              </a:rPr>
              <a:t>every policy enters the renewal pipeline 90 days before expiry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Notices  </a:t>
            </a:r>
            <a:r>
              <a:rPr sz="1300">
                <a:solidFill>
                  <a:srgbClr val="1F2937"/>
                </a:solidFill>
                <a:latin typeface="Calibri"/>
              </a:rPr>
              <a:t>first, second and final notice at 60, 30 and 15 days, in order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Queue  </a:t>
            </a:r>
            <a:r>
              <a:rPr sz="1300">
                <a:solidFill>
                  <a:srgbClr val="1F2937"/>
                </a:solidFill>
                <a:latin typeface="Calibri"/>
              </a:rPr>
              <a:t>days to expiry, status, risk level, owner and contact attempts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Batch  </a:t>
            </a:r>
            <a:r>
              <a:rPr sz="1300">
                <a:solidFill>
                  <a:srgbClr val="1F2937"/>
                </a:solidFill>
                <a:latin typeface="Calibri"/>
              </a:rPr>
              <a:t>notices for up to 500 policies at once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Negotiations  </a:t>
            </a:r>
            <a:r>
              <a:rPr sz="1300">
                <a:solidFill>
                  <a:srgbClr val="1F2937"/>
                </a:solidFill>
                <a:latin typeface="Calibri"/>
              </a:rPr>
              <a:t>contacts with the client recorded; renewal terms approved by the Processing Team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At-Risk Policies and Lapse Management  </a:t>
            </a:r>
            <a:r>
              <a:rPr sz="1300">
                <a:solidFill>
                  <a:srgbClr val="1F2937"/>
                </a:solidFill>
                <a:latin typeface="Calibri"/>
              </a:rPr>
              <a:t>retention risk score, grace period, win-back campaigns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issue  </a:t>
            </a:r>
            <a:r>
              <a:rPr sz="1300">
                <a:solidFill>
                  <a:srgbClr val="1F2937"/>
                </a:solidFill>
                <a:latin typeface="Calibri"/>
              </a:rPr>
              <a:t>the accepted renewal quotation becomes the next term; commission accrues to the original referrer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Retention Analytics and Performance  </a:t>
            </a:r>
            <a:r>
              <a:rPr sz="1300">
                <a:solidFill>
                  <a:srgbClr val="1F2937"/>
                </a:solidFill>
                <a:latin typeface="Calibri"/>
              </a:rPr>
              <a:t>renewal rate, premium retention and cycle time against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Renewal notices, Renewal Retention report, retention rate on the Executive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Renewal Queue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478" y="3840480"/>
            <a:ext cx="332769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Negotiations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Billing, official receipts and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27394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27394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Front office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Billing  </a:t>
            </a:r>
            <a:r>
              <a:rPr sz="1300">
                <a:solidFill>
                  <a:srgbClr val="1F2937"/>
                </a:solidFill>
                <a:latin typeface="Calibri"/>
              </a:rPr>
              <a:t>the bill is raised when the policy, endorsement or renewal is issued; billing statement PDF with payment instructions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capture and official receipt  </a:t>
            </a:r>
            <a:r>
              <a:rPr sz="1300">
                <a:solidFill>
                  <a:srgbClr val="1F2937"/>
                </a:solidFill>
                <a:latin typeface="Calibri"/>
              </a:rPr>
              <a:t>front office records the payment; only Accounting posts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New: documents by e-mail  </a:t>
            </a:r>
            <a:r>
              <a:rPr sz="1300">
                <a:solidFill>
                  <a:srgbClr val="1F2937"/>
                </a:solidFill>
                <a:latin typeface="Calibri"/>
              </a:rPr>
              <a:t>E-mail receipt and E-mail invoice send the PDF as an attachment, with To, Cc and a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optional automatic e-mail when a receipt is recorded or a bill is issued (off until switched on)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attachment size guard; attachment names shown in the E-mail Outbox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Collections  </a:t>
            </a:r>
            <a:r>
              <a:rPr sz="1300">
                <a:solidFill>
                  <a:srgbClr val="1F2937"/>
                </a:solidFill>
                <a:latin typeface="Calibri"/>
              </a:rPr>
              <a:t>ageing by bucket, payment reminders before the due date and then on repeat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Credit Control  </a:t>
            </a:r>
            <a:r>
              <a:rPr sz="1300">
                <a:solidFill>
                  <a:srgbClr val="1F2937"/>
                </a:solidFill>
                <a:latin typeface="Calibri"/>
              </a:rPr>
              <a:t>Instalment Plans, Premium Warranty Monitor, Client Credit Limits, Remittance Ageing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Open entry matching  </a:t>
            </a:r>
            <a:r>
              <a:rPr sz="1300">
                <a:solidFill>
                  <a:srgbClr val="1F2937"/>
                </a:solidFill>
                <a:latin typeface="Calibri"/>
              </a:rPr>
              <a:t>match, unmatch and write off small differences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Official receipt, premium invoice, SOA / Premium Receivable, Receivables Ageing, Collection Report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997" y="1143000"/>
            <a:ext cx="375666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Receipts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443" y="3840480"/>
            <a:ext cx="372176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Credit Control &gt; Premium Warranty Monitor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Remittance to insurers and direct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Second approver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Automated Processing  </a:t>
            </a:r>
            <a:r>
              <a:rPr sz="1300">
                <a:solidFill>
                  <a:srgbClr val="1F2937"/>
                </a:solidFill>
                <a:latin typeface="Calibri"/>
              </a:rPr>
              <a:t>draft remittances per insurer from collected, unremitted premium, net of commission, by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Due dates  </a:t>
            </a:r>
            <a:r>
              <a:rPr sz="1300">
                <a:solidFill>
                  <a:srgbClr val="1F2937"/>
                </a:solidFill>
                <a:latin typeface="Calibri"/>
              </a:rPr>
              <a:t>from each insurer's remittance terms (days after collection)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Approval Workflow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remittances, settlements, transfers and adjustments approved by another user, levels by amount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Settlement  </a:t>
            </a:r>
            <a:r>
              <a:rPr sz="1300">
                <a:solidFill>
                  <a:srgbClr val="1F2937"/>
                </a:solidFill>
                <a:latin typeface="Calibri"/>
              </a:rPr>
              <a:t>raises the insurer payment voucher; bank result of the transfer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Statements and 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 statements for insurers; matching with the bank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Direct bill  </a:t>
            </a:r>
            <a:r>
              <a:rPr sz="1300">
                <a:solidFill>
                  <a:srgbClr val="1F2937"/>
                </a:solidFill>
                <a:latin typeface="Calibri"/>
              </a:rPr>
              <a:t>the client pays the insurer; the broker bills commission plus 12% VAT on a debit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the insurer pays net of 10% EWT and issues BIR Form 2307; the debit note e-mail carries the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Remittance statement, Remittance Summary, Due to Insurers by Co-insurer, Aged Payables to Insurers, Commission Receivable (Direct Bill)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Tracking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Direct Bill Processing &gt; Debit Notes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Commission and incentives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Rate Matrix  </a:t>
            </a:r>
            <a:r>
              <a:rPr sz="1300">
                <a:solidFill>
                  <a:srgbClr val="1F2937"/>
                </a:solidFill>
                <a:latin typeface="Calibri"/>
              </a:rPr>
              <a:t>commission rates by insurer and product, with referrer sharing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brokerage income, commission to referrers, net margin, outstanding payable, WHT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 payouts  </a:t>
            </a:r>
            <a:r>
              <a:rPr sz="1300">
                <a:solidFill>
                  <a:srgbClr val="1F2937"/>
                </a:solidFill>
                <a:latin typeface="Calibri"/>
              </a:rPr>
              <a:t>payable only when the premium is fully collected and the referrer has a bank account on file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paid by payment voucher less EWT (5% individual, 10% corporate), approved by a second user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Referrers do not sign in  </a:t>
            </a:r>
            <a:r>
              <a:rPr sz="1300">
                <a:solidFill>
                  <a:srgbClr val="1F2937"/>
                </a:solidFill>
                <a:latin typeface="Calibri"/>
              </a:rPr>
              <a:t>Sales &amp; Marketing enter their business; they are paid from the referrer master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Incentive programmes  </a:t>
            </a:r>
            <a:r>
              <a:rPr sz="1300">
                <a:solidFill>
                  <a:srgbClr val="1F2937"/>
                </a:solidFill>
                <a:latin typeface="Calibri"/>
              </a:rPr>
              <a:t>premium volume, policy count, renewal rate or conversion targets for account executives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Accounting calculates, a second Accounting user approves; Accounting cannot change the programmes it pays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Commission Statement, Incentive Results, BIR Form 2307 for payees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Commission &gt; Commission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622" y="3840480"/>
            <a:ext cx="29914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Incentive &gt; Calculations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Accounting, period end and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074920" cy="51206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Posting rules and account determination  </a:t>
            </a:r>
            <a:r>
              <a:rPr sz="1250">
                <a:solidFill>
                  <a:srgbClr val="1F2937"/>
                </a:solidFill>
                <a:latin typeface="Calibri"/>
              </a:rPr>
              <a:t>each business event posts by its rule; changes approved in Configuration Approvals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Journals  </a:t>
            </a:r>
            <a:r>
              <a:rPr sz="1250">
                <a:solidFill>
                  <a:srgbClr val="1F2937"/>
                </a:solidFill>
                <a:latin typeface="Calibri"/>
              </a:rPr>
              <a:t>journal vouchers, correction and reversal JVs, recurring journals, all with maker-checker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Month-End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one run per period: accruals, recurring journals, commission deferral, FX revaluation, then the close checklist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Period control  </a:t>
            </a:r>
            <a:r>
              <a:rPr sz="1250">
                <a:solidFill>
                  <a:srgbClr val="1F2937"/>
                </a:solidFill>
                <a:latin typeface="Calibri"/>
              </a:rPr>
              <a:t>soft close, close and lock; postings into a soft-closed period only by the Accounting Manager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Year-End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income and expense to retained earnings in adjustment period 13; financial statements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Bank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statement import (BDO, BPI, Metrobank, generic formats), auto-match, bank items, stale cheques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Insurer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insurer statements of account imported and matched to the broker's remittances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Go-live balances  </a:t>
            </a:r>
            <a:r>
              <a:rPr sz="1250">
                <a:solidFill>
                  <a:srgbClr val="1F2937"/>
                </a:solidFill>
                <a:latin typeface="Calibri"/>
              </a:rPr>
              <a:t>opening trial balance and open items imported with templates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540" y="1143000"/>
            <a:ext cx="5552830" cy="22402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852160" y="3429000"/>
            <a:ext cx="587959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Bank Reconciliation &gt; Reconciliation Workspace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794760"/>
            <a:ext cx="2880360" cy="1524604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852160" y="5365084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Period End &gt; Month-End Close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794760"/>
            <a:ext cx="2880360" cy="159661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851392" y="5437093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Insurer Reconciliation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BIR tax working papers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5760720" cy="26883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0280"/>
                <a:gridCol w="2331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BIR return or attachment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Report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2550M / 2550Q VAT return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VAT Summary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 or 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SLSP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SLSP Sales, SLSP Purchases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1601-EQ with 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Income tax return with 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to payees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Issued by 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from insurers, clients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Received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Premium taxes  </a:t>
            </a:r>
            <a:r>
              <a:rPr sz="1250">
                <a:solidFill>
                  <a:srgbClr val="1F2937"/>
                </a:solidFill>
                <a:latin typeface="Calibri"/>
              </a:rPr>
              <a:t>VAT, documentary stamp tax, local government tax per city or municipality and fire service tax, set per line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Tax codes with ATC  </a:t>
            </a:r>
            <a:r>
              <a:rPr sz="1250">
                <a:solidFill>
                  <a:srgbClr val="1F2937"/>
                </a:solidFill>
                <a:latin typeface="Calibri"/>
              </a:rPr>
              <a:t>Master &gt; Finance &gt; Taxation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Withholding  </a:t>
            </a:r>
            <a:r>
              <a:rPr sz="1250">
                <a:solidFill>
                  <a:srgbClr val="1F2937"/>
                </a:solidFill>
                <a:latin typeface="Calibri"/>
              </a:rPr>
              <a:t>EWT on commission paid to referrers; 10% withheld by insurers on direct-bill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Output  </a:t>
            </a:r>
            <a:r>
              <a:rPr sz="1250">
                <a:solidFill>
                  <a:srgbClr val="1F2937"/>
                </a:solidFill>
                <a:latin typeface="Calibri"/>
              </a:rPr>
              <a:t>every report as Excel, CSV or PDF on the company letterhead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234440"/>
            <a:ext cx="5239512" cy="223582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2240" y="3515986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BIR Form 2307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023360"/>
            <a:ext cx="5239512" cy="1612504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492240" y="5681584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VAT 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MANAGEMENT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Reports and dashboards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Catalogue reports, plus the Report Builder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Production and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Production Register, Premium by Product / Month / Insurer, New Business vs Renewals, Lead Conversion Funnel, Placement Pipeline, Market Response, Co-insurance Register, Cession Register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40863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951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Claims and renewals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51176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Claims Position, Claims Ageing, Renewal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27248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81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Insurers and commission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7560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Remittance Summary, Broker Commission Statement, Commission Receivable (Direct Bill), Due to Insurers by Co-insurer, Aged Payables to Insurers, Incentive Results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13632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679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Receivables and cash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23944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SOA / Premium Receivable, Receivables Ageing, Collection Report, Receipts Register, Payables / Disbursement Register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00016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54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Ledger and period 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0328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Journal Register, Trial Balance, Trial Balance Movement, General Ledger Detail, Income Statement, Balance Sheet, Month-End Close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86399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406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BIR tax and bank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VAT Summary, SAWT, QAP, SLSP Sales and Purchases; Bank Reconciliation Statement, Outstanding Cheques, Deposits in Transit, Unmatched Bank Lines, Bank Book</a:t>
            </a:r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839" y="1143000"/>
            <a:ext cx="4488872" cy="24688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6400800" y="3657600"/>
            <a:ext cx="533095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Executive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06908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70832"/>
            <a:ext cx="53309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Executive, Sales, Processing, Claims and Commission dashboards, plus the collections, renewal, remittance, reinsurance and product analytics screens. Figures are live and filtered by period.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349240"/>
            <a:ext cx="5330952" cy="91440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5394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report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Preview on screen with totals, then Excel, CSV or PDF on the letterhead. Access by role. The Production Register, Collection Report and Claims Position are generated every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WHAT THIS RELEASE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Compliance, connections and your brand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630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AML/CFT toolkit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Client onboarding, risk rating and EDD, list screening, covered and suspicious transaction alerts, cases and AMLC report files; a Compliance Officer role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IC and NPC registers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1168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Licence register with the commission hold, fit and proper, insurer certificate check, complaints register (RA 11765), IC working papers, breach register on the 72-hour clock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4630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BIR and EOPT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01168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0619-E, 1601-EQ, 1604-E and 2551Q reconciled to the ledger, DAT files, EOPT sales invoices, EIS connector, CAS books pack, overriding commission from insurers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2335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Integrations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7200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SMS and Viber, CTPL authentication and COC series, LTO feed, insurer APIs, bank payment files; one outbox with retries; delivered in test mode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02335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57200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Lead assignment, channels, dealer programmes with bank letters, fleets, marine open covers, facultative placements, comparison reports, campaigns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2335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Your brand, your 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57200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Theme, logo and sign-in page; branded documents and e-mails; e-signatures; My Work for each person; Report Builder and BI extract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SPECIALTY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3403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3403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8118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8118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master  </a:t>
            </a:r>
            <a:r>
              <a:rPr sz="1300">
                <a:solidFill>
                  <a:srgbClr val="1F2937"/>
                </a:solidFill>
                <a:latin typeface="Calibri"/>
              </a:rPr>
              <a:t>quota share, surplus, excess of loss and stop loss; reinsurers, shares and period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 new or changed treaty needs a second user's approval; reinsurers rated A- or better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active treaties, capacity, utilisation, premium ceded and claims recovered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Cession Tracking  </a:t>
            </a:r>
            <a:r>
              <a:rPr sz="1300">
                <a:solidFill>
                  <a:srgbClr val="1F2937"/>
                </a:solidFill>
                <a:latin typeface="Calibri"/>
              </a:rPr>
              <a:t>policies ceded per treaty with cession %, ceded premium and commission; bordereau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Recovery  </a:t>
            </a:r>
            <a:r>
              <a:rPr sz="1300">
                <a:solidFill>
                  <a:srgbClr val="1F2937"/>
                </a:solidFill>
                <a:latin typeface="Calibri"/>
              </a:rPr>
              <a:t>amounts recoverable under treaties; register the recovery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our figures against the reinsurer's statement; variances above 1% flagged for review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Posting  </a:t>
            </a:r>
            <a:r>
              <a:rPr sz="1300">
                <a:solidFill>
                  <a:srgbClr val="1F2937"/>
                </a:solidFill>
                <a:latin typeface="Calibri"/>
              </a:rPr>
              <a:t>confirmed cessions and settled recoveries post through their posting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Reinsurance Cession Register, bordereaux (CSV), reinsurance analytics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567" y="1143000"/>
            <a:ext cx="3869521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Treaty Dashboard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Cession Tracking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Controls built in: maker-checker and signing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583680" cy="47183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737360"/>
                <a:gridCol w="19202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Transaction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approval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Renewal terms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Operations, Sales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 settlement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Journal voucher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Payment voucher, cheque, commission payout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Remittance, settlement, adjustment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user, level by amount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Direct-bill debit note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Bank and insurer reconciliation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Posting rule, account determination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Accounting, Admin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Second approver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Reinsurance treaty, incentive batch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200" y="1188720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1188720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25272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Authority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36192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approval limits in PHP per transaction type and role or user; a new limit needs a second administrator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212848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2212848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2768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Delegations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560320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time-bound, revocable delegation of approval authority for leave or travel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236976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3236976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330098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58444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rules on pairs of roles checked at assignment: block or warn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261104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261104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432511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Access Reviews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608576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recertification of every active user; revoke signs the user 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285232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5285232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534924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Period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5632704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no posting into closed or locked periods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Approval notifications and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  Maker submits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payment voucher, JV, remittance, close run, rule change ...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99232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10128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10128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  Approvers notified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bell notification to every user who can approve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52160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63056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6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6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  Checker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 or reject with a reason; never the maker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05088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15984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15984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 Maker told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approved and in effect, or rejected with the reason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724912"/>
            <a:ext cx="4040733" cy="274320"/>
          </a:xfrm>
          <a:prstGeom prst="roundRect">
            <a:avLst>
              <a:gd name="adj" fmla="val 50000"/>
            </a:avLst>
          </a:prstGeom>
          <a:solidFill>
            <a:srgbClr val="E5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24912"/>
            <a:ext cx="404073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1E7B4A"/>
                </a:solidFill>
                <a:latin typeface="Calibri"/>
              </a:rPr>
              <a:t>New in this release: every maker-checker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2491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 switch: notification.approval_requests (on in the delivered set-up)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3657600" cy="1929699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457200" y="51758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Notification page: requests and decisions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3200400"/>
            <a:ext cx="3931920" cy="216255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4343400" y="54086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Master &gt; Audit 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200400"/>
            <a:ext cx="3246120" cy="31089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Audit Trail  </a:t>
            </a:r>
            <a:r>
              <a:rPr sz="1150">
                <a:solidFill>
                  <a:srgbClr val="1F2937"/>
                </a:solidFill>
                <a:latin typeface="Calibri"/>
              </a:rPr>
              <a:t>user, record, action, before and after values, IP and time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Sign-in history  </a:t>
            </a:r>
            <a:r>
              <a:rPr sz="1150">
                <a:solidFill>
                  <a:srgbClr val="1F2937"/>
                </a:solidFill>
                <a:latin typeface="Calibri"/>
              </a:rPr>
              <a:t>every attempt with result and reason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E-mail Outbox  </a:t>
            </a:r>
            <a:r>
              <a:rPr sz="1150">
                <a:solidFill>
                  <a:srgbClr val="1F2937"/>
                </a:solidFill>
                <a:latin typeface="Calibri"/>
              </a:rPr>
              <a:t>every e-mail queued and sent, with attachments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User Access Matrix  </a:t>
            </a:r>
            <a:r>
              <a:rPr sz="1150">
                <a:solidFill>
                  <a:srgbClr val="1F2937"/>
                </a:solidFill>
                <a:latin typeface="Calibri"/>
              </a:rPr>
              <a:t>roles, status, last sign-in, two-factor, downloadable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DATA PRIVACY ACT OF 2012 (RA 10173)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Data privacy and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Data privacy: new in this release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63624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508760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 purpose: processing, marketing, sharing with insurers; channel, notice version, evidence; withdrawals kept in the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67128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112264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consents given, refused and withdrawn across clients and prospects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70632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15768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Data Subject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715768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access, rectification, erasure or blocking, objection, portability, withdrawal of consent; numbered, due date, assignee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74136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19272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Export personal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319272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everything held about a client or prospect, as JSON or Excel, noted on the 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7639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22776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Anonymise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922776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personal fields overwritten in the party, its policies, quotations, claims and slips; refused while records must be kept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A data subject request in the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Logged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DSR- number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892808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84832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Assigned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notified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20440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12464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12464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Export, correct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or anonymise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148072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40096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Closed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with outcome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Overdue requests reminded daily. Retention years, due days and notice version are settings for the broker's DPO.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1097280"/>
            <a:ext cx="4553712" cy="5193792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120700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1627632"/>
            <a:ext cx="4251960" cy="45720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Named users only  </a:t>
            </a:r>
            <a:r>
              <a:rPr sz="1150">
                <a:solidFill>
                  <a:srgbClr val="1F2937"/>
                </a:solidFill>
                <a:latin typeface="Calibri"/>
              </a:rPr>
              <a:t>no shared or referrer sign-in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Passwords  </a:t>
            </a:r>
            <a:r>
              <a:rPr sz="1150">
                <a:solidFill>
                  <a:srgbClr val="1F2937"/>
                </a:solidFill>
                <a:latin typeface="Calibri"/>
              </a:rPr>
              <a:t>8+ characters, mixed case, digit and symbol, history of 5, 90-day age; lockout after 5 tries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Two-factor  </a:t>
            </a:r>
            <a:r>
              <a:rPr sz="1150">
                <a:solidFill>
                  <a:srgbClr val="1F2937"/>
                </a:solidFill>
                <a:latin typeface="Calibri"/>
              </a:rPr>
              <a:t>TOTP authenticator app, compulsory per role when set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Sessions  </a:t>
            </a:r>
            <a:r>
              <a:rPr sz="1150">
                <a:solidFill>
                  <a:srgbClr val="1F2937"/>
                </a:solidFill>
                <a:latin typeface="Calibri"/>
              </a:rPr>
              <a:t>30-minute access token, idle sign-out, sessions ended on password or role change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Permissions  </a:t>
            </a:r>
            <a:r>
              <a:rPr sz="1150">
                <a:solidFill>
                  <a:srgbClr val="1F2937"/>
                </a:solidFill>
                <a:latin typeface="Calibri"/>
              </a:rPr>
              <a:t>checked by the server on every request, not only hidden in the menu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Encryption  </a:t>
            </a:r>
            <a:r>
              <a:rPr sz="1150">
                <a:solidFill>
                  <a:srgbClr val="1F2937"/>
                </a:solidFill>
                <a:latin typeface="Calibri"/>
              </a:rPr>
              <a:t>TLS in transit; storage encryption of database, files and backups recommended on every option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Application  </a:t>
            </a:r>
            <a:r>
              <a:rPr sz="1150">
                <a:solidFill>
                  <a:srgbClr val="1F2937"/>
                </a:solidFill>
                <a:latin typeface="Calibri"/>
              </a:rPr>
              <a:t>controls mapped to the OWASP Top 10; signed, expiring file links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Breach support  </a:t>
            </a:r>
            <a:r>
              <a:rPr sz="1150">
                <a:solidFill>
                  <a:srgbClr val="1F2937"/>
                </a:solidFill>
                <a:latin typeface="Calibri"/>
              </a:rPr>
              <a:t>facts from logs and audit data so the DPO can notify within 72 hours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PERSONA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Who does what: the eight delivered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11274552" cy="4526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5330952"/>
                <a:gridCol w="3840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Daily work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Approves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Users and roles, masters, configuration, document numbering, schedules, data privacy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Authority limits (second admin), configuration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Prospects, quotations, payment capture, referrer business, renewal follow-up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Takes part in incentive programmes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Broker Slips, Placement Slips, policy issue, endorsements, reinsurance, product configurator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Quotations, renewal terms, treaties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Client servicing, endorsements, renewals, payment capture, data subject requests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Claims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 registration, follow-up with insurers, settlement, reinsurance recoveries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Settlements of 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Receipts, collections, disbursements, remittance, commission, journals, reconciliation, BIR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Vouchers, JVs, remittances, debit notes, incentives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Everything Accounting does, plus period control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close, bank and insurer reconciliation, credit control, posting rules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Compliance Officer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AML/CFT: client due diligence, screening, transaction alerts, cases, AMLC report files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EDD reviews, screening decisions, cases for filing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Each role lands on its own dashboard. Roles can be added or adjusted in Master &gt; Generals &gt; User Management, with Role Permissions and the User Access Matrix for review.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and 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Web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6479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React 18 single-page application in the browser; no client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76272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Node.js 22 with Express; stateless REST API, OpenAPI and Postman 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98063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52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0083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PostgreSQL 16, time zone Asia/Manila; file store for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7413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Scheduler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301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built-in jobs in Manila time: expiries, notices, reminders, e-mail,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41648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959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Run 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251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containers (Docker) or Node.js with a process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0972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Deployment options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4632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Singapore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ECS Fargate, RDS PostgreSQL Multi-AZ, S3 and CloudFront, WAF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79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79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Microsoft Azure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1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Southeast Asia (Singapore)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6831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Container Apps, PostgreSQL Flexible Server, Front Door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2104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Local partner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Data held in the Philippines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VMs with a Philippine hosting partner, second site for DR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05840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On-premise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Broker's data centre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Broker hosts at no fee; deployment guide and set-up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37033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Indicative hosting per month, full environment set (optional, PHP, excl. VAT)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4846320" y="4023360"/>
          <a:ext cx="6885432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21992"/>
                <a:gridCol w="155448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 (named users)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Local partner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43,000.00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46,000.00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42,000.00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69,000.00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73,000.00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67,000.00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143,000.00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150,000.00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135,000.00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256,000.00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269,000.00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242,000.00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457200" y="480060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option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separate Dev, UAT and production environments (and SIT for large brokers), HTTPS, daily backups with point-in-time restore, monitoring, and production with two API instances and a standby database.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576072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Small and medium: Dev, UAT, Production. Large: Dev, SIT, UAT, Production. Temporary Pre-Prod billed per month of use. Self-hosting has no hosting fee.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approach and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24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1188720"/>
            <a:ext cx="1920240" cy="685800"/>
          </a:xfrm>
          <a:prstGeom prst="homePlat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Mobilise, discovery and fit-gap</a:t>
            </a:r>
          </a:p>
        </p:txBody>
      </p:sp>
      <p:sp>
        <p:nvSpPr>
          <p:cNvPr id="12" name="Chevron 11"/>
          <p:cNvSpPr/>
          <p:nvPr/>
        </p:nvSpPr>
        <p:spPr>
          <a:xfrm>
            <a:off x="2340864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4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Environments and configuration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4224528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Data migration and integrations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08192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Training, system test and UAT</a:t>
            </a:r>
          </a:p>
        </p:txBody>
      </p:sp>
      <p:sp>
        <p:nvSpPr>
          <p:cNvPr id="18" name="Chevron 17"/>
          <p:cNvSpPr/>
          <p:nvPr/>
        </p:nvSpPr>
        <p:spPr>
          <a:xfrm>
            <a:off x="7991856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Cutover and go-live</a:t>
            </a:r>
          </a:p>
        </p:txBody>
      </p:sp>
      <p:sp>
        <p:nvSpPr>
          <p:cNvPr id="20" name="Chevron 19"/>
          <p:cNvSpPr/>
          <p:nvPr/>
        </p:nvSpPr>
        <p:spPr>
          <a:xfrm>
            <a:off x="9875520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Hypercare to first month-end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31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5993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1183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430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804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929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5877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83464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up to 25 users, 1 office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624328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77440" y="262432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01183" y="2624328"/>
            <a:ext cx="813815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1183" y="2624328"/>
            <a:ext cx="84124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1" y="2624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8 weeks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438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26 to 75 users, up to 3 offices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77440" y="3227832"/>
            <a:ext cx="375818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77440" y="3227832"/>
            <a:ext cx="378561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3056" y="3227832"/>
            <a:ext cx="1234439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3056" y="3227832"/>
            <a:ext cx="126187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0648" y="322783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12 weeks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79476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 (variant)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04164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one office cluster, simple mix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77440" y="3831335"/>
            <a:ext cx="5020055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3831335"/>
            <a:ext cx="504748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24927" y="3831335"/>
            <a:ext cx="1655063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7" y="3831335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53144" y="3831335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16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439826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46451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more than 75 users, many insurers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77440" y="4434840"/>
            <a:ext cx="586130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0" y="4434840"/>
            <a:ext cx="588873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66175" y="4434840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66175" y="4434840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443484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20 weeks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720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436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Configure, do not customise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masters, settings and templates; gaps go to a register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9184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2900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Data drives the timeline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2900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data requests in week 1; templates for every load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2648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Key users own the result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6364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one key user per team tests, signs and trains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112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9828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Evidence for every acceptance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written sign-off at the end of each phase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AFTER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118872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124358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Broker key users and System Administrator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53619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How-to, users and roles, password and two-factor resets, settings, master data, ticket with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8600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228600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34086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application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3347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Triage, reproduction, configuration and data corrections under change control, workarounds, known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8328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338328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343814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73075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Code defects, performance, infrastructure, security incidents, root cause, fixes and releases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Service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516636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Standard  </a:t>
            </a:r>
            <a:r>
              <a:rPr sz="1150">
                <a:solidFill>
                  <a:srgbClr val="1F2937"/>
                </a:solidFill>
                <a:latin typeface="Calibri"/>
              </a:rPr>
              <a:t>8:00 to 18:00 Manila time, Monday to Friday, except Philippine regular holidays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Optional  </a:t>
            </a:r>
            <a:r>
              <a:rPr sz="1150">
                <a:solidFill>
                  <a:srgbClr val="1F2937"/>
                </a:solidFill>
                <a:latin typeface="Calibri"/>
              </a:rPr>
              <a:t>24x7 for Severity 1, reported by telephone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Maintenance window  </a:t>
            </a:r>
            <a:r>
              <a:rPr sz="1150">
                <a:solidFill>
                  <a:srgbClr val="1F2937"/>
                </a:solidFill>
                <a:latin typeface="Calibri"/>
              </a:rPr>
              <a:t>agreed with the broker; default Saturday 20:00 to Sunday 06:00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11430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Severity levels and targets (standard proposal)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943600" y="1481328"/>
          <a:ext cx="5788152" cy="1920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1417320"/>
                <a:gridCol w="1691640"/>
                <a:gridCol w="135331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First response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Restore or workaround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Update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P1 Critical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30 minutes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 service hours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hour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P2 High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service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4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P3 Medium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 business day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 business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3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P4 Low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943600" y="3611880"/>
            <a:ext cx="5788152" cy="26517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P1 examples  </a:t>
            </a:r>
            <a:r>
              <a:rPr sz="1150">
                <a:solidFill>
                  <a:srgbClr val="1F2937"/>
                </a:solidFill>
                <a:latin typeface="Calibri"/>
              </a:rPr>
              <a:t>nobody can sign in, official receipts cannot be issued, journals post wrong amounts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One service desk  </a:t>
            </a:r>
            <a:r>
              <a:rPr sz="1150">
                <a:solidFill>
                  <a:srgbClr val="1F2937"/>
                </a:solidFill>
                <a:latin typeface="Calibri"/>
              </a:rPr>
              <a:t>support portal or mailbox for all tickets, telephone for P1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Monthly service report  </a:t>
            </a:r>
            <a:r>
              <a:rPr sz="1150">
                <a:solidFill>
                  <a:srgbClr val="1F2937"/>
                </a:solidFill>
                <a:latin typeface="Calibri"/>
              </a:rPr>
              <a:t>tickets, targets met, problems, releases, backups and DR drills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Releases  </a:t>
            </a:r>
            <a:r>
              <a:rPr sz="1150">
                <a:solidFill>
                  <a:srgbClr val="1F2937"/>
                </a:solidFill>
                <a:latin typeface="Calibri"/>
              </a:rPr>
              <a:t>tested in UAT with a regression run before production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Covered by AMC or subscription  </a:t>
            </a:r>
            <a:r>
              <a:rPr sz="1150">
                <a:solidFill>
                  <a:srgbClr val="1F2937"/>
                </a:solidFill>
                <a:latin typeface="Calibri"/>
              </a:rPr>
              <a:t>corrections, OOTB updates, regulatory form updates, standard support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Commercial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A: perpetual licence with AMC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One-time licence per named user, payable on go-live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91640"/>
                <a:gridCol w="1463040"/>
                <a:gridCol w="213055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Licence per user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Implementation, reference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90,000.00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1,130,000.00 (5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78,000.00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2,090,000.00 (8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66,000.00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3,700,000.00 (12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54,000.00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5,800,000.00 (16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22% of the licence fee a year, from Year 2 (12-month warranty)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increases 5% each year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Lowest cost over five years: 13% to 18% below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B: subscription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Per named user per month, billed monthly in advance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309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3080"/>
                <a:gridCol w="1737360"/>
                <a:gridCol w="176479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 user per month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Minimum billable users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3,200.00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2,800.00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2,400.00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355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Increases 5% at each contract anniversary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Onboarding fee equal to the implementation fee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Lower Year 1 cash; break-even with perpetual in Year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Base man-days by tier plus 6 per extra line of business, at PHP 16,100.00 a day. Payable 40% signing, 40% UAT sign-off, 20% go-live.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Optional and quoted separately: AWS, Azure or local partner. Self-hosting has no fee.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2168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Change requests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Day rates: BA PHP 18,000.00, developer PHP 16,000.00, QA PHP 12,000.00, PM PHP 22,000.00. Example: 5 days, PHP 81,050.00.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Indicative investment for reference brokers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949440" cy="228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31720"/>
                <a:gridCol w="1691640"/>
                <a:gridCol w="1783080"/>
                <a:gridCol w="1143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Reference broker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Perpetual,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Subscription,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Small: 15 users, 5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3,760,107.00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4,312,764.00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Medium: 60 users, 8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11,792,173.00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13,892,748.00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Large: 180 users, 12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29,767,284.00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35,660,251.00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Enterprise: 400 users, 16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57,817,674.00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70,118,348.00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Year 1 subscription as a share of estimated commission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40416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1640" y="4041648"/>
            <a:ext cx="3505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8280" y="39776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4988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91640" y="4498848"/>
            <a:ext cx="2743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4348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49560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91640" y="4956048"/>
            <a:ext cx="18288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4132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91640" y="5413248"/>
            <a:ext cx="1219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2280" y="5349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0.8%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Prices in PHP, excluding 12% VAT. Totals include implementation or onboarding and exclude hosting and optional services. Valid 90 days. Income per tier is an estimate.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1188720"/>
            <a:ext cx="3959352" cy="507492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Our recommendation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1828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Small and Medium brokers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12140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Subscription: lower Year 1 cash, no capital approval, about 2% of commission income.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26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Large and Enterprise brokers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21868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Perpetual: 13% to 18% lower cost over five years for the reference user counts.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Every broker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1596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Infrastructure quoted separately, with self-hosting always shown, so the software price stays comparable.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1206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Your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41324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We run the pricing workbook with your user count and lines of business for the proposal.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iorta TechNXT and iNXT BrokerVerse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Built for the Philippines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Premium taxes by city, BIR returns and DAT files, EOPT invoices, AML/CFT and AMLC reports, IC registers, CTPL authentication, local bank files, Data Privacy Act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One system, one 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Prospect, placement, policy, claims and renewals in the same system as billing, remittance, commission, the general ledger and the month-end close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7532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Controls in 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Maker-checker on money and configuration, Authority Matrix, segregation of duties, access reviews, approval notifications, audit trail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Predictable 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Configure, do not customise; 8, 12 or 16 to 20 weeks; written acceptance per phase; hypercare through the first month-end close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6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Open pricing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Published per-user prices on graduated slabs, perpetual or subscription, AMC terms and day rates for change requests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672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532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Ready to hand over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497 test cases for release 1.0; user manual with in-screen help and role guides; go-live data workbench; reports book, support runbooks and data dictionary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PROPOSED PATH 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Your team sees its own day in the system: 60 or 30 minutes on the UAT data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1 [to confirm]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3639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9184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Discovery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Users, lines of business, insurers, volumes, hosting, integrations, data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2 to 3 [to confirm]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7103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Commercials from the pricing workbook, implementation plan, hosting option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Within 5 working days of the workshop [to confirm]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80567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Contract and kick-off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Licence or subscription, data processing and support agreements; mobilisation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On signing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09160"/>
            <a:ext cx="11274552" cy="155448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800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What we ask from you for the demo and workshop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5760720" cy="10972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Two or three recent policies, one claim and one remittance to use as examples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The teams and number of users per team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Lines of business and insurers you place with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800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Contact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1663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[Account manager name], iorta TechNXT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[Mobile number]  |  [E-mail address]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